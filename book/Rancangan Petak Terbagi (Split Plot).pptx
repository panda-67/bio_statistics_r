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Bab 5: split plot dan pengantar model campuran.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Capaian pembelajaran Bab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Alasan utama: keterbatasan teknis atau logistik pengacakan.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faktor diuji terhadap galat yang berbeda besarannya.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komponen galat membedakan split plot dari rancangan sebelumnya.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Keterbatasan pengacakan irigasi mendorong pemakaian split plot, bukan faktorial biasa.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Subbab 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Subbab 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Blok adalah strata terluar; irigasi tersarang di dalam blok.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Subbab 5.4.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lmer lebih fleksibel untuk data tidak seimbang.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Subbab 5.6.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Menjawab keterbatasan TukeyHSD() pada pendekatan klasik.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Rangkuman Bab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soal Bab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146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CC3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BAB 5 · BIOSTATISTIKA UNTUK BIOLOGI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02280"/>
            <a:ext cx="1088339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Rancangan Petak Terbagi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95224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D6E4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plot: petak utama, anak petak, dan dua strata galat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Capaian Pembelajaran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Setelah mempelajari bab ini, mahasiswa diharapkan mampu: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3158" y="1973580"/>
            <a:ext cx="1080541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Menjelaskan konsep unit percobaan bertingkat: petak utama dan anak petak.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Menjelaskan alasan split plot memerlukan lebih dari satu strata galat.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Menyusun model ANOVA klasik dengan Error() sesuai struktur galat berjenjang.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Menafsirkan tabel ANOVA yang terbagi menjadi beberapa strata galat.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Membangun model linear campuran beserta diagnostik dan uji lanjutnya.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Pendahuluan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plot dipakai ketika dua faktor perlakuan tidak dapat diacak dengan tingkat kebebasan yang sama (Gomez &amp; Gomez, 1984).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32918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Faktor </a:t>
            </a:r>
            <a:r>
              <a:rPr lang="en-US" sz="1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petak utama</a:t>
            </a: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(mis. irigasi) diterapkan pada unit besar; faktor </a:t>
            </a:r>
            <a:r>
              <a:rPr lang="en-US" sz="1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anak petak</a:t>
            </a: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(mis. pupuk) pada unit lebih kecil di dalamnya.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3197861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Ada </a:t>
            </a:r>
            <a:r>
              <a:rPr lang="en-US" sz="1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 unit percobaan</a:t>
            </a: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dengan ukuran berbeda sekaligus, berbeda dari bab-bab sebelumnya (Montgomery, 2017).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Konsep Kunci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60500"/>
            <a:ext cx="10566400" cy="2428240"/>
          </a:xfrm>
          <a:prstGeom prst="roundRect">
            <a:avLst>
              <a:gd name="adj" fmla="val 2092"/>
            </a:avLst>
          </a:prstGeom>
          <a:solidFill>
            <a:srgbClr val="EAF1F8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460500"/>
            <a:ext cx="10566400" cy="2428240"/>
          </a:xfrm>
          <a:custGeom>
            <a:avLst/>
            <a:gdLst/>
            <a:ahLst/>
            <a:cxnLst/>
            <a:rect l="l" t="t" r="r" b="b"/>
            <a:pathLst>
              <a:path w="10566400" h="2428240">
                <a:moveTo>
                  <a:pt x="101600" y="2428240"/>
                </a:moveTo>
                <a:lnTo>
                  <a:pt x="50800" y="24282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1600" y="0"/>
                </a:lnTo>
                <a:lnTo>
                  <a:pt x="101600" y="2428240"/>
                </a:lnTo>
                <a:close/>
              </a:path>
            </a:pathLst>
          </a:cu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65300"/>
            <a:ext cx="1004620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Mengapa split plot memerlukan dua strata galat?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0000" y="2252980"/>
            <a:ext cx="10046208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Faktor petak utama diuji terhadap galat petak utama, yang cenderung lebih besar karena unitnya besar dan replikasinya terbatas.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2994661"/>
            <a:ext cx="10046208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Faktor anak petak dan interaksinya diuji terhadap galat anak petak, yang lebih presisi. Nilai F keduanya </a:t>
            </a:r>
            <a:r>
              <a:rPr lang="en-US" sz="1600" b="1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tidak boleh dibandingkan langsung</a:t>
            </a:r>
            <a:r>
              <a:rPr lang="en-US" sz="16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Dasar Teori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aditif split plot memuat dua tingkat galat, sesuai dua ukuran unit percobaan (Gomez &amp; Gomez, 1984; Montgomery, 2017):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1938021"/>
            <a:ext cx="10566400" cy="706120"/>
          </a:xfrm>
          <a:prstGeom prst="roundRect">
            <a:avLst>
              <a:gd name="adj" fmla="val 14388"/>
            </a:avLst>
          </a:prstGeom>
          <a:solidFill>
            <a:srgbClr val="1F3864"/>
          </a:solidFill>
          <a:ln/>
        </p:spPr>
        <p:txBody>
          <a:bodyPr wrap="square" lIns="0" tIns="148042" rIns="0" bIns="122642" rtlCol="0" anchor="t">
            <a:normAutofit/>
          </a:bodyPr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Yijk = μ + βk + αi + δik + γj + (αγ)ij + εijk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12800" y="2872739"/>
            <a:ext cx="52324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Yijk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irigasi i, pupuk j, blok 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121025"/>
            <a:ext cx="52324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μ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rataan umum populasi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369311"/>
            <a:ext cx="52324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βk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pengaruh blok ke-k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3617596"/>
            <a:ext cx="52324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αi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pengaruh irigasi (petak utama)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99200" y="2872739"/>
            <a:ext cx="52324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δik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galat petak utama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9200" y="3121025"/>
            <a:ext cx="52324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γj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pengaruh pupuk (anak petak)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99200" y="3369311"/>
            <a:ext cx="52324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(αγ)ij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interaksi irigasi × pupuk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99200" y="3617596"/>
            <a:ext cx="52324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εijk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galat anak petak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069079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 galat dengan varians berbeda dipisahkan oleh Error(); model campuran mewakili δ sebagai efek acak (Bates et al., 2015).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Contoh Kasus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2209164"/>
            <a:ext cx="620039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Kebun percobaan menguji dua sistem irigasi (tetes dan sprinkler) dan tiga dosis pupuk pada jagung (</a:t>
            </a:r>
            <a:r>
              <a:rPr lang="en-US" sz="14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Zea mays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846704"/>
            <a:ext cx="620039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Irigasi dipasang permanen pada </a:t>
            </a: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petak besar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10 × 10 meter, sehingga tidak dapat diacak ulang per subplot: inilah petak utama.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484246"/>
            <a:ext cx="620039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 tiap petak irigasi, tiga dosis pupuk diacak ke </a:t>
            </a: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subplot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yang lebih kecil: inilah anak petak.</a:t>
            </a:r>
            <a:endParaRPr lang="en-US" sz="1400" dirty="0"/>
          </a:p>
        </p:txBody>
      </p:sp>
      <p:pic>
        <p:nvPicPr>
          <p:cNvPr id="6" name="Image 0" descr="Dua petak utama irigasi, masing-masing terbagi tiga anak petak dosis pupuk">    </p:cNvPr>
          <p:cNvPicPr>
            <a:picLocks noChangeAspect="1"/>
          </p:cNvPicPr>
          <p:nvPr/>
        </p:nvPicPr>
        <p:blipFill>
          <a:blip r:embed="rId1"/>
          <a:srcRect l="0" r="0" t="-19" b="-19"/>
          <a:stretch/>
        </p:blipFill>
        <p:spPr>
          <a:xfrm>
            <a:off x="7188200" y="1460500"/>
            <a:ext cx="4191000" cy="3270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5.1 Menyiapkan dan Memverifikasi Struktur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Ubah blok, irigasi, dan pupuk menjadi faktor, lalu cek bahwa tiap kombinasi blok × irigasi memuat semua level pupuk.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973579"/>
            <a:ext cx="10566400" cy="1028700"/>
          </a:xfrm>
          <a:prstGeom prst="roundRect">
            <a:avLst>
              <a:gd name="adj" fmla="val 9877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table(data$blok, data$irigasi)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with(data, table(interaction(blok, irigasi), pupuk))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23087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Anak petak tersarang (nested) di dalam petak utama, sehingga struktur ini wajib terpenuhi.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5.2 Visualisasi Pola Interaksi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Seperti Bab 4: sumbu-x faktor anak petak (pupuk), satu garis per level faktor petak utama (irigasi). Garis tidak sejajar menandakan interaksi.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258061"/>
            <a:ext cx="10566400" cy="152400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ggplot(data, aes(x = pupuk, y = tinggi_cm,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group = irigasi, color = irigasi)) +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stat_summary(fun = mean, geom = "line") +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stat_summary(fun = mean, geom = "point")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5.3 Model Klasik: ANOVA dengan Error() Berjenjang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790700"/>
          </a:xfrm>
          <a:prstGeom prst="roundRect">
            <a:avLst>
              <a:gd name="adj" fmla="val 5674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model &lt;- aov(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tinggi_cm ~ irigasi * pupuk + Error(blok/irigasi),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data = data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summary(model)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3482975"/>
            <a:ext cx="5175250" cy="1328420"/>
          </a:xfrm>
          <a:prstGeom prst="roundRect">
            <a:avLst>
              <a:gd name="adj" fmla="val 740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3714750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A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Strata blok:irigasi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4065271"/>
            <a:ext cx="485305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Memuat baris irigasi, diuji dengan galat petak utama.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3482975"/>
            <a:ext cx="5175250" cy="1328420"/>
          </a:xfrm>
          <a:prstGeom prst="roundRect">
            <a:avLst>
              <a:gd name="adj" fmla="val 740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3714750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A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Strata Within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32550" y="4065271"/>
            <a:ext cx="485305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Memuat pupuk dan irigasi:pupuk, diuji dengan galat anak petak.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5.4 Keterbatasan Pendekatan Klasik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5175250" cy="1328420"/>
          </a:xfrm>
          <a:prstGeom prst="roundRect">
            <a:avLst>
              <a:gd name="adj" fmla="val 740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695450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A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TukeyHSD()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045971"/>
            <a:ext cx="485305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Mengasumsikan satu strata galat, sehingga tidak berlaku langsung pada Error().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463675"/>
            <a:ext cx="5175250" cy="1328420"/>
          </a:xfrm>
          <a:prstGeom prst="roundRect">
            <a:avLst>
              <a:gd name="adj" fmla="val 740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2550" y="1695450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A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plot(model)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32550" y="2045971"/>
            <a:ext cx="485305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Diagnostik empat panel tidak tersedia: residual tersebar di beberapa strata.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023871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Keterbatasan ini mendorong pemakaian model linear campuran pada bagian berikutnya.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5.5 Pendekatan Modern: Model Linear Campuran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Efek tetap: irigasi, pupuk, dan interaksinya. Efek acak: blok dan petak utama, ditulis </a:t>
            </a:r>
            <a:r>
              <a:rPr lang="en-US" sz="15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 | blok/irigasi)</a:t>
            </a: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padanan Error(blok/irigasi) (Bates et al., 2015).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2222500"/>
            <a:ext cx="10566400" cy="2438400"/>
          </a:xfrm>
          <a:prstGeom prst="roundRect">
            <a:avLst>
              <a:gd name="adj" fmla="val 4167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library(lme4); library(lmerTest)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model_lmer &lt;- lmer(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tinggi_cm ~ irigasi * pupuk + (1 | blok/irigasi),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data = data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summary(model_lmer)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anova(model_lmer)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5.6 Diagnostik Model Campuran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lmer() memiliki residual gabungan yang jelas, sehingga asumsi dapat diperiksa langsung.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973579"/>
            <a:ext cx="10566400" cy="1790700"/>
          </a:xfrm>
          <a:prstGeom prst="roundRect">
            <a:avLst>
              <a:gd name="adj" fmla="val 5674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qqnorm(residuals(model_lmer))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qqline(residuals(model_lmer), col = "red")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plot(fitted(model_lmer), residuals(model_lmer))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abline(h = 0, col = "red", lty = 2)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shapiro.test(residuals(model_lmer))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5.7 Uji Lanjut dengan emmeans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emmeans menghitung rata-rata marjinal dan pembandingan berpasangan yang otomatis menyesuaikan strata galat yang relevan (Lenth, 2023).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258058"/>
            <a:ext cx="10566400" cy="152400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library(emmeans)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emm_kombinasi &lt;- emmeans(model_lmer, ~ irigasi * pupuk)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pairs(emm_kombinasi, adjust = "tukey")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Rangkuman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83158" y="1460500"/>
            <a:ext cx="10805414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plot memiliki dua ukuran unit percobaan, masing-masing dengan strata galatnya sendiri.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Nilai F petak utama dan anak petak tidak boleh dibandingkan langsung.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Error() klasik hanya valid untuk data seimbang dan sulit diberi uji lanjut standar.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campuran (lmer) merepresentasikan strata galat lewat efek acak, membuka diagnostik dan uji lanjut yang lebih langsung.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C3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Latihan Soal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79157" y="1460500"/>
            <a:ext cx="1080941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7643" indent="-187643">
              <a:lnSpc>
                <a:spcPts val="20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Mengapa faktor petak utama umumnya diuji dengan galat yang lebih besar daripada faktor anak petak?</a:t>
            </a:r>
            <a:endParaRPr lang="en-US" sz="1500" dirty="0"/>
          </a:p>
          <a:p>
            <a:pPr algn="l" marL="187643" indent="-187643">
              <a:lnSpc>
                <a:spcPts val="20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Bandingkan Error(blok/irigasi) pada aov() dengan (1 | blok/irigasi) pada lmer(). Apa kesamaan konseptualnya?</a:t>
            </a:r>
            <a:endParaRPr lang="en-US" sz="1500" dirty="0"/>
          </a:p>
          <a:p>
            <a:pPr algn="l" marL="187643" indent="-187643">
              <a:lnSpc>
                <a:spcPts val="20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Mengapa TukeyHSD() tidak dapat langsung dipakai pada aov() dengan Error()? Apa alternatifnya?</a:t>
            </a:r>
            <a:endParaRPr lang="en-US" sz="1500" dirty="0"/>
          </a:p>
          <a:p>
            <a:pPr algn="l" marL="187643" indent="-187643">
              <a:lnSpc>
                <a:spcPts val="20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Rancang skenario percobaan biologi lain yang memerlukan split plot, lalu tentukan faktor petak utama dan anak petaknya.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Daftar Pustaka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97382" y="1460500"/>
            <a:ext cx="10791190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Gomez, K. A., &amp; Gomez, A. A. (1984). </a:t>
            </a:r>
            <a:r>
              <a:rPr lang="en-US" sz="14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Statistical Procedures for Agricultural Research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(2nd ed.). John Wiley &amp; Sons.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Montgomery, D. C. (2017). </a:t>
            </a:r>
            <a:r>
              <a:rPr lang="en-US" sz="14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and Analysis of Experiments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(9th ed.). John Wiley &amp; Sons.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Bates, D., Mächler, M., Bolker, B., &amp; Walker, S. (2015). Fitting Linear Mixed-Effects Models Using lme4. </a:t>
            </a:r>
            <a:r>
              <a:rPr lang="en-US" sz="14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Journal of Statistical Software, 67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(1), 1-48.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Lenth, R. V. (2023). emmeans: Estimated Marginal Means, aka Least-Squares Means. R package documentation.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5 · Split Plot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b 5 — Rancangan Petak Terbagi (Split Plot)">
  <a:themeElements>
    <a:clrScheme name="Bab 5 — Rancangan Petak Terbagi (Split Plot)">
      <a:dk1>
        <a:srgbClr val="1A1A1A"/>
      </a:dk1>
      <a:lt1>
        <a:srgbClr val="F5F8FB"/>
      </a:lt1>
      <a:dk2>
        <a:srgbClr val="515252"/>
      </a:dk2>
      <a:lt2>
        <a:srgbClr val="DFE2E5"/>
      </a:lt2>
      <a:accent1>
        <a:srgbClr val="1F3864"/>
      </a:accent1>
      <a:accent2>
        <a:srgbClr val="1F5A94"/>
      </a:accent2>
      <a:accent3>
        <a:srgbClr val="9CC3E6"/>
      </a:accent3>
      <a:accent4>
        <a:srgbClr val="5C6670"/>
      </a:accent4>
      <a:accent5>
        <a:srgbClr val="D6E4F2"/>
      </a:accent5>
      <a:accent6>
        <a:srgbClr val="9AA0A6"/>
      </a:accent6>
      <a:hlink>
        <a:srgbClr val="0563C1"/>
      </a:hlink>
      <a:folHlink>
        <a:srgbClr val="954F72"/>
      </a:folHlink>
    </a:clrScheme>
    <a:fontScheme name="Bab 5 — Rancangan Petak Terbagi (Split Plot)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5 — Rancangan Petak Terbagi (Split Plot)</dc:title>
  <dc:subject/>
  <dc:creator/>
  <cp:lastModifiedBy/>
  <cp:revision>1</cp:revision>
  <dcterms:created xsi:type="dcterms:W3CDTF">2026-10-26T10:28:34Z</dcterms:created>
  <dcterms:modified xsi:type="dcterms:W3CDTF">2026-10-26T10:28:34Z</dcterms:modified>
</cp:coreProperties>
</file>