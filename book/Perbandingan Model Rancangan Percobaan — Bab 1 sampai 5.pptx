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Ringkasan lintas bab: apa yang bertambah dari satu rancangan ke rancangan berikutnya.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pola: pengelompokan bertambah dari RAL ke RBSL, lalu faktor bertambah di Bab 4, dan strata galat bertambah di Bab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baris menambah satu suku dari baris sebelumnya, kecuali Bab 4 yang menambah faktor dan Bab 5 yang menambah galat petak utama.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Mulai dari karakteristik unit percobaan, baru pilih rancangan.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Bab 5 berbeda: Error() tidak mendukung TukeyHSD dan plot standar, sehingga dipakai lmer dan emmeans.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Rangkuman lintas bab.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945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CC3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BAB 1–5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8224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Perbandingan Model Rancangan Percobaan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27228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D6E4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RAL, RAK, RBSL, RAK Faktorial, dan Split Plot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Peta Lima Rancangan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35100"/>
            <a:ext cx="2286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24237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Rancangan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149600" y="1435100"/>
            <a:ext cx="2413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20427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Pengelompokan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13400" y="1435100"/>
            <a:ext cx="1524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35921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Faktor perlakuan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88200" y="1435100"/>
            <a:ext cx="1524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35921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Strata galat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63000" y="1435100"/>
            <a:ext cx="2413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20427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Interaksi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1894840"/>
            <a:ext cx="2286000" cy="421640"/>
          </a:xfrm>
          <a:prstGeom prst="roundRect">
            <a:avLst>
              <a:gd name="adj" fmla="val 12048"/>
            </a:avLst>
          </a:prstGeom>
          <a:solidFill>
            <a:srgbClr val="EAF1F8"/>
          </a:solidFill>
          <a:ln/>
        </p:spPr>
        <p:txBody>
          <a:bodyPr wrap="square" lIns="86721" tIns="74021" rIns="24237" bIns="613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RAL · Bab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52775" y="189801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tidak 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16575" y="189801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91375" y="189801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66175" y="189801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tidak relevan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2367280"/>
            <a:ext cx="2286000" cy="421640"/>
          </a:xfrm>
          <a:prstGeom prst="roundRect">
            <a:avLst>
              <a:gd name="adj" fmla="val 12048"/>
            </a:avLst>
          </a:prstGeom>
          <a:solidFill>
            <a:srgbClr val="EAF1F8"/>
          </a:solidFill>
          <a:ln/>
        </p:spPr>
        <p:txBody>
          <a:bodyPr wrap="square" lIns="86721" tIns="74021" rIns="24237" bIns="613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RAK · Bab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52775" y="237045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blok (1 arah)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16575" y="237045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91375" y="237045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66175" y="237045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tidak diuji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2839720"/>
            <a:ext cx="2286000" cy="421640"/>
          </a:xfrm>
          <a:prstGeom prst="roundRect">
            <a:avLst>
              <a:gd name="adj" fmla="val 12048"/>
            </a:avLst>
          </a:prstGeom>
          <a:solidFill>
            <a:srgbClr val="EAF1F8"/>
          </a:solidFill>
          <a:ln/>
        </p:spPr>
        <p:txBody>
          <a:bodyPr wrap="square" lIns="86721" tIns="74021" rIns="24237" bIns="613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RBSL · Bab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2775" y="284289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baris + kolom (2 arah)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16575" y="284289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91375" y="284289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66175" y="284289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tidak dapat diuji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3312160"/>
            <a:ext cx="2286000" cy="421640"/>
          </a:xfrm>
          <a:prstGeom prst="roundRect">
            <a:avLst>
              <a:gd name="adj" fmla="val 12048"/>
            </a:avLst>
          </a:prstGeom>
          <a:solidFill>
            <a:srgbClr val="EAF1F8"/>
          </a:solidFill>
          <a:ln/>
        </p:spPr>
        <p:txBody>
          <a:bodyPr wrap="square" lIns="86721" tIns="74021" rIns="24237" bIns="613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RAK Faktorial · Bab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52775" y="331533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blok (1 arah)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16575" y="331533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91375" y="331533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66175" y="331533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diuji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2800" y="3784600"/>
            <a:ext cx="2286000" cy="421640"/>
          </a:xfrm>
          <a:prstGeom prst="roundRect">
            <a:avLst>
              <a:gd name="adj" fmla="val 12048"/>
            </a:avLst>
          </a:prstGeom>
          <a:solidFill>
            <a:srgbClr val="EAF1F8"/>
          </a:solidFill>
          <a:ln/>
        </p:spPr>
        <p:txBody>
          <a:bodyPr wrap="square" lIns="86721" tIns="74021" rIns="24237" bIns="613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Plot · Bab 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52775" y="378777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blok dan petak utama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16575" y="378777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91375" y="3787775"/>
            <a:ext cx="1517650" cy="415290"/>
          </a:xfrm>
          <a:prstGeom prst="roundRect">
            <a:avLst>
              <a:gd name="adj" fmla="val 11468"/>
            </a:avLst>
          </a:prstGeom>
          <a:solidFill>
            <a:srgbClr val="FFF3E0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40026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66175" y="3787775"/>
            <a:ext cx="2406650" cy="415290"/>
          </a:xfrm>
          <a:prstGeom prst="roundRect">
            <a:avLst>
              <a:gd name="adj" fmla="val 11468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24913" bIns="5272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diuji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Sumber: Gomez &amp; Gomez (1984); Montgomery (2017); Steel et al. (1997)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Matematis dan Formula 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35100"/>
            <a:ext cx="1270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35921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33600" y="1435100"/>
            <a:ext cx="3937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matematis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1400" y="1435100"/>
            <a:ext cx="5207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Formula di 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1894839"/>
            <a:ext cx="1270000" cy="438150"/>
          </a:xfrm>
          <a:prstGeom prst="roundRect">
            <a:avLst>
              <a:gd name="adj" fmla="val 11594"/>
            </a:avLst>
          </a:prstGeom>
          <a:solidFill>
            <a:srgbClr val="EAF1F8"/>
          </a:solidFill>
          <a:ln/>
        </p:spPr>
        <p:txBody>
          <a:bodyPr wrap="square" lIns="86721" tIns="74021" rIns="35921" bIns="740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RAL ·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36775" y="1898014"/>
            <a:ext cx="3930650" cy="431800"/>
          </a:xfrm>
          <a:prstGeom prst="roundRect">
            <a:avLst>
              <a:gd name="adj" fmla="val 1102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272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Yᵢⱼ = μ + τᵢ + εᵢⱼ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1400" y="1894839"/>
            <a:ext cx="5207000" cy="438150"/>
          </a:xfrm>
          <a:prstGeom prst="roundRect">
            <a:avLst>
              <a:gd name="adj" fmla="val 11594"/>
            </a:avLst>
          </a:prstGeom>
          <a:solidFill>
            <a:srgbClr val="1E1E1E"/>
          </a:solidFill>
          <a:ln/>
        </p:spPr>
        <p:txBody>
          <a:bodyPr wrap="square" lIns="86721" tIns="74021" rIns="0" bIns="740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tinggi_cm ~ perlakuan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2383789"/>
            <a:ext cx="1270000" cy="438150"/>
          </a:xfrm>
          <a:prstGeom prst="roundRect">
            <a:avLst>
              <a:gd name="adj" fmla="val 11594"/>
            </a:avLst>
          </a:prstGeom>
          <a:solidFill>
            <a:srgbClr val="EAF1F8"/>
          </a:solidFill>
          <a:ln/>
        </p:spPr>
        <p:txBody>
          <a:bodyPr wrap="square" lIns="86721" tIns="74021" rIns="35921" bIns="740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RAK ·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36775" y="2386964"/>
            <a:ext cx="3930650" cy="431800"/>
          </a:xfrm>
          <a:prstGeom prst="roundRect">
            <a:avLst>
              <a:gd name="adj" fmla="val 1102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272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Yᵢⱼ = μ + τᵢ + βⱼ + εᵢⱼ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1400" y="2383789"/>
            <a:ext cx="5207000" cy="438150"/>
          </a:xfrm>
          <a:prstGeom prst="roundRect">
            <a:avLst>
              <a:gd name="adj" fmla="val 11594"/>
            </a:avLst>
          </a:prstGeom>
          <a:solidFill>
            <a:srgbClr val="1E1E1E"/>
          </a:solidFill>
          <a:ln/>
        </p:spPr>
        <p:txBody>
          <a:bodyPr wrap="square" lIns="86721" tIns="74021" rIns="0" bIns="740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tinggi_cm ~ perlakuan + blok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2872739"/>
            <a:ext cx="1270000" cy="438150"/>
          </a:xfrm>
          <a:prstGeom prst="roundRect">
            <a:avLst>
              <a:gd name="adj" fmla="val 11594"/>
            </a:avLst>
          </a:prstGeom>
          <a:solidFill>
            <a:srgbClr val="EAF1F8"/>
          </a:solidFill>
          <a:ln/>
        </p:spPr>
        <p:txBody>
          <a:bodyPr wrap="square" lIns="86721" tIns="74021" rIns="35921" bIns="740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RBSL ·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36775" y="2875914"/>
            <a:ext cx="3930650" cy="431800"/>
          </a:xfrm>
          <a:prstGeom prst="roundRect">
            <a:avLst>
              <a:gd name="adj" fmla="val 1102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272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Yᵢⱼₖ = μ + ρᵢ + γⱼ + τₖ + εᵢⱼₖ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1400" y="2872739"/>
            <a:ext cx="5207000" cy="438150"/>
          </a:xfrm>
          <a:prstGeom prst="roundRect">
            <a:avLst>
              <a:gd name="adj" fmla="val 11594"/>
            </a:avLst>
          </a:prstGeom>
          <a:solidFill>
            <a:srgbClr val="1E1E1E"/>
          </a:solidFill>
          <a:ln/>
        </p:spPr>
        <p:txBody>
          <a:bodyPr wrap="square" lIns="86721" tIns="74021" rIns="0" bIns="740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biomassa_g ~ perlakuan + factor(baris) + factor(kolom)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3361689"/>
            <a:ext cx="1270000" cy="438150"/>
          </a:xfrm>
          <a:prstGeom prst="roundRect">
            <a:avLst>
              <a:gd name="adj" fmla="val 11594"/>
            </a:avLst>
          </a:prstGeom>
          <a:solidFill>
            <a:srgbClr val="EAF1F8"/>
          </a:solidFill>
          <a:ln/>
        </p:spPr>
        <p:txBody>
          <a:bodyPr wrap="square" lIns="86721" tIns="74021" rIns="35921" bIns="740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Faktorial ·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36775" y="3364864"/>
            <a:ext cx="3930650" cy="431800"/>
          </a:xfrm>
          <a:prstGeom prst="roundRect">
            <a:avLst>
              <a:gd name="adj" fmla="val 1102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272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Yᵢⱼₖ = μ + βₖ + αᵢ + γⱼ + (αγ)ᵢⱼ + εᵢⱼₖ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1400" y="3361689"/>
            <a:ext cx="5207000" cy="438150"/>
          </a:xfrm>
          <a:prstGeom prst="roundRect">
            <a:avLst>
              <a:gd name="adj" fmla="val 11594"/>
            </a:avLst>
          </a:prstGeom>
          <a:solidFill>
            <a:srgbClr val="1E1E1E"/>
          </a:solidFill>
          <a:ln/>
        </p:spPr>
        <p:txBody>
          <a:bodyPr wrap="square" lIns="86721" tIns="74021" rIns="0" bIns="740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tinggi_cm ~ blok + pupuk * cahaya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3850639"/>
            <a:ext cx="1270000" cy="438150"/>
          </a:xfrm>
          <a:prstGeom prst="roundRect">
            <a:avLst>
              <a:gd name="adj" fmla="val 11594"/>
            </a:avLst>
          </a:prstGeom>
          <a:solidFill>
            <a:srgbClr val="EAF1F8"/>
          </a:solidFill>
          <a:ln/>
        </p:spPr>
        <p:txBody>
          <a:bodyPr wrap="square" lIns="86721" tIns="74021" rIns="35921" bIns="740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Plot · 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36775" y="3853814"/>
            <a:ext cx="3930650" cy="431800"/>
          </a:xfrm>
          <a:prstGeom prst="roundRect">
            <a:avLst>
              <a:gd name="adj" fmla="val 11029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272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Yᵢⱼₖ = μ + βₖ + αᵢ + δᵢₖ + γⱼ + (αγ)ᵢⱼ + εᵢⱼₖ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1400" y="3850639"/>
            <a:ext cx="5207000" cy="438150"/>
          </a:xfrm>
          <a:prstGeom prst="roundRect">
            <a:avLst>
              <a:gd name="adj" fmla="val 11594"/>
            </a:avLst>
          </a:prstGeom>
          <a:solidFill>
            <a:srgbClr val="1E1E1E"/>
          </a:solidFill>
          <a:ln/>
        </p:spPr>
        <p:txBody>
          <a:bodyPr wrap="square" lIns="86721" tIns="74021" rIns="0" bIns="740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tinggi_cm ~ irigasi * pupuk + Error(blok/irigasi)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Gomez &amp; Gomez (1984); Montgomery (2017); Bates et al. (2015) untuk padanan lmer: (1 | blok/irigasi)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Memilih Rancangan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5975" y="1438275"/>
            <a:ext cx="7207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907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 percobaan homogen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077200" y="1435100"/>
            <a:ext cx="3302000" cy="44450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RAL · Bab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5975" y="1984375"/>
            <a:ext cx="7207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907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 sumber keragaman terkontrol diketahui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77200" y="1981200"/>
            <a:ext cx="3302000" cy="44450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RAK · Bab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5975" y="2530475"/>
            <a:ext cx="7207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907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 sumber keragaman terkontrol saling tegak lurus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77200" y="2527300"/>
            <a:ext cx="3302000" cy="44450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RBSL · Bab 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975" y="3076575"/>
            <a:ext cx="7207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907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 faktor perlakuan dan interaksi ingin diuji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77200" y="3073400"/>
            <a:ext cx="3302000" cy="44450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RAK Faktorial · Bab 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5975" y="3622675"/>
            <a:ext cx="7207250" cy="43815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9076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Dua faktor, salah satunya pada unit percobaan lebih besar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77200" y="3619500"/>
            <a:ext cx="3302000" cy="44450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Plot · Bab 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Sumber: Gomez &amp; Gomez (1984); Montgomery (2017)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Uji Lanjut dan Pemeriksaan Asumsi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435100"/>
            <a:ext cx="1397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35921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60600" y="1435100"/>
            <a:ext cx="4064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Uji lanjut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75400" y="1435100"/>
            <a:ext cx="4953000" cy="408940"/>
          </a:xfrm>
          <a:prstGeom prst="roundRect">
            <a:avLst>
              <a:gd name="adj" fmla="val 12422"/>
            </a:avLst>
          </a:prstGeom>
          <a:solidFill>
            <a:srgbClr val="1F3864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Diagnostik asumsi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1894839"/>
            <a:ext cx="1397000" cy="408940"/>
          </a:xfrm>
          <a:prstGeom prst="roundRect">
            <a:avLst>
              <a:gd name="adj" fmla="val 12422"/>
            </a:avLst>
          </a:prstGeom>
          <a:solidFill>
            <a:srgbClr val="EAF1F8"/>
          </a:solidFill>
          <a:ln/>
        </p:spPr>
        <p:txBody>
          <a:bodyPr wrap="square" lIns="86721" tIns="74021" rIns="35921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RAL ·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60600" y="1894839"/>
            <a:ext cx="4064000" cy="408940"/>
          </a:xfrm>
          <a:prstGeom prst="roundRect">
            <a:avLst>
              <a:gd name="adj" fmla="val 12422"/>
            </a:avLst>
          </a:prstGeom>
          <a:solidFill>
            <a:srgbClr val="1E1E1E"/>
          </a:solidFill>
          <a:ln/>
        </p:spPr>
        <p:txBody>
          <a:bodyPr wrap="square" lIns="86721" tIns="74021" rIns="0" bIns="664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TukeyHSD(model)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78575" y="1898014"/>
            <a:ext cx="4946650" cy="402590"/>
          </a:xfrm>
          <a:prstGeom prst="roundRect">
            <a:avLst>
              <a:gd name="adj" fmla="val 1183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6536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plot(model) empat panel, Shapiro-Wilk, Bartlett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2354579"/>
            <a:ext cx="1397000" cy="408940"/>
          </a:xfrm>
          <a:prstGeom prst="roundRect">
            <a:avLst>
              <a:gd name="adj" fmla="val 12422"/>
            </a:avLst>
          </a:prstGeom>
          <a:solidFill>
            <a:srgbClr val="EAF1F8"/>
          </a:solidFill>
          <a:ln/>
        </p:spPr>
        <p:txBody>
          <a:bodyPr wrap="square" lIns="86721" tIns="74021" rIns="35921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RAK ·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60600" y="2354579"/>
            <a:ext cx="4064000" cy="408940"/>
          </a:xfrm>
          <a:prstGeom prst="roundRect">
            <a:avLst>
              <a:gd name="adj" fmla="val 12422"/>
            </a:avLst>
          </a:prstGeom>
          <a:solidFill>
            <a:srgbClr val="1E1E1E"/>
          </a:solidFill>
          <a:ln/>
        </p:spPr>
        <p:txBody>
          <a:bodyPr wrap="square" lIns="86721" tIns="74021" rIns="0" bIns="664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TukeyHSD(model, \"perlakuan\")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78575" y="2357754"/>
            <a:ext cx="4946650" cy="402590"/>
          </a:xfrm>
          <a:prstGeom prst="roundRect">
            <a:avLst>
              <a:gd name="adj" fmla="val 1183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6536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plot(model) empat panel, Shapiro-Wilk, Bartlett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2814321"/>
            <a:ext cx="1397000" cy="408940"/>
          </a:xfrm>
          <a:prstGeom prst="roundRect">
            <a:avLst>
              <a:gd name="adj" fmla="val 12422"/>
            </a:avLst>
          </a:prstGeom>
          <a:solidFill>
            <a:srgbClr val="EAF1F8"/>
          </a:solidFill>
          <a:ln/>
        </p:spPr>
        <p:txBody>
          <a:bodyPr wrap="square" lIns="86721" tIns="74021" rIns="35921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RBSL ·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60600" y="2814321"/>
            <a:ext cx="4064000" cy="408940"/>
          </a:xfrm>
          <a:prstGeom prst="roundRect">
            <a:avLst>
              <a:gd name="adj" fmla="val 12422"/>
            </a:avLst>
          </a:prstGeom>
          <a:solidFill>
            <a:srgbClr val="1E1E1E"/>
          </a:solidFill>
          <a:ln/>
        </p:spPr>
        <p:txBody>
          <a:bodyPr wrap="square" lIns="86721" tIns="74021" rIns="0" bIns="664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TukeyHSD(model, \"perlakuan\")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8575" y="2817496"/>
            <a:ext cx="4946650" cy="402590"/>
          </a:xfrm>
          <a:prstGeom prst="roundRect">
            <a:avLst>
              <a:gd name="adj" fmla="val 1183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6536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plot(model) empat panel, Shapiro-Wilk, Bartlett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3274061"/>
            <a:ext cx="1397000" cy="408940"/>
          </a:xfrm>
          <a:prstGeom prst="roundRect">
            <a:avLst>
              <a:gd name="adj" fmla="val 12422"/>
            </a:avLst>
          </a:prstGeom>
          <a:solidFill>
            <a:srgbClr val="EAF1F8"/>
          </a:solidFill>
          <a:ln/>
        </p:spPr>
        <p:txBody>
          <a:bodyPr wrap="square" lIns="86721" tIns="74021" rIns="35921" bIns="486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Faktorial · 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60600" y="3274061"/>
            <a:ext cx="4064000" cy="408940"/>
          </a:xfrm>
          <a:prstGeom prst="roundRect">
            <a:avLst>
              <a:gd name="adj" fmla="val 12422"/>
            </a:avLst>
          </a:prstGeom>
          <a:solidFill>
            <a:srgbClr val="1E1E1E"/>
          </a:solidFill>
          <a:ln/>
        </p:spPr>
        <p:txBody>
          <a:bodyPr wrap="square" lIns="86721" tIns="74021" rIns="0" bIns="6640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TukeyHSD(model, \"pupuk:cahaya\")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8575" y="3277236"/>
            <a:ext cx="4946650" cy="402590"/>
          </a:xfrm>
          <a:prstGeom prst="roundRect">
            <a:avLst>
              <a:gd name="adj" fmla="val 1183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56536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plot(model) empat panel, Shapiro-Wilk, Bartlett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3733800"/>
            <a:ext cx="1397000" cy="604520"/>
          </a:xfrm>
          <a:prstGeom prst="roundRect">
            <a:avLst>
              <a:gd name="adj" fmla="val 8403"/>
            </a:avLst>
          </a:prstGeom>
          <a:solidFill>
            <a:srgbClr val="EAF1F8"/>
          </a:solidFill>
          <a:ln/>
        </p:spPr>
        <p:txBody>
          <a:bodyPr wrap="square" lIns="86721" tIns="74021" rIns="35921" bIns="740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Plot · 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60600" y="3733800"/>
            <a:ext cx="4064000" cy="604520"/>
          </a:xfrm>
          <a:prstGeom prst="roundRect">
            <a:avLst>
              <a:gd name="adj" fmla="val 8403"/>
            </a:avLst>
          </a:prstGeom>
          <a:solidFill>
            <a:srgbClr val="1E1E1E"/>
          </a:solidFill>
          <a:ln/>
        </p:spPr>
        <p:txBody>
          <a:bodyPr wrap="square" lIns="86721" tIns="74021" rIns="0" bIns="486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0F0F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pairs(emmeans(model_lmer, ~ irigasi * pupuk))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8575" y="3736975"/>
            <a:ext cx="4946650" cy="598170"/>
          </a:xfrm>
          <a:prstGeom prst="roundRect">
            <a:avLst>
              <a:gd name="adj" fmla="val 7962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 wrap="square" lIns="90826" tIns="78126" rIns="0" bIns="78126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qqnorm dan residual vs fitted pada model_lmer, Shapiro-Wilk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TukeyHSD() tidak berlaku langsung pada Error(); emmeans: Lenth (2023)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Rangkuman Perbandingan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83158" y="1435100"/>
            <a:ext cx="10805414" cy="114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RAL ke RAK ke RBSL: pengelompokan bertambah dari nol, satu, hingga dua arah untuk mengurangi galat.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RAK Faktorial: faktor perlakuan bertambah menjadi dua, dan interaksi dapat diuji dengan notasi *.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Plot: dua unit percobaan, dua strata galat, ditangani dengan Error() atau lmer().</a:t>
            </a:r>
            <a:endParaRPr lang="en-US" sz="1600" dirty="0"/>
          </a:p>
          <a:p>
            <a:pPr algn="l" marL="183642" indent="-18364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F5F8F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Uji lanjut mengikuti struktur galat: TukeyHSD untuk satu strata, emmeans untuk struktur campuran.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6238239"/>
            <a:ext cx="9810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C3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Biostatistika untuk Biologi · Perbandingan Bab 1–5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F386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Daftar Pustaka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0844" y="1435100"/>
            <a:ext cx="10777728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Gomez, K. A., &amp; Gomez, A. A. (1984). </a:t>
            </a:r>
            <a:r>
              <a:rPr lang="en-US" sz="13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Statistical Procedures for Agricultural Research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(2nd ed.). John Wiley &amp; Sons.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Montgomery, D. C. (2017). </a:t>
            </a:r>
            <a:r>
              <a:rPr lang="en-US" sz="13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and Analysis of Experiments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(9th ed.). John Wiley &amp; Sons.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Steel, R. G. D., Torrie, J. H., &amp; Dickey, D. A. (1997). </a:t>
            </a:r>
            <a:r>
              <a:rPr lang="en-US" sz="13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and Procedures of Statistics: A Biometrical Approach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(3rd ed.). McGraw-Hill.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Bates, D., Mächler, M., Bolker, B., &amp; Walker, S. (2015). Fitting Linear Mixed-Effects Models Using lme4. </a:t>
            </a:r>
            <a:r>
              <a:rPr lang="en-US" sz="1300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Journal of Statistical Software, 67</a:t>
            </a: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(1), 1-48.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Lenth, R. V. (2023). emmeans: Estimated Marginal Means, aka Least-Squares Means. R package documentation.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bandingan Model Rancangan Percobaan — Bab 1 sampai 5">
  <a:themeElements>
    <a:clrScheme name="Perbandingan Model Rancangan Percobaan — Bab 1 sampai 5">
      <a:dk1>
        <a:srgbClr val="1F3864"/>
      </a:dk1>
      <a:lt1>
        <a:srgbClr val="F5F8FB"/>
      </a:lt1>
      <a:dk2>
        <a:srgbClr val="55688A"/>
      </a:dk2>
      <a:lt2>
        <a:srgbClr val="E0E5EC"/>
      </a:lt2>
      <a:accent1>
        <a:srgbClr val="9CC3E6"/>
      </a:accent1>
      <a:accent2>
        <a:srgbClr val="1A1A1A"/>
      </a:accent2>
      <a:accent3>
        <a:srgbClr val="1E1E1E"/>
      </a:accent3>
      <a:accent4>
        <a:srgbClr val="5C6670"/>
      </a:accent4>
      <a:accent5>
        <a:srgbClr val="FFF3E0"/>
      </a:accent5>
      <a:accent6>
        <a:srgbClr val="D6E4F2"/>
      </a:accent6>
      <a:hlink>
        <a:srgbClr val="0563C1"/>
      </a:hlink>
      <a:folHlink>
        <a:srgbClr val="954F72"/>
      </a:folHlink>
    </a:clrScheme>
    <a:fontScheme name="Perbandingan Model Rancangan Percobaan — Bab 1 sampai 5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Perbandingan Model Rancangan Percobaan — Bab 1 sampai 5</dc:title>
  <dc:subject/>
  <dc:creator/>
  <cp:lastModifiedBy/>
  <cp:revision>1</cp:revision>
  <dcterms:created xsi:type="dcterms:W3CDTF">2026-10-26T10:52:53Z</dcterms:created>
  <dcterms:modified xsi:type="dcterms:W3CDTF">2026-10-26T10:52:53Z</dcterms:modified>
</cp:coreProperties>
</file>