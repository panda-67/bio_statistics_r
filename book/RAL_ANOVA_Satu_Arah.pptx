
<file path=[Content_Types].xml><?xml version="1.0" encoding="utf-8"?>
<Types xmlns="http://schemas.openxmlformats.org/package/2006/content-types">
  <Default Extension="xml" ContentType="application/xml"/>
  <Default Extension="xlsx" ContentType="application/vnd.openxmlformats-officedocument.spreadsheetml.sheet"/>
  <Default Extension="wmf" ContentType="image/x-wmf"/>
  <Default Extension="bin" ContentType="application/vnd.openxmlformats-officedocument.oleObject"/>
  <Default Extension="rels" ContentType="application/vnd.openxmlformats-package.relationships+xml"/>
  <Default Extension="jpeg" ContentType="image/jpeg"/>
  <Default Extension="png" ContentType="image/png"/>
  <Override PartName="/ppt/notesSlides/notesSlide1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ppt/slides/slide1.xml" ContentType="application/vnd.openxmlformats-officedocument.presentationml.slide+xml"/>
  <Override PartName="/ppt/slideMasters/slideMaster1.xml" ContentType="application/vnd.openxmlformats-officedocument.presentationml.slideMaster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slides/slide10.xml" ContentType="application/vnd.openxmlformats-officedocument.presentationml.slide+xml"/>
  <Override PartName="/ppt/slides/slide3.xml" ContentType="application/vnd.openxmlformats-officedocument.presentationml.slide+xml"/>
  <Override PartName="/ppt/theme/theme1.xml" ContentType="application/vnd.openxmlformats-officedocument.theme+xml"/>
  <Override PartName="/ppt/slides/slide6.xml" ContentType="application/vnd.openxmlformats-officedocument.presentationml.slide+xml"/>
  <Override PartName="/ppt/slides/slide11.xml" ContentType="application/vnd.openxmlformats-officedocument.presentationml.slide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notesSlides/notesSlide2.xml" ContentType="application/vnd.openxmlformats-officedocument.presentationml.notesSlide+xml"/>
  <Override PartName="/ppt/slides/slide7.xml" ContentType="application/vnd.openxmlformats-officedocument.presentationml.slide+xml"/>
  <Override PartName="/ppt/viewProps.xml" ContentType="application/vnd.openxmlformats-officedocument.presentationml.viewProps+xml"/>
  <Override PartName="/ppt/notesSlides/notesSlide12.xml" ContentType="application/vnd.openxmlformats-officedocument.presentationml.notesSlide+xml"/>
  <Override PartName="/ppt/slides/slide12.xml" ContentType="application/vnd.openxmlformats-officedocument.presentationml.slide+xml"/>
  <Override PartName="/ppt/charts/chart1.xml" ContentType="application/vnd.openxmlformats-officedocument.drawingml.chart+xml"/>
  <Override PartName="/ppt/slideLayouts/slideLayout1.xml" ContentType="application/vnd.openxmlformats-officedocument.presentationml.slideLayout+xml"/>
  <Override PartName="/ppt/slides/slide5.xml" ContentType="application/vnd.openxmlformats-officedocument.presentationml.slide+xml"/>
  <Override PartName="/ppt/notesSlides/notesSlide8.xml" ContentType="application/vnd.openxmlformats-officedocument.presentationml.notesSlide+xml"/>
  <Override PartName="/ppt/presentation.xml" ContentType="application/vnd.openxmlformats-officedocument.presentationml.presentation.main+xml"/>
  <Override PartName="/ppt/slides/slide8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9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autoCompressPictures="0" saveSubsetFonts="1">
  <p:sldMasterIdLst>
    <p:sldMasterId id="2147483648" r:id="rId1"/>
  </p:sldMasterIdLst>
  <p:notesMasterIdLst>
    <p:notesMasterId r:id="rId15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</p:sldIdLst>
  <p:sldSz cx="12192000" cy="6858000"/>
  <p:notesSz cx="6858000" cy="12192000"/>
  <p:defaultTextStyle>
    <a:lvl1pPr marL="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>
        <p:guide pos="3840"/>
        <p:guide pos="2160" orient="horz"/>
      </p:guideLst>
    </p:cSldViewPr>
  </p:slide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 /><Relationship Id="rId17" Type="http://schemas.openxmlformats.org/officeDocument/2006/relationships/tableStyles" Target="tableStyles.xml" /><Relationship Id="rId18" Type="http://schemas.openxmlformats.org/officeDocument/2006/relationships/viewProps" Target="viewProps.xml" 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 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mc="http://schemas.openxmlformats.org/markup-compatibility/2006" xmlns:c15="http://schemas.microsoft.com/office/drawing/2012/chart" xmlns:c14="http://schemas.microsoft.com/office/drawing/2007/8/2/chart" xmlns:c16r2="http://schemas.microsoft.com/office/drawing/2015/06/chart">
  <c:date1904 val="0"/>
  <c:roundedCorners val="1"/>
  <mc:AlternateContent>
    <mc:Choice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Rata-rata tinggi (cm)</c:v>
                </c:pt>
              </c:strCache>
            </c:strRef>
          </c:tx>
          <c:spPr bwMode="auto">
            <a:prstGeom prst="rect">
              <a:avLst/>
            </a:prstGeom>
            <a:solidFill>
              <a:srgbClr val="2D6A4F"/>
            </a:solidFill>
            <a:effectLst/>
          </c:spPr>
          <c:invertIfNegative val="0"/>
          <c:dLbls>
            <c:numFmt formatCode="#,##0" sourceLinked="0"/>
            <c:showBubbleSize val="0"/>
            <c:showCatName val="0"/>
            <c:showLeaderLines val="0"/>
            <c:showLegendKey val="0"/>
            <c:showPercent val="0"/>
            <c:showSerName val="0"/>
            <c:showVal val="1"/>
            <c:txPr>
              <a:bodyPr/>
              <a:lstStyle/>
              <a:p>
                <a:pPr>
                  <a:defRPr sz="1100" b="0" i="0" u="none" strike="noStrike">
                    <a:solidFill>
                      <a:srgbClr val="1B4332"/>
                    </a:solidFill>
                    <a:latin typeface="Arial"/>
                  </a:defRPr>
                </a:pPr>
                <a:endParaRPr/>
              </a:p>
            </c:txPr>
          </c:dLbls>
          <c:cat>
            <c:multiLvlStrRef>
              <c:f>Sheet1!$A$2:$A$4</c:f>
              <c:multiLvlStrCache>
                <c:ptCount val="3"/>
                <c:lvl>
                  <c:pt idx="0">
                    <c:v>Kontrol</c:v>
                  </c:pt>
                  <c:pt idx="1">
                    <c:v>Kompos</c:v>
                  </c:pt>
                  <c:pt idx="2">
                    <c:v>Pupuk Kandang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14.2</c:v>
                </c:pt>
                <c:pt idx="1">
                  <c:v>18.6</c:v>
                </c:pt>
                <c:pt idx="2">
                  <c:v>20.4</c:v>
                </c:pt>
              </c:numCache>
            </c:numRef>
          </c:val>
        </c:ser>
        <c:dLbls>
          <c:numFmt formatCode="#,##0" sourceLinked="0"/>
          <c:showBubbleSize val="0"/>
          <c:showCatName val="0"/>
          <c:showLeaderLines val="0"/>
          <c:showLegendKey val="0"/>
          <c:showPercent val="0"/>
          <c:showSerName val="0"/>
          <c:showVal val="1"/>
          <c:txPr>
            <a:bodyPr/>
            <a:lstStyle/>
            <a:p>
              <a:pPr>
                <a:defRPr sz="1100" b="0" i="0" u="none" strike="noStrike">
                  <a:solidFill>
                    <a:srgbClr val="1B4332"/>
                  </a:solidFill>
                  <a:latin typeface="Arial"/>
                </a:defRPr>
              </a:pPr>
              <a:endParaRPr/>
            </a:p>
          </c:txPr>
        </c:dLbls>
        <c:gapWidth val="40"/>
        <c:overlap val="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 bwMode="auto">
          <a:prstGeom prst="rect">
            <a:avLst/>
          </a:prstGeom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B2A22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 bwMode="auto">
            <a:prstGeom prst="rect">
              <a:avLst/>
            </a:prstGeom>
            <a:ln w="9525" cap="flat">
              <a:solidFill>
                <a:srgbClr val="E4E4E4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b="0" i="0" u="none" strike="noStrike">
                    <a:solidFill>
                      <a:srgbClr val="000000"/>
                    </a:solidFill>
                    <a:latin typeface="Arial"/>
                  </a:rPr>
                  <a:t>Tinggi (cm)</a:t>
                </a:r>
                <a:endParaRPr/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 bwMode="auto">
          <a:prstGeom prst="rect">
            <a:avLst/>
          </a:prstGeom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C6B6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 bwMode="auto">
        <a:prstGeom prst="rect">
          <a:avLst/>
        </a:prstGeom>
        <a:noFill/>
        <a:ln>
          <a:noFill/>
        </a:ln>
        <a:effectLst/>
      </c:spPr>
    </c:plotArea>
    <c:plotVisOnly val="1"/>
    <c:dispBlanksAs val="span"/>
    <c:showDLblsOverMax val="0"/>
  </c:chart>
  <c:spPr bwMode="auto">
    <a:xfrm rot="0">
      <a:off x="6766560" y="2103120"/>
      <a:ext cx="4846320" cy="3291840"/>
    </a:xfrm>
    <a:prstGeom prst="rect">
      <a:avLst/>
    </a:prstGeom>
    <a:noFill/>
    <a:ln>
      <a:noFill/>
    </a:ln>
    <a:effectLst/>
  </c:spPr>
  <c:externalData r:id="rId1">
    <c:autoUpdate val="1"/>
  </c:externalData>
</c:chartSpace>
</file>

<file path=ppt/embeddings/_rels/Microsoft_Excel_Worksheet1.xlsx.rels><?xml version="1.0" encoding="UTF-8" standalone="yes"?><Relationships xmlns="http://schemas.openxmlformats.org/package/2006/relationships"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53032621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741410187" name="Date Placeholder 2"/>
          <p:cNvSpPr>
            <a:spLocks noGrp="1"/>
          </p:cNvSpPr>
          <p:nvPr>
            <p:ph type="dt" idx="1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747356682" name="Slide Image Placeholder 3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 lang="en-US"/>
          </a:p>
        </p:txBody>
      </p:sp>
      <p:sp>
        <p:nvSpPr>
          <p:cNvPr id="644636049" name="Notes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/>
          </a:p>
        </p:txBody>
      </p:sp>
      <p:sp>
        <p:nvSpPr>
          <p:cNvPr id="1924143897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725017766" name="Slide Number Placeholder 6"/>
          <p:cNvSpPr>
            <a:spLocks noGrp="1"/>
          </p:cNvSpPr>
          <p:nvPr>
            <p:ph type="sldNum" sz="quarter" idx="5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 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 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 ?>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2617255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4486629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35548166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7722494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6812354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16379658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5054270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21238139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45295928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9863641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7831277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79187939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4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3059049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4129944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1103554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5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7506121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2302282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669467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6</a:t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4475096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63286949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4181970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7</a:t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7374050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9542850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9961819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8</a:t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5434769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1548996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5016563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9</a:t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3682014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2937750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3542358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10</a:t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2429502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996572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64166914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11</a:t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2530001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3877250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21230818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12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dt="0" ftr="0" hdr="0" sldNum="0"/>
  <p:txStyles>
    <p:titleStyle>
      <a:lvl1pPr algn="ctr" defTabSz="914400" rtl="0"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>
        <a:spcBef>
          <a:spcPts val="0"/>
        </a:spcBef>
        <a:buFont typeface="Arial"/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>
        <a:spcBef>
          <a:spcPts val="0"/>
        </a:spcBef>
        <a:buFont typeface="Arial"/>
        <a:buChar char="–"/>
        <a:defRPr sz="28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>
        <a:spcBef>
          <a:spcPts val="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>
        <a:spcBef>
          <a:spcPts val="0"/>
        </a:spcBef>
        <a:buFont typeface="Arial"/>
        <a:buChar char="–"/>
        <a:defRPr sz="20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>
        <a:spcBef>
          <a:spcPts val="0"/>
        </a:spcBef>
        <a:buFont typeface="Arial"/>
        <a:buChar char="»"/>
        <a:defRPr sz="20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7.png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8.png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chart" Target="../charts/chart1.xml" 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9.png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image" Target="../media/image12.png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3.png"/><Relationship Id="rId4" Type="http://schemas.openxmlformats.org/officeDocument/2006/relationships/image" Target="../media/image14.png"/><Relationship Id="rId5" Type="http://schemas.openxmlformats.org/officeDocument/2006/relationships/image" Target="../media/image15.png"/><Relationship Id="rId6" Type="http://schemas.openxmlformats.org/officeDocument/2006/relationships/image" Target="../media/image1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1">
    <p:bg>
      <p:bgPr shadeToTitle="0">
        <a:solidFill>
          <a:srgbClr val="1B433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06068885" name="Shape 0"/>
          <p:cNvSpPr/>
          <p:nvPr/>
        </p:nvSpPr>
        <p:spPr bwMode="auto">
          <a:xfrm>
            <a:off x="8778240" y="-1463040"/>
            <a:ext cx="5029200" cy="5029200"/>
          </a:xfrm>
          <a:prstGeom prst="ellipse">
            <a:avLst/>
          </a:prstGeom>
          <a:solidFill>
            <a:srgbClr val="2D6A4F">
              <a:alpha val="45000"/>
            </a:srgbClr>
          </a:solidFill>
          <a:ln/>
        </p:spPr>
      </p:sp>
      <p:sp>
        <p:nvSpPr>
          <p:cNvPr id="219436718" name="Shape 1"/>
          <p:cNvSpPr/>
          <p:nvPr/>
        </p:nvSpPr>
        <p:spPr bwMode="auto">
          <a:xfrm>
            <a:off x="10332720" y="4206240"/>
            <a:ext cx="3291840" cy="3291840"/>
          </a:xfrm>
          <a:prstGeom prst="ellipse">
            <a:avLst/>
          </a:prstGeom>
          <a:solidFill>
            <a:srgbClr val="74C69D">
              <a:alpha val="35000"/>
            </a:srgbClr>
          </a:solidFill>
          <a:ln/>
        </p:spPr>
      </p:sp>
      <p:sp>
        <p:nvSpPr>
          <p:cNvPr id="817015585" name="Shape 2"/>
          <p:cNvSpPr/>
          <p:nvPr/>
        </p:nvSpPr>
        <p:spPr bwMode="auto">
          <a:xfrm>
            <a:off x="640080" y="685800"/>
            <a:ext cx="868680" cy="868680"/>
          </a:xfrm>
          <a:prstGeom prst="ellipse">
            <a:avLst/>
          </a:prstGeom>
          <a:solidFill>
            <a:srgbClr val="2D6A4F"/>
          </a:solidFill>
          <a:ln/>
        </p:spPr>
      </p:sp>
      <p:pic>
        <p:nvPicPr>
          <p:cNvPr id="1247389955" name="Image 0" descr="seedling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753008" y="798728"/>
            <a:ext cx="642823" cy="642823"/>
          </a:xfrm>
          <a:prstGeom prst="rect">
            <a:avLst/>
          </a:prstGeom>
        </p:spPr>
      </p:pic>
      <p:sp>
        <p:nvSpPr>
          <p:cNvPr id="347109364" name="Text 3"/>
          <p:cNvSpPr/>
          <p:nvPr/>
        </p:nvSpPr>
        <p:spPr bwMode="auto">
          <a:xfrm>
            <a:off x="640080" y="21488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400" b="1" spc="200">
                <a:solidFill>
                  <a:srgbClr val="74C69D"/>
                </a:solidFill>
                <a:latin typeface="Calibri"/>
                <a:ea typeface="Calibri"/>
                <a:cs typeface="Calibri"/>
              </a:rPr>
              <a:t>BAB 1 · BIOSTATISTIKA UNTUK BIOLOGI</a:t>
            </a:r>
            <a:endParaRPr lang="en-US" sz="1400"/>
          </a:p>
        </p:txBody>
      </p:sp>
      <p:sp>
        <p:nvSpPr>
          <p:cNvPr id="99304911" name="Text 4"/>
          <p:cNvSpPr/>
          <p:nvPr/>
        </p:nvSpPr>
        <p:spPr bwMode="auto">
          <a:xfrm>
            <a:off x="640080" y="2514600"/>
            <a:ext cx="96012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8000"/>
              </a:lnSpc>
              <a:buNone/>
              <a:defRPr/>
            </a:pPr>
            <a:r>
              <a:rPr lang="en-US" sz="40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Rancangan Acak Lengkap (RAL)</a:t>
            </a:r>
            <a:endParaRPr lang="en-US" sz="4000"/>
          </a:p>
          <a:p>
            <a:pPr marL="0" indent="0">
              <a:lnSpc>
                <a:spcPct val="108000"/>
              </a:lnSpc>
              <a:buNone/>
              <a:defRPr/>
            </a:pPr>
            <a:r>
              <a:rPr lang="en-US" sz="40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dan Analisis Ragam Satu Arah</a:t>
            </a:r>
            <a:endParaRPr lang="en-US" sz="4000"/>
          </a:p>
        </p:txBody>
      </p:sp>
      <p:sp>
        <p:nvSpPr>
          <p:cNvPr id="1554516890" name="Text 5"/>
          <p:cNvSpPr/>
          <p:nvPr/>
        </p:nvSpPr>
        <p:spPr bwMode="auto">
          <a:xfrm>
            <a:off x="658368" y="434340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600" i="1">
                <a:solidFill>
                  <a:srgbClr val="D8F3DC"/>
                </a:solidFill>
                <a:latin typeface="Calibri"/>
                <a:ea typeface="Calibri"/>
                <a:cs typeface="Calibri"/>
              </a:rPr>
              <a:t>Dasar ANOVA untuk unit percobaan yang homogen — konsep, model, dan penerapan dengan R</a:t>
            </a:r>
            <a:endParaRPr lang="en-US" sz="1600"/>
          </a:p>
        </p:txBody>
      </p:sp>
      <p:sp>
        <p:nvSpPr>
          <p:cNvPr id="2055111316" name="Shape 6"/>
          <p:cNvSpPr/>
          <p:nvPr/>
        </p:nvSpPr>
        <p:spPr bwMode="auto">
          <a:xfrm>
            <a:off x="658368" y="5074920"/>
            <a:ext cx="2011680" cy="0"/>
          </a:xfrm>
          <a:prstGeom prst="line">
            <a:avLst/>
          </a:prstGeom>
          <a:noFill/>
          <a:ln w="25400">
            <a:solidFill>
              <a:srgbClr val="74C69D"/>
            </a:solidFill>
            <a:prstDash val="solid"/>
          </a:ln>
        </p:spPr>
      </p:sp>
      <p:sp>
        <p:nvSpPr>
          <p:cNvPr id="1994435851" name="Text 7"/>
          <p:cNvSpPr/>
          <p:nvPr/>
        </p:nvSpPr>
        <p:spPr bwMode="auto">
          <a:xfrm>
            <a:off x="658368" y="52120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100">
                <a:solidFill>
                  <a:srgbClr val="9FC2AE"/>
                </a:solidFill>
                <a:latin typeface="Calibri"/>
                <a:ea typeface="Calibri"/>
                <a:cs typeface="Calibri"/>
              </a:rPr>
              <a:t>Disarikan dari: Samsul Muarrif, S.Si — Buku Ajar Biostatistika untuk Biologi (2026)</a:t>
            </a:r>
            <a:endParaRPr lang="en-US" sz="11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2">
    <p:bg>
      <p:bgPr shadeToTitle="0">
        <a:solidFill>
          <a:srgbClr val="F7FAF7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34024976" name="Text 0"/>
          <p:cNvSpPr/>
          <p:nvPr/>
        </p:nvSpPr>
        <p:spPr bwMode="auto"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200" b="1" spc="200">
                <a:solidFill>
                  <a:srgbClr val="2D6A4F"/>
                </a:solidFill>
                <a:latin typeface="Calibri"/>
                <a:ea typeface="Calibri"/>
                <a:cs typeface="Calibri"/>
              </a:rPr>
              <a:t>BAB 1 · PENDAHULUAN</a:t>
            </a:r>
            <a:endParaRPr lang="en-US" sz="1200"/>
          </a:p>
        </p:txBody>
      </p:sp>
      <p:sp>
        <p:nvSpPr>
          <p:cNvPr id="846589656" name="Text 1"/>
          <p:cNvSpPr/>
          <p:nvPr/>
        </p:nvSpPr>
        <p:spPr bwMode="auto">
          <a:xfrm>
            <a:off x="548640" y="658368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3000" b="1">
                <a:solidFill>
                  <a:srgbClr val="1B4332"/>
                </a:solidFill>
                <a:latin typeface="Cambria"/>
                <a:ea typeface="Cambria"/>
                <a:cs typeface="Cambria"/>
              </a:rPr>
              <a:t>Capaian Pembelajaran</a:t>
            </a:r>
            <a:endParaRPr lang="en-US" sz="3000"/>
          </a:p>
        </p:txBody>
      </p:sp>
      <p:sp>
        <p:nvSpPr>
          <p:cNvPr id="1044667438" name="Shape 2"/>
          <p:cNvSpPr/>
          <p:nvPr/>
        </p:nvSpPr>
        <p:spPr bwMode="auto">
          <a:xfrm>
            <a:off x="640080" y="1828800"/>
            <a:ext cx="566928" cy="566928"/>
          </a:xfrm>
          <a:prstGeom prst="ellipse">
            <a:avLst/>
          </a:prstGeom>
          <a:solidFill>
            <a:srgbClr val="2D6A4F"/>
          </a:solidFill>
          <a:ln/>
        </p:spPr>
      </p:sp>
      <p:pic>
        <p:nvPicPr>
          <p:cNvPr id="1023490215" name="Image 0" descr="seedling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713781" y="1902501"/>
            <a:ext cx="419527" cy="419527"/>
          </a:xfrm>
          <a:prstGeom prst="rect">
            <a:avLst/>
          </a:prstGeom>
        </p:spPr>
      </p:pic>
      <p:sp>
        <p:nvSpPr>
          <p:cNvPr id="744727643" name="Text 3"/>
          <p:cNvSpPr/>
          <p:nvPr/>
        </p:nvSpPr>
        <p:spPr bwMode="auto">
          <a:xfrm>
            <a:off x="1417320" y="1801367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450" b="1">
                <a:solidFill>
                  <a:srgbClr val="1B4332"/>
                </a:solidFill>
                <a:latin typeface="Cambria"/>
                <a:ea typeface="Cambria"/>
                <a:cs typeface="Cambria"/>
              </a:rPr>
              <a:t>Prinsip Dasar RAL</a:t>
            </a:r>
            <a:endParaRPr lang="en-US" sz="1450"/>
          </a:p>
        </p:txBody>
      </p:sp>
      <p:sp>
        <p:nvSpPr>
          <p:cNvPr id="849110809" name="Text 4"/>
          <p:cNvSpPr/>
          <p:nvPr/>
        </p:nvSpPr>
        <p:spPr bwMode="auto">
          <a:xfrm>
            <a:off x="4754880" y="1801367"/>
            <a:ext cx="676656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  <a:defRPr/>
            </a:pPr>
            <a:r>
              <a:rPr lang="en-US" sz="1250">
                <a:solidFill>
                  <a:srgbClr val="1B2A22"/>
                </a:solidFill>
                <a:latin typeface="Calibri"/>
                <a:ea typeface="Calibri"/>
                <a:cs typeface="Calibri"/>
              </a:rPr>
              <a:t>Menjelaskan prinsip Rancangan Acak Lengkap dan kondisi penggunaannya.</a:t>
            </a:r>
            <a:endParaRPr lang="en-US" sz="1250"/>
          </a:p>
        </p:txBody>
      </p:sp>
      <p:sp>
        <p:nvSpPr>
          <p:cNvPr id="965013865" name="Shape 5"/>
          <p:cNvSpPr/>
          <p:nvPr/>
        </p:nvSpPr>
        <p:spPr bwMode="auto">
          <a:xfrm>
            <a:off x="640080" y="2743200"/>
            <a:ext cx="566928" cy="566928"/>
          </a:xfrm>
          <a:prstGeom prst="ellipse">
            <a:avLst/>
          </a:prstGeom>
          <a:solidFill>
            <a:srgbClr val="2D6A4F"/>
          </a:solidFill>
          <a:ln/>
        </p:spPr>
      </p:sp>
      <p:pic>
        <p:nvPicPr>
          <p:cNvPr id="922029556" name="Image 1" descr="chart.png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713781" y="2816901"/>
            <a:ext cx="419527" cy="419527"/>
          </a:xfrm>
          <a:prstGeom prst="rect">
            <a:avLst/>
          </a:prstGeom>
        </p:spPr>
      </p:pic>
      <p:sp>
        <p:nvSpPr>
          <p:cNvPr id="67525503" name="Text 6"/>
          <p:cNvSpPr/>
          <p:nvPr/>
        </p:nvSpPr>
        <p:spPr bwMode="auto">
          <a:xfrm>
            <a:off x="1417320" y="2715768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450" b="1">
                <a:solidFill>
                  <a:srgbClr val="1B4332"/>
                </a:solidFill>
                <a:latin typeface="Cambria"/>
                <a:ea typeface="Cambria"/>
                <a:cs typeface="Cambria"/>
              </a:rPr>
              <a:t>Statistik Deskriptif</a:t>
            </a:r>
            <a:endParaRPr lang="en-US" sz="1450"/>
          </a:p>
        </p:txBody>
      </p:sp>
      <p:sp>
        <p:nvSpPr>
          <p:cNvPr id="2068803275" name="Text 7"/>
          <p:cNvSpPr/>
          <p:nvPr/>
        </p:nvSpPr>
        <p:spPr bwMode="auto">
          <a:xfrm>
            <a:off x="4754880" y="2715768"/>
            <a:ext cx="676656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  <a:defRPr/>
            </a:pPr>
            <a:r>
              <a:rPr lang="en-US" sz="1250">
                <a:solidFill>
                  <a:srgbClr val="1B2A22"/>
                </a:solidFill>
                <a:latin typeface="Calibri"/>
                <a:ea typeface="Calibri"/>
                <a:cs typeface="Calibri"/>
              </a:rPr>
              <a:t>Menghitung &amp; menafsirkan rata-rata, simpangan baku, dan galat baku per kelompok.</a:t>
            </a:r>
            <a:endParaRPr lang="en-US" sz="1250"/>
          </a:p>
        </p:txBody>
      </p:sp>
      <p:sp>
        <p:nvSpPr>
          <p:cNvPr id="1326978154" name="Shape 8"/>
          <p:cNvSpPr/>
          <p:nvPr/>
        </p:nvSpPr>
        <p:spPr bwMode="auto">
          <a:xfrm>
            <a:off x="640080" y="3657600"/>
            <a:ext cx="566928" cy="566928"/>
          </a:xfrm>
          <a:prstGeom prst="ellipse">
            <a:avLst/>
          </a:prstGeom>
          <a:solidFill>
            <a:srgbClr val="2D6A4F"/>
          </a:solidFill>
          <a:ln/>
        </p:spPr>
      </p:sp>
      <p:pic>
        <p:nvPicPr>
          <p:cNvPr id="1120468030" name="Image 2" descr="flask.png"/>
          <p:cNvPicPr>
            <a:picLocks noChangeAspect="1"/>
          </p:cNvPicPr>
          <p:nvPr/>
        </p:nvPicPr>
        <p:blipFill rotWithShape="1">
          <a:blip r:embed="rId5"/>
          <a:stretch/>
        </p:blipFill>
        <p:spPr bwMode="auto">
          <a:xfrm>
            <a:off x="713781" y="3731301"/>
            <a:ext cx="419527" cy="419527"/>
          </a:xfrm>
          <a:prstGeom prst="rect">
            <a:avLst/>
          </a:prstGeom>
        </p:spPr>
      </p:pic>
      <p:sp>
        <p:nvSpPr>
          <p:cNvPr id="590483537" name="Text 9"/>
          <p:cNvSpPr/>
          <p:nvPr/>
        </p:nvSpPr>
        <p:spPr bwMode="auto">
          <a:xfrm>
            <a:off x="1417320" y="3630168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450" b="1">
                <a:solidFill>
                  <a:srgbClr val="1B4332"/>
                </a:solidFill>
                <a:latin typeface="Cambria"/>
                <a:ea typeface="Cambria"/>
                <a:cs typeface="Cambria"/>
              </a:rPr>
              <a:t>Model ANOVA Satu Arah</a:t>
            </a:r>
            <a:endParaRPr lang="en-US" sz="1450"/>
          </a:p>
        </p:txBody>
      </p:sp>
      <p:sp>
        <p:nvSpPr>
          <p:cNvPr id="662112679" name="Text 10"/>
          <p:cNvSpPr/>
          <p:nvPr/>
        </p:nvSpPr>
        <p:spPr bwMode="auto">
          <a:xfrm>
            <a:off x="4754880" y="3630168"/>
            <a:ext cx="676656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  <a:defRPr/>
            </a:pPr>
            <a:r>
              <a:rPr lang="en-US" sz="1250">
                <a:solidFill>
                  <a:srgbClr val="1B2A22"/>
                </a:solidFill>
                <a:latin typeface="Calibri"/>
                <a:ea typeface="Calibri"/>
                <a:cs typeface="Calibri"/>
              </a:rPr>
              <a:t>Menyusun dan menjalankan model analisis ragam satu arah menggunakan R.</a:t>
            </a:r>
            <a:endParaRPr lang="en-US" sz="1250"/>
          </a:p>
        </p:txBody>
      </p:sp>
      <p:sp>
        <p:nvSpPr>
          <p:cNvPr id="497919615" name="Shape 11"/>
          <p:cNvSpPr/>
          <p:nvPr/>
        </p:nvSpPr>
        <p:spPr bwMode="auto">
          <a:xfrm>
            <a:off x="640080" y="4572000"/>
            <a:ext cx="566928" cy="566928"/>
          </a:xfrm>
          <a:prstGeom prst="ellipse">
            <a:avLst/>
          </a:prstGeom>
          <a:solidFill>
            <a:srgbClr val="2D6A4F"/>
          </a:solidFill>
          <a:ln/>
        </p:spPr>
      </p:sp>
      <p:pic>
        <p:nvPicPr>
          <p:cNvPr id="1693319695" name="Image 3" descr="scale.png"/>
          <p:cNvPicPr>
            <a:picLocks noChangeAspect="1"/>
          </p:cNvPicPr>
          <p:nvPr/>
        </p:nvPicPr>
        <p:blipFill rotWithShape="1">
          <a:blip r:embed="rId6"/>
          <a:stretch/>
        </p:blipFill>
        <p:spPr bwMode="auto">
          <a:xfrm>
            <a:off x="713781" y="4645701"/>
            <a:ext cx="419527" cy="419527"/>
          </a:xfrm>
          <a:prstGeom prst="rect">
            <a:avLst/>
          </a:prstGeom>
        </p:spPr>
      </p:pic>
      <p:sp>
        <p:nvSpPr>
          <p:cNvPr id="866433206" name="Text 12"/>
          <p:cNvSpPr/>
          <p:nvPr/>
        </p:nvSpPr>
        <p:spPr bwMode="auto">
          <a:xfrm>
            <a:off x="1417320" y="4544568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450" b="1">
                <a:solidFill>
                  <a:srgbClr val="1B4332"/>
                </a:solidFill>
                <a:latin typeface="Cambria"/>
                <a:ea typeface="Cambria"/>
                <a:cs typeface="Cambria"/>
              </a:rPr>
              <a:t>Uji Lanjut Tukey HSD</a:t>
            </a:r>
            <a:endParaRPr lang="en-US" sz="1450"/>
          </a:p>
        </p:txBody>
      </p:sp>
      <p:sp>
        <p:nvSpPr>
          <p:cNvPr id="871450494" name="Text 13"/>
          <p:cNvSpPr/>
          <p:nvPr/>
        </p:nvSpPr>
        <p:spPr bwMode="auto">
          <a:xfrm>
            <a:off x="4754880" y="4544568"/>
            <a:ext cx="676656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  <a:defRPr/>
            </a:pPr>
            <a:r>
              <a:rPr lang="en-US" sz="1250">
                <a:solidFill>
                  <a:srgbClr val="1B2A22"/>
                </a:solidFill>
                <a:latin typeface="Calibri"/>
                <a:ea typeface="Calibri"/>
                <a:cs typeface="Calibri"/>
              </a:rPr>
              <a:t>Melakukan uji lanjut Tukey HSD dan menafsirkan hasilnya secara benar.</a:t>
            </a:r>
            <a:endParaRPr lang="en-US" sz="1250"/>
          </a:p>
        </p:txBody>
      </p:sp>
      <p:sp>
        <p:nvSpPr>
          <p:cNvPr id="1805888509" name="Shape 14"/>
          <p:cNvSpPr/>
          <p:nvPr/>
        </p:nvSpPr>
        <p:spPr bwMode="auto">
          <a:xfrm>
            <a:off x="640080" y="5486400"/>
            <a:ext cx="566928" cy="566928"/>
          </a:xfrm>
          <a:prstGeom prst="ellipse">
            <a:avLst/>
          </a:prstGeom>
          <a:solidFill>
            <a:srgbClr val="2D6A4F"/>
          </a:solidFill>
          <a:ln/>
        </p:spPr>
      </p:sp>
      <p:pic>
        <p:nvPicPr>
          <p:cNvPr id="1438401735" name="Image 4" descr="check.png"/>
          <p:cNvPicPr>
            <a:picLocks noChangeAspect="1"/>
          </p:cNvPicPr>
          <p:nvPr/>
        </p:nvPicPr>
        <p:blipFill rotWithShape="1">
          <a:blip r:embed="rId7"/>
          <a:stretch/>
        </p:blipFill>
        <p:spPr bwMode="auto">
          <a:xfrm>
            <a:off x="713781" y="5560101"/>
            <a:ext cx="419527" cy="419527"/>
          </a:xfrm>
          <a:prstGeom prst="rect">
            <a:avLst/>
          </a:prstGeom>
        </p:spPr>
      </p:pic>
      <p:sp>
        <p:nvSpPr>
          <p:cNvPr id="978555778" name="Text 15"/>
          <p:cNvSpPr/>
          <p:nvPr/>
        </p:nvSpPr>
        <p:spPr bwMode="auto">
          <a:xfrm>
            <a:off x="1417320" y="5458968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450" b="1">
                <a:solidFill>
                  <a:srgbClr val="1B4332"/>
                </a:solidFill>
                <a:latin typeface="Cambria"/>
                <a:ea typeface="Cambria"/>
                <a:cs typeface="Cambria"/>
              </a:rPr>
              <a:t>Pemeriksaan Asumsi</a:t>
            </a:r>
            <a:endParaRPr lang="en-US" sz="1450"/>
          </a:p>
        </p:txBody>
      </p:sp>
      <p:sp>
        <p:nvSpPr>
          <p:cNvPr id="1563701440" name="Text 16"/>
          <p:cNvSpPr/>
          <p:nvPr/>
        </p:nvSpPr>
        <p:spPr bwMode="auto">
          <a:xfrm>
            <a:off x="4754880" y="5458968"/>
            <a:ext cx="676656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  <a:defRPr/>
            </a:pPr>
            <a:r>
              <a:rPr lang="en-US" sz="1250">
                <a:solidFill>
                  <a:srgbClr val="1B2A22"/>
                </a:solidFill>
                <a:latin typeface="Calibri"/>
                <a:ea typeface="Calibri"/>
                <a:cs typeface="Calibri"/>
              </a:rPr>
              <a:t>Memeriksa normalitas &amp; homogenitas ragam lewat diagnostik grafik dan uji formal.</a:t>
            </a:r>
            <a:endParaRPr lang="en-US" sz="1250"/>
          </a:p>
        </p:txBody>
      </p:sp>
      <p:sp>
        <p:nvSpPr>
          <p:cNvPr id="1576628804" name="Text 17"/>
          <p:cNvSpPr/>
          <p:nvPr/>
        </p:nvSpPr>
        <p:spPr bwMode="auto"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  <a:defRPr/>
            </a:pPr>
            <a:r>
              <a:rPr lang="en-US" sz="900">
                <a:solidFill>
                  <a:srgbClr val="5C6B63"/>
                </a:solidFill>
                <a:latin typeface="Calibri"/>
                <a:ea typeface="Calibri"/>
                <a:cs typeface="Calibri"/>
              </a:rPr>
              <a:t>RAL &amp; ANOVA Satu Arah — Biostatistika untuk Biologi</a:t>
            </a:r>
            <a:endParaRPr lang="en-US" sz="900"/>
          </a:p>
        </p:txBody>
      </p:sp>
      <p:sp>
        <p:nvSpPr>
          <p:cNvPr id="2007607457" name="Text 18"/>
          <p:cNvSpPr/>
          <p:nvPr/>
        </p:nvSpPr>
        <p:spPr bwMode="auto"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  <a:defRPr/>
            </a:pPr>
            <a:r>
              <a:rPr lang="en-US" sz="900">
                <a:solidFill>
                  <a:srgbClr val="5C6B63"/>
                </a:solidFill>
                <a:latin typeface="Calibri"/>
                <a:ea typeface="Calibri"/>
                <a:cs typeface="Calibri"/>
              </a:rPr>
              <a:t>2</a:t>
            </a:r>
            <a:endParaRPr lang="en-US" sz="9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3">
    <p:bg>
      <p:bgPr shadeToTitle="0">
        <a:solidFill>
          <a:srgbClr val="F7FAF7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60504893" name="Text 0"/>
          <p:cNvSpPr/>
          <p:nvPr/>
        </p:nvSpPr>
        <p:spPr bwMode="auto"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200" b="1" spc="200">
                <a:solidFill>
                  <a:srgbClr val="2D6A4F"/>
                </a:solidFill>
                <a:latin typeface="Calibri"/>
                <a:ea typeface="Calibri"/>
                <a:cs typeface="Calibri"/>
              </a:rPr>
              <a:t>1.2 · PENDAHULUAN</a:t>
            </a:r>
            <a:endParaRPr lang="en-US" sz="1200"/>
          </a:p>
        </p:txBody>
      </p:sp>
      <p:sp>
        <p:nvSpPr>
          <p:cNvPr id="271976619" name="Text 1"/>
          <p:cNvSpPr/>
          <p:nvPr/>
        </p:nvSpPr>
        <p:spPr bwMode="auto">
          <a:xfrm>
            <a:off x="548640" y="658368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3000" b="1">
                <a:solidFill>
                  <a:srgbClr val="1B4332"/>
                </a:solidFill>
                <a:latin typeface="Cambria"/>
                <a:ea typeface="Cambria"/>
                <a:cs typeface="Cambria"/>
              </a:rPr>
              <a:t>Apa Itu Rancangan Acak Lengkap?</a:t>
            </a:r>
            <a:endParaRPr lang="en-US" sz="3000"/>
          </a:p>
        </p:txBody>
      </p:sp>
      <p:sp>
        <p:nvSpPr>
          <p:cNvPr id="446926802" name="Text 2"/>
          <p:cNvSpPr/>
          <p:nvPr/>
        </p:nvSpPr>
        <p:spPr bwMode="auto">
          <a:xfrm>
            <a:off x="548640" y="1691640"/>
            <a:ext cx="6126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  <a:defRPr/>
            </a:pPr>
            <a:r>
              <a:rPr lang="en-US" sz="1450" b="1">
                <a:solidFill>
                  <a:srgbClr val="1B4332"/>
                </a:solidFill>
                <a:latin typeface="Calibri"/>
                <a:ea typeface="Calibri"/>
                <a:cs typeface="Calibri"/>
              </a:rPr>
              <a:t>Rancangan percobaan paling sederhana </a:t>
            </a:r>
            <a:r>
              <a:rPr lang="en-US" sz="1450">
                <a:solidFill>
                  <a:srgbClr val="1B2A22"/>
                </a:solidFill>
                <a:latin typeface="Calibri"/>
                <a:ea typeface="Calibri"/>
                <a:cs typeface="Calibri"/>
              </a:rPr>
              <a:t>dalam ilmu biologi eksperimental (Gomez &amp; Gomez, 1984).</a:t>
            </a:r>
            <a:endParaRPr lang="en-US" sz="1450"/>
          </a:p>
        </p:txBody>
      </p:sp>
      <p:sp>
        <p:nvSpPr>
          <p:cNvPr id="1495364719" name="Text 3"/>
          <p:cNvSpPr/>
          <p:nvPr/>
        </p:nvSpPr>
        <p:spPr bwMode="auto">
          <a:xfrm>
            <a:off x="548640" y="2514600"/>
            <a:ext cx="6126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  <a:defRPr/>
            </a:pPr>
            <a:r>
              <a:rPr lang="en-US" sz="1300">
                <a:solidFill>
                  <a:srgbClr val="1B2A22"/>
                </a:solidFill>
                <a:latin typeface="Calibri"/>
                <a:ea typeface="Calibri"/>
                <a:cs typeface="Calibri"/>
              </a:rPr>
              <a:t>Digunakan ketika unit percobaan — pot tanaman, cawan biakan, hewan uji — bersifat relatif homogen, sehingga tidak perlu pengelompokan tambahan sebelum perlakuan diberikan.</a:t>
            </a:r>
            <a:endParaRPr lang="en-US" sz="1300"/>
          </a:p>
        </p:txBody>
      </p:sp>
      <p:sp>
        <p:nvSpPr>
          <p:cNvPr id="1568511241" name="Text 4"/>
          <p:cNvSpPr/>
          <p:nvPr/>
        </p:nvSpPr>
        <p:spPr bwMode="auto">
          <a:xfrm>
            <a:off x="548640" y="3520440"/>
            <a:ext cx="6126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  <a:defRPr/>
            </a:pPr>
            <a:r>
              <a:rPr lang="en-US" sz="1300">
                <a:solidFill>
                  <a:srgbClr val="1B2A22"/>
                </a:solidFill>
                <a:latin typeface="Calibri"/>
                <a:ea typeface="Calibri"/>
                <a:cs typeface="Calibri"/>
              </a:rPr>
              <a:t>Karena homogen, tiap perlakuan dapat diacak sepenuhnya (</a:t>
            </a:r>
            <a:r>
              <a:rPr lang="en-US" sz="1300" i="1">
                <a:solidFill>
                  <a:srgbClr val="1B2A22"/>
                </a:solidFill>
                <a:latin typeface="Calibri"/>
                <a:ea typeface="Calibri"/>
                <a:cs typeface="Calibri"/>
              </a:rPr>
              <a:t>completely </a:t>
            </a:r>
            <a:r>
              <a:rPr lang="en-US" sz="1300" i="1">
                <a:solidFill>
                  <a:srgbClr val="1B2A22"/>
                </a:solidFill>
                <a:latin typeface="Calibri"/>
                <a:ea typeface="Calibri"/>
                <a:cs typeface="Calibri"/>
              </a:rPr>
              <a:t>randomized</a:t>
            </a:r>
            <a:r>
              <a:rPr lang="en-US" sz="1300">
                <a:solidFill>
                  <a:srgbClr val="1B2A22"/>
                </a:solidFill>
                <a:latin typeface="Calibri"/>
                <a:ea typeface="Calibri"/>
                <a:cs typeface="Calibri"/>
              </a:rPr>
              <a:t>) ke seluruh unit percobaan tanpa memperhatikan faktor pengganggu lain (Montgomery, 2017).</a:t>
            </a:r>
            <a:endParaRPr lang="en-US" sz="1300"/>
          </a:p>
        </p:txBody>
      </p:sp>
      <p:sp>
        <p:nvSpPr>
          <p:cNvPr id="1342640596" name="Shape 5"/>
          <p:cNvSpPr/>
          <p:nvPr/>
        </p:nvSpPr>
        <p:spPr bwMode="auto">
          <a:xfrm>
            <a:off x="548640" y="4617720"/>
            <a:ext cx="6126480" cy="1234440"/>
          </a:xfrm>
          <a:prstGeom prst="roundRect">
            <a:avLst>
              <a:gd name="adj" fmla="val 5926"/>
            </a:avLst>
          </a:prstGeom>
          <a:solidFill>
            <a:srgbClr val="1B4332"/>
          </a:solidFill>
          <a:ln/>
        </p:spPr>
      </p:sp>
      <p:sp>
        <p:nvSpPr>
          <p:cNvPr id="958013249" name="Text 6"/>
          <p:cNvSpPr/>
          <p:nvPr/>
        </p:nvSpPr>
        <p:spPr bwMode="auto">
          <a:xfrm>
            <a:off x="777240" y="4736592"/>
            <a:ext cx="5669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150" b="1" spc="100">
                <a:solidFill>
                  <a:srgbClr val="74C69D"/>
                </a:solidFill>
                <a:latin typeface="Calibri"/>
                <a:ea typeface="Calibri"/>
                <a:cs typeface="Calibri"/>
              </a:rPr>
              <a:t>Pertanyaan Ilmiah yang Dijawab RAL</a:t>
            </a:r>
            <a:endParaRPr lang="en-US" sz="1150"/>
          </a:p>
        </p:txBody>
      </p:sp>
      <p:sp>
        <p:nvSpPr>
          <p:cNvPr id="543258409" name="Text 7"/>
          <p:cNvSpPr/>
          <p:nvPr/>
        </p:nvSpPr>
        <p:spPr bwMode="auto">
          <a:xfrm>
            <a:off x="777240" y="5029200"/>
            <a:ext cx="5669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500" i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“Apakah rata-rata respons berbeda antar beberapa perlakuan?”</a:t>
            </a:r>
            <a:endParaRPr lang="en-US" sz="1500"/>
          </a:p>
        </p:txBody>
      </p:sp>
      <p:sp>
        <p:nvSpPr>
          <p:cNvPr id="708373252" name="Shape 8"/>
          <p:cNvSpPr/>
          <p:nvPr/>
        </p:nvSpPr>
        <p:spPr bwMode="auto">
          <a:xfrm>
            <a:off x="7315200" y="1691640"/>
            <a:ext cx="640080" cy="640080"/>
          </a:xfrm>
          <a:prstGeom prst="ellipse">
            <a:avLst/>
          </a:prstGeom>
          <a:solidFill>
            <a:srgbClr val="2D6A4F"/>
          </a:solidFill>
          <a:ln/>
        </p:spPr>
      </p:sp>
      <p:pic>
        <p:nvPicPr>
          <p:cNvPr id="728140353" name="Image 0" descr="diagram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7398410" y="1774850"/>
            <a:ext cx="473659" cy="473659"/>
          </a:xfrm>
          <a:prstGeom prst="rect">
            <a:avLst/>
          </a:prstGeom>
        </p:spPr>
      </p:pic>
      <p:sp>
        <p:nvSpPr>
          <p:cNvPr id="886058926" name="Text 9"/>
          <p:cNvSpPr/>
          <p:nvPr/>
        </p:nvSpPr>
        <p:spPr bwMode="auto">
          <a:xfrm>
            <a:off x="8092440" y="17830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600" b="1">
                <a:solidFill>
                  <a:srgbClr val="1B4332"/>
                </a:solidFill>
                <a:latin typeface="Cambria"/>
                <a:ea typeface="Cambria"/>
                <a:cs typeface="Cambria"/>
              </a:rPr>
              <a:t>Ciri Khas RAL</a:t>
            </a:r>
            <a:endParaRPr lang="en-US" sz="1600"/>
          </a:p>
        </p:txBody>
      </p:sp>
      <p:sp>
        <p:nvSpPr>
          <p:cNvPr id="1775089595" name="Shape 10"/>
          <p:cNvSpPr/>
          <p:nvPr/>
        </p:nvSpPr>
        <p:spPr bwMode="auto">
          <a:xfrm>
            <a:off x="7360920" y="2587752"/>
            <a:ext cx="109728" cy="109728"/>
          </a:xfrm>
          <a:prstGeom prst="ellipse">
            <a:avLst/>
          </a:prstGeom>
          <a:solidFill>
            <a:srgbClr val="E07A5F"/>
          </a:solidFill>
          <a:ln/>
        </p:spPr>
      </p:sp>
      <p:sp>
        <p:nvSpPr>
          <p:cNvPr id="1801983517" name="Text 11"/>
          <p:cNvSpPr/>
          <p:nvPr/>
        </p:nvSpPr>
        <p:spPr bwMode="auto">
          <a:xfrm>
            <a:off x="7635240" y="2441448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300">
                <a:solidFill>
                  <a:srgbClr val="1B2A22"/>
                </a:solidFill>
                <a:latin typeface="Calibri"/>
                <a:ea typeface="Calibri"/>
                <a:cs typeface="Calibri"/>
              </a:rPr>
              <a:t>Unit percobaan homogen</a:t>
            </a:r>
            <a:endParaRPr lang="en-US" sz="1300"/>
          </a:p>
        </p:txBody>
      </p:sp>
      <p:sp>
        <p:nvSpPr>
          <p:cNvPr id="447956241" name="Shape 12"/>
          <p:cNvSpPr/>
          <p:nvPr/>
        </p:nvSpPr>
        <p:spPr bwMode="auto">
          <a:xfrm>
            <a:off x="7360920" y="3090672"/>
            <a:ext cx="109728" cy="109728"/>
          </a:xfrm>
          <a:prstGeom prst="ellipse">
            <a:avLst/>
          </a:prstGeom>
          <a:solidFill>
            <a:srgbClr val="E07A5F"/>
          </a:solidFill>
          <a:ln/>
        </p:spPr>
      </p:sp>
      <p:sp>
        <p:nvSpPr>
          <p:cNvPr id="508224791" name="Text 13"/>
          <p:cNvSpPr/>
          <p:nvPr/>
        </p:nvSpPr>
        <p:spPr bwMode="auto">
          <a:xfrm>
            <a:off x="7635240" y="2944368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300">
                <a:solidFill>
                  <a:srgbClr val="1B2A22"/>
                </a:solidFill>
                <a:latin typeface="Calibri"/>
                <a:ea typeface="Calibri"/>
                <a:cs typeface="Calibri"/>
              </a:rPr>
              <a:t>Tanpa pengelompokan (blok)</a:t>
            </a:r>
            <a:endParaRPr lang="en-US" sz="1300"/>
          </a:p>
        </p:txBody>
      </p:sp>
      <p:sp>
        <p:nvSpPr>
          <p:cNvPr id="1297193692" name="Shape 14"/>
          <p:cNvSpPr/>
          <p:nvPr/>
        </p:nvSpPr>
        <p:spPr bwMode="auto">
          <a:xfrm>
            <a:off x="7360920" y="3593592"/>
            <a:ext cx="109728" cy="109728"/>
          </a:xfrm>
          <a:prstGeom prst="ellipse">
            <a:avLst/>
          </a:prstGeom>
          <a:solidFill>
            <a:srgbClr val="E07A5F"/>
          </a:solidFill>
          <a:ln/>
        </p:spPr>
      </p:sp>
      <p:sp>
        <p:nvSpPr>
          <p:cNvPr id="1597414132" name="Text 15"/>
          <p:cNvSpPr/>
          <p:nvPr/>
        </p:nvSpPr>
        <p:spPr bwMode="auto">
          <a:xfrm>
            <a:off x="7635240" y="3447288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300">
                <a:solidFill>
                  <a:srgbClr val="1B2A22"/>
                </a:solidFill>
                <a:latin typeface="Calibri"/>
                <a:ea typeface="Calibri"/>
                <a:cs typeface="Calibri"/>
              </a:rPr>
              <a:t>Pengacakan penuh ke semua unit</a:t>
            </a:r>
            <a:endParaRPr lang="en-US" sz="1300"/>
          </a:p>
        </p:txBody>
      </p:sp>
      <p:sp>
        <p:nvSpPr>
          <p:cNvPr id="355154874" name="Shape 16"/>
          <p:cNvSpPr/>
          <p:nvPr/>
        </p:nvSpPr>
        <p:spPr bwMode="auto">
          <a:xfrm>
            <a:off x="7360920" y="4096512"/>
            <a:ext cx="109728" cy="109728"/>
          </a:xfrm>
          <a:prstGeom prst="ellipse">
            <a:avLst/>
          </a:prstGeom>
          <a:solidFill>
            <a:srgbClr val="E07A5F"/>
          </a:solidFill>
          <a:ln/>
        </p:spPr>
      </p:sp>
      <p:sp>
        <p:nvSpPr>
          <p:cNvPr id="362475773" name="Text 17"/>
          <p:cNvSpPr/>
          <p:nvPr/>
        </p:nvSpPr>
        <p:spPr bwMode="auto">
          <a:xfrm>
            <a:off x="7635240" y="3950208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300">
                <a:solidFill>
                  <a:srgbClr val="1B2A22"/>
                </a:solidFill>
                <a:latin typeface="Calibri"/>
                <a:ea typeface="Calibri"/>
                <a:cs typeface="Calibri"/>
              </a:rPr>
              <a:t>Dijawab dgn ANOVA satu arah</a:t>
            </a:r>
            <a:endParaRPr lang="en-US" sz="1300"/>
          </a:p>
        </p:txBody>
      </p:sp>
      <p:sp>
        <p:nvSpPr>
          <p:cNvPr id="1359223957" name="Shape 18"/>
          <p:cNvSpPr/>
          <p:nvPr/>
        </p:nvSpPr>
        <p:spPr bwMode="auto">
          <a:xfrm>
            <a:off x="7315200" y="4617720"/>
            <a:ext cx="4343400" cy="1234440"/>
          </a:xfrm>
          <a:prstGeom prst="roundRect">
            <a:avLst>
              <a:gd name="adj" fmla="val 5926"/>
            </a:avLst>
          </a:prstGeom>
          <a:solidFill>
            <a:srgbClr val="D8F3DC"/>
          </a:solidFill>
          <a:ln/>
        </p:spPr>
      </p:sp>
      <p:sp>
        <p:nvSpPr>
          <p:cNvPr id="1520999398" name="Text 19"/>
          <p:cNvSpPr/>
          <p:nvPr/>
        </p:nvSpPr>
        <p:spPr bwMode="auto">
          <a:xfrm>
            <a:off x="7543800" y="4754880"/>
            <a:ext cx="38862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200" i="1">
                <a:solidFill>
                  <a:srgbClr val="1B4332"/>
                </a:solidFill>
                <a:latin typeface="Calibri"/>
                <a:ea typeface="Calibri"/>
                <a:cs typeface="Calibri"/>
              </a:rPr>
              <a:t>Analisis Ragam (ANOVA) satu arah membandingkan keragaman ANTAR kelompok terhadap keragaman DI DALAM kelompok (galat).</a:t>
            </a:r>
            <a:endParaRPr lang="en-US" sz="1200"/>
          </a:p>
        </p:txBody>
      </p:sp>
      <p:sp>
        <p:nvSpPr>
          <p:cNvPr id="1173925320" name="Text 20"/>
          <p:cNvSpPr/>
          <p:nvPr/>
        </p:nvSpPr>
        <p:spPr bwMode="auto"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  <a:defRPr/>
            </a:pPr>
            <a:r>
              <a:rPr lang="en-US" sz="900">
                <a:solidFill>
                  <a:srgbClr val="5C6B63"/>
                </a:solidFill>
                <a:latin typeface="Calibri"/>
                <a:ea typeface="Calibri"/>
                <a:cs typeface="Calibri"/>
              </a:rPr>
              <a:t>RAL &amp; ANOVA Satu Arah — Biostatistika untuk Biologi</a:t>
            </a:r>
            <a:endParaRPr lang="en-US" sz="900"/>
          </a:p>
        </p:txBody>
      </p:sp>
      <p:sp>
        <p:nvSpPr>
          <p:cNvPr id="2140989345" name="Text 21"/>
          <p:cNvSpPr/>
          <p:nvPr/>
        </p:nvSpPr>
        <p:spPr bwMode="auto"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  <a:defRPr/>
            </a:pPr>
            <a:r>
              <a:rPr lang="en-US" sz="900">
                <a:solidFill>
                  <a:srgbClr val="5C6B63"/>
                </a:solidFill>
                <a:latin typeface="Calibri"/>
                <a:ea typeface="Calibri"/>
                <a:cs typeface="Calibri"/>
              </a:rPr>
              <a:t>3</a:t>
            </a:r>
            <a:endParaRPr lang="en-US" sz="9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4">
    <p:bg>
      <p:bgPr shadeToTitle="0">
        <a:solidFill>
          <a:srgbClr val="1B433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26352705" name="Shape 0"/>
          <p:cNvSpPr/>
          <p:nvPr/>
        </p:nvSpPr>
        <p:spPr bwMode="auto">
          <a:xfrm>
            <a:off x="-2011680" y="4114800"/>
            <a:ext cx="5486400" cy="5486400"/>
          </a:xfrm>
          <a:prstGeom prst="ellipse">
            <a:avLst/>
          </a:prstGeom>
          <a:solidFill>
            <a:srgbClr val="2D6A4F">
              <a:alpha val="40000"/>
            </a:srgbClr>
          </a:solidFill>
          <a:ln/>
        </p:spPr>
      </p:sp>
      <p:sp>
        <p:nvSpPr>
          <p:cNvPr id="1645395476" name="Text 1"/>
          <p:cNvSpPr/>
          <p:nvPr/>
        </p:nvSpPr>
        <p:spPr bwMode="auto">
          <a:xfrm>
            <a:off x="640080" y="5486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300" b="1" spc="200">
                <a:solidFill>
                  <a:srgbClr val="74C69D"/>
                </a:solidFill>
                <a:latin typeface="Calibri"/>
                <a:ea typeface="Calibri"/>
                <a:cs typeface="Calibri"/>
              </a:rPr>
              <a:t>KONSEP KUNCI</a:t>
            </a:r>
            <a:endParaRPr lang="en-US" sz="1300"/>
          </a:p>
        </p:txBody>
      </p:sp>
      <p:sp>
        <p:nvSpPr>
          <p:cNvPr id="1926899090" name="Text 2"/>
          <p:cNvSpPr/>
          <p:nvPr/>
        </p:nvSpPr>
        <p:spPr bwMode="auto">
          <a:xfrm>
            <a:off x="640080" y="914400"/>
            <a:ext cx="10515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  <a:defRPr/>
            </a:pPr>
            <a:r>
              <a:rPr lang="en-US" sz="27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Mengapa Disebut “Analisis Ragam”</a:t>
            </a:r>
            <a:endParaRPr lang="en-US" sz="2700"/>
          </a:p>
          <a:p>
            <a:pPr marL="0" indent="0">
              <a:lnSpc>
                <a:spcPct val="110000"/>
              </a:lnSpc>
              <a:buNone/>
              <a:defRPr/>
            </a:pPr>
            <a:r>
              <a:rPr lang="en-US" sz="27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Padahal Menguji Rata-rata?</a:t>
            </a:r>
            <a:endParaRPr lang="en-US" sz="2700"/>
          </a:p>
        </p:txBody>
      </p:sp>
      <p:sp>
        <p:nvSpPr>
          <p:cNvPr id="1467237494" name="Text 3"/>
          <p:cNvSpPr/>
          <p:nvPr/>
        </p:nvSpPr>
        <p:spPr bwMode="auto">
          <a:xfrm>
            <a:off x="640080" y="233172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500">
                <a:solidFill>
                  <a:srgbClr val="E4F1E9"/>
                </a:solidFill>
                <a:latin typeface="Calibri"/>
                <a:ea typeface="Calibri"/>
                <a:cs typeface="Calibri"/>
              </a:rPr>
              <a:t>ANOVA menguji perbedaan rata-rata antar kelompok, namun caranya adalah membandingkan DUA SUMBER RAGAM (variance):</a:t>
            </a:r>
            <a:endParaRPr lang="en-US" sz="1500"/>
          </a:p>
        </p:txBody>
      </p:sp>
      <p:sp>
        <p:nvSpPr>
          <p:cNvPr id="1829201874" name="Shape 4"/>
          <p:cNvSpPr/>
          <p:nvPr/>
        </p:nvSpPr>
        <p:spPr bwMode="auto">
          <a:xfrm>
            <a:off x="640080" y="3063240"/>
            <a:ext cx="5074920" cy="2331720"/>
          </a:xfrm>
          <a:prstGeom prst="roundRect">
            <a:avLst>
              <a:gd name="adj" fmla="val 3922"/>
            </a:avLst>
          </a:prstGeom>
          <a:solidFill>
            <a:srgbClr val="2D6A4F"/>
          </a:solidFill>
          <a:ln/>
        </p:spPr>
      </p:sp>
      <p:sp>
        <p:nvSpPr>
          <p:cNvPr id="102937924" name="Text 5"/>
          <p:cNvSpPr/>
          <p:nvPr/>
        </p:nvSpPr>
        <p:spPr bwMode="auto">
          <a:xfrm>
            <a:off x="914400" y="32918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6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Ragam Antar Kelompok</a:t>
            </a:r>
            <a:endParaRPr lang="en-US" sz="1600"/>
          </a:p>
        </p:txBody>
      </p:sp>
      <p:sp>
        <p:nvSpPr>
          <p:cNvPr id="1676098092" name="Text 6"/>
          <p:cNvSpPr/>
          <p:nvPr/>
        </p:nvSpPr>
        <p:spPr bwMode="auto">
          <a:xfrm>
            <a:off x="914400" y="3749040"/>
            <a:ext cx="4572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  <a:defRPr/>
            </a:pPr>
            <a:r>
              <a:rPr lang="en-US" sz="1300">
                <a:solidFill>
                  <a:srgbClr val="E4F1E9"/>
                </a:solidFill>
                <a:latin typeface="Calibri"/>
                <a:ea typeface="Calibri"/>
                <a:cs typeface="Calibri"/>
              </a:rPr>
              <a:t>Mencerminkan seberapa jauh rata-rata tiap perlakuan menyebar satu sama lain.</a:t>
            </a:r>
            <a:endParaRPr lang="en-US" sz="1300"/>
          </a:p>
        </p:txBody>
      </p:sp>
      <p:sp>
        <p:nvSpPr>
          <p:cNvPr id="1178249399" name="Shape 7"/>
          <p:cNvSpPr/>
          <p:nvPr/>
        </p:nvSpPr>
        <p:spPr bwMode="auto">
          <a:xfrm>
            <a:off x="6492240" y="3063240"/>
            <a:ext cx="5074920" cy="2331720"/>
          </a:xfrm>
          <a:prstGeom prst="roundRect">
            <a:avLst>
              <a:gd name="adj" fmla="val 3922"/>
            </a:avLst>
          </a:prstGeom>
          <a:solidFill>
            <a:srgbClr val="163A2C"/>
          </a:solidFill>
          <a:ln w="12700">
            <a:solidFill>
              <a:srgbClr val="74C69D"/>
            </a:solidFill>
            <a:prstDash val="solid"/>
          </a:ln>
        </p:spPr>
      </p:sp>
      <p:sp>
        <p:nvSpPr>
          <p:cNvPr id="229156427" name="Text 8"/>
          <p:cNvSpPr/>
          <p:nvPr/>
        </p:nvSpPr>
        <p:spPr bwMode="auto">
          <a:xfrm>
            <a:off x="6766560" y="32918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6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Ragam di Dalam Kelompok</a:t>
            </a:r>
            <a:endParaRPr lang="en-US" sz="1600"/>
          </a:p>
        </p:txBody>
      </p:sp>
      <p:sp>
        <p:nvSpPr>
          <p:cNvPr id="502483327" name="Text 9"/>
          <p:cNvSpPr/>
          <p:nvPr/>
        </p:nvSpPr>
        <p:spPr bwMode="auto">
          <a:xfrm>
            <a:off x="6766560" y="3749040"/>
            <a:ext cx="4572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  <a:defRPr/>
            </a:pPr>
            <a:r>
              <a:rPr lang="en-US" sz="1300">
                <a:solidFill>
                  <a:srgbClr val="E4F1E9"/>
                </a:solidFill>
                <a:latin typeface="Calibri"/>
                <a:ea typeface="Calibri"/>
                <a:cs typeface="Calibri"/>
              </a:rPr>
              <a:t>Mencerminkan keragaman alami / galat pada tiap individu di dalam satu perlakuan.</a:t>
            </a:r>
            <a:endParaRPr lang="en-US" sz="1300"/>
          </a:p>
        </p:txBody>
      </p:sp>
      <p:sp>
        <p:nvSpPr>
          <p:cNvPr id="253406452" name="Text 10"/>
          <p:cNvSpPr/>
          <p:nvPr/>
        </p:nvSpPr>
        <p:spPr bwMode="auto">
          <a:xfrm>
            <a:off x="640080" y="5577840"/>
            <a:ext cx="10881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300" i="1">
                <a:solidFill>
                  <a:srgbClr val="74C69D"/>
                </a:solidFill>
                <a:latin typeface="Calibri"/>
                <a:ea typeface="Calibri"/>
                <a:cs typeface="Calibri"/>
              </a:rPr>
              <a:t>Jika ragam ANTAR kelompok jauh lebih besar daripada ragam DI DALAM kelompok → perbedaan rata-rata kemungkinan besar bukan kebetulan, melainkan pengaruh perlakuan.</a:t>
            </a:r>
            <a:endParaRPr lang="en-US" sz="1300"/>
          </a:p>
        </p:txBody>
      </p:sp>
      <p:sp>
        <p:nvSpPr>
          <p:cNvPr id="1050278141" name="Text 11"/>
          <p:cNvSpPr/>
          <p:nvPr/>
        </p:nvSpPr>
        <p:spPr bwMode="auto"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  <a:defRPr/>
            </a:pPr>
            <a:r>
              <a:rPr lang="en-US" sz="900">
                <a:solidFill>
                  <a:srgbClr val="B7CFC2"/>
                </a:solidFill>
                <a:latin typeface="Calibri"/>
                <a:ea typeface="Calibri"/>
                <a:cs typeface="Calibri"/>
              </a:rPr>
              <a:t>RAL &amp; ANOVA Satu Arah — Biostatistika untuk Biologi</a:t>
            </a:r>
            <a:endParaRPr lang="en-US" sz="900"/>
          </a:p>
        </p:txBody>
      </p:sp>
      <p:sp>
        <p:nvSpPr>
          <p:cNvPr id="443665156" name="Text 12"/>
          <p:cNvSpPr/>
          <p:nvPr/>
        </p:nvSpPr>
        <p:spPr bwMode="auto"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  <a:defRPr/>
            </a:pPr>
            <a:r>
              <a:rPr lang="en-US" sz="900">
                <a:solidFill>
                  <a:srgbClr val="B7CFC2"/>
                </a:solidFill>
                <a:latin typeface="Calibri"/>
                <a:ea typeface="Calibri"/>
                <a:cs typeface="Calibri"/>
              </a:rPr>
              <a:t>4</a:t>
            </a:r>
            <a:endParaRPr lang="en-US" sz="9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5">
    <p:bg>
      <p:bgPr shadeToTitle="0">
        <a:solidFill>
          <a:srgbClr val="F7FAF7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18239753" name="Text 0"/>
          <p:cNvSpPr/>
          <p:nvPr/>
        </p:nvSpPr>
        <p:spPr bwMode="auto"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200" b="1" spc="200">
                <a:solidFill>
                  <a:srgbClr val="2D6A4F"/>
                </a:solidFill>
                <a:latin typeface="Calibri"/>
                <a:ea typeface="Calibri"/>
                <a:cs typeface="Calibri"/>
              </a:rPr>
              <a:t>1.3 · DASAR TEORI</a:t>
            </a:r>
            <a:endParaRPr lang="en-US" sz="1200"/>
          </a:p>
        </p:txBody>
      </p:sp>
      <p:sp>
        <p:nvSpPr>
          <p:cNvPr id="1546207718" name="Text 1"/>
          <p:cNvSpPr/>
          <p:nvPr/>
        </p:nvSpPr>
        <p:spPr bwMode="auto">
          <a:xfrm>
            <a:off x="548640" y="658368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3000" b="1">
                <a:solidFill>
                  <a:srgbClr val="1B4332"/>
                </a:solidFill>
                <a:latin typeface="Cambria"/>
                <a:ea typeface="Cambria"/>
                <a:cs typeface="Cambria"/>
              </a:rPr>
              <a:t>Model Linear Aditif RAL</a:t>
            </a:r>
            <a:endParaRPr lang="en-US" sz="3000"/>
          </a:p>
        </p:txBody>
      </p:sp>
      <p:sp>
        <p:nvSpPr>
          <p:cNvPr id="2032120365" name="Shape 2"/>
          <p:cNvSpPr/>
          <p:nvPr/>
        </p:nvSpPr>
        <p:spPr bwMode="auto">
          <a:xfrm>
            <a:off x="548640" y="1737360"/>
            <a:ext cx="11064240" cy="1143000"/>
          </a:xfrm>
          <a:prstGeom prst="roundRect">
            <a:avLst>
              <a:gd name="adj" fmla="val 6400"/>
            </a:avLst>
          </a:prstGeom>
          <a:solidFill>
            <a:srgbClr val="1B4332"/>
          </a:solidFill>
          <a:ln/>
        </p:spPr>
      </p:sp>
      <p:sp>
        <p:nvSpPr>
          <p:cNvPr id="735991019" name="Text 3"/>
          <p:cNvSpPr/>
          <p:nvPr/>
        </p:nvSpPr>
        <p:spPr bwMode="auto">
          <a:xfrm>
            <a:off x="822960" y="1874520"/>
            <a:ext cx="58521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3000" b="1" i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Y</a:t>
            </a:r>
            <a:r>
              <a:rPr lang="en-US" sz="3000" b="1" i="1" baseline="-25000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ij</a:t>
            </a:r>
            <a:r>
              <a:rPr lang="en-US" sz="3000" b="1" i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  =  μ  +  τ</a:t>
            </a:r>
            <a:r>
              <a:rPr lang="en-US" sz="3000" b="1" i="1" baseline="-25000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i</a:t>
            </a:r>
            <a:r>
              <a:rPr lang="en-US" sz="3000" b="1" i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  +  ε</a:t>
            </a:r>
            <a:r>
              <a:rPr lang="en-US" sz="3000" b="1" i="1" baseline="-25000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ij</a:t>
            </a:r>
            <a:endParaRPr lang="en-US" sz="3000"/>
          </a:p>
        </p:txBody>
      </p:sp>
      <p:sp>
        <p:nvSpPr>
          <p:cNvPr id="56810227" name="Text 4"/>
          <p:cNvSpPr/>
          <p:nvPr/>
        </p:nvSpPr>
        <p:spPr bwMode="auto">
          <a:xfrm>
            <a:off x="6766560" y="1874520"/>
            <a:ext cx="46634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250" i="1">
                <a:solidFill>
                  <a:srgbClr val="D8F3DC"/>
                </a:solidFill>
                <a:latin typeface="Calibri"/>
                <a:ea typeface="Calibri"/>
                <a:cs typeface="Calibri"/>
              </a:rPr>
              <a:t>Nilai pengamatan = rataan umum + pengaruh perlakuan + galat percobaan</a:t>
            </a:r>
            <a:endParaRPr lang="en-US" sz="1250"/>
          </a:p>
        </p:txBody>
      </p:sp>
      <p:sp>
        <p:nvSpPr>
          <p:cNvPr id="1432416750" name="Shape 5"/>
          <p:cNvSpPr/>
          <p:nvPr/>
        </p:nvSpPr>
        <p:spPr bwMode="auto">
          <a:xfrm>
            <a:off x="548640" y="3200400"/>
            <a:ext cx="5349240" cy="685800"/>
          </a:xfrm>
          <a:prstGeom prst="roundRect">
            <a:avLst>
              <a:gd name="adj" fmla="val 8000"/>
            </a:avLst>
          </a:prstGeom>
          <a:solidFill>
            <a:srgbClr val="D8F3DC"/>
          </a:solidFill>
          <a:ln/>
        </p:spPr>
      </p:sp>
      <p:sp>
        <p:nvSpPr>
          <p:cNvPr id="1979551169" name="Text 6"/>
          <p:cNvSpPr/>
          <p:nvPr/>
        </p:nvSpPr>
        <p:spPr bwMode="auto">
          <a:xfrm>
            <a:off x="685800" y="3200400"/>
            <a:ext cx="914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700" b="1" i="1">
                <a:solidFill>
                  <a:srgbClr val="1B4332"/>
                </a:solidFill>
                <a:latin typeface="Cambria"/>
                <a:ea typeface="Cambria"/>
                <a:cs typeface="Cambria"/>
              </a:rPr>
              <a:t>Yᵢⱼ</a:t>
            </a:r>
            <a:endParaRPr lang="en-US" sz="1700"/>
          </a:p>
        </p:txBody>
      </p:sp>
      <p:sp>
        <p:nvSpPr>
          <p:cNvPr id="769748735" name="Text 7"/>
          <p:cNvSpPr/>
          <p:nvPr/>
        </p:nvSpPr>
        <p:spPr bwMode="auto">
          <a:xfrm>
            <a:off x="1645920" y="3200400"/>
            <a:ext cx="4114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150">
                <a:solidFill>
                  <a:srgbClr val="1B2A22"/>
                </a:solidFill>
                <a:latin typeface="Calibri"/>
                <a:ea typeface="Calibri"/>
                <a:cs typeface="Calibri"/>
              </a:rPr>
              <a:t>Nilai pengamatan pada perlakuan ke-i, ulangan ke-j</a:t>
            </a:r>
            <a:endParaRPr lang="en-US" sz="1150"/>
          </a:p>
        </p:txBody>
      </p:sp>
      <p:sp>
        <p:nvSpPr>
          <p:cNvPr id="1962725380" name="Shape 8"/>
          <p:cNvSpPr/>
          <p:nvPr/>
        </p:nvSpPr>
        <p:spPr bwMode="auto">
          <a:xfrm>
            <a:off x="6172200" y="3200400"/>
            <a:ext cx="5349240" cy="685800"/>
          </a:xfrm>
          <a:prstGeom prst="roundRect">
            <a:avLst>
              <a:gd name="adj" fmla="val 8000"/>
            </a:avLst>
          </a:prstGeom>
          <a:solidFill>
            <a:srgbClr val="D8F3DC"/>
          </a:solidFill>
          <a:ln/>
        </p:spPr>
      </p:sp>
      <p:sp>
        <p:nvSpPr>
          <p:cNvPr id="401565614" name="Text 9"/>
          <p:cNvSpPr/>
          <p:nvPr/>
        </p:nvSpPr>
        <p:spPr bwMode="auto">
          <a:xfrm>
            <a:off x="6309360" y="3200400"/>
            <a:ext cx="914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700" b="1" i="1">
                <a:solidFill>
                  <a:srgbClr val="1B4332"/>
                </a:solidFill>
                <a:latin typeface="Cambria"/>
                <a:ea typeface="Cambria"/>
                <a:cs typeface="Cambria"/>
              </a:rPr>
              <a:t>μ</a:t>
            </a:r>
            <a:endParaRPr lang="en-US" sz="1700"/>
          </a:p>
        </p:txBody>
      </p:sp>
      <p:sp>
        <p:nvSpPr>
          <p:cNvPr id="813542531" name="Text 10"/>
          <p:cNvSpPr/>
          <p:nvPr/>
        </p:nvSpPr>
        <p:spPr bwMode="auto">
          <a:xfrm>
            <a:off x="7269480" y="3200400"/>
            <a:ext cx="4114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150">
                <a:solidFill>
                  <a:srgbClr val="1B2A22"/>
                </a:solidFill>
                <a:latin typeface="Calibri"/>
                <a:ea typeface="Calibri"/>
                <a:cs typeface="Calibri"/>
              </a:rPr>
              <a:t>Rataan umum populasi</a:t>
            </a:r>
            <a:endParaRPr lang="en-US" sz="1150"/>
          </a:p>
        </p:txBody>
      </p:sp>
      <p:sp>
        <p:nvSpPr>
          <p:cNvPr id="1893449293" name="Shape 11"/>
          <p:cNvSpPr/>
          <p:nvPr/>
        </p:nvSpPr>
        <p:spPr bwMode="auto">
          <a:xfrm>
            <a:off x="548640" y="4069080"/>
            <a:ext cx="5349240" cy="685800"/>
          </a:xfrm>
          <a:prstGeom prst="roundRect">
            <a:avLst>
              <a:gd name="adj" fmla="val 8000"/>
            </a:avLst>
          </a:prstGeom>
          <a:solidFill>
            <a:srgbClr val="D8F3DC"/>
          </a:solidFill>
          <a:ln/>
        </p:spPr>
      </p:sp>
      <p:sp>
        <p:nvSpPr>
          <p:cNvPr id="831908740" name="Text 12"/>
          <p:cNvSpPr/>
          <p:nvPr/>
        </p:nvSpPr>
        <p:spPr bwMode="auto">
          <a:xfrm>
            <a:off x="685800" y="4069080"/>
            <a:ext cx="914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700" b="1" i="1">
                <a:solidFill>
                  <a:srgbClr val="1B4332"/>
                </a:solidFill>
                <a:latin typeface="Cambria"/>
                <a:ea typeface="Cambria"/>
                <a:cs typeface="Cambria"/>
              </a:rPr>
              <a:t>τᵢ</a:t>
            </a:r>
            <a:endParaRPr lang="en-US" sz="1700"/>
          </a:p>
        </p:txBody>
      </p:sp>
      <p:sp>
        <p:nvSpPr>
          <p:cNvPr id="931561408" name="Text 13"/>
          <p:cNvSpPr/>
          <p:nvPr/>
        </p:nvSpPr>
        <p:spPr bwMode="auto">
          <a:xfrm>
            <a:off x="1645920" y="4069080"/>
            <a:ext cx="4114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150">
                <a:solidFill>
                  <a:srgbClr val="1B2A22"/>
                </a:solidFill>
                <a:latin typeface="Calibri"/>
                <a:ea typeface="Calibri"/>
                <a:cs typeface="Calibri"/>
              </a:rPr>
              <a:t>Pengaruh perlakuan ke-i (i = 1, 2, ..., t)</a:t>
            </a:r>
            <a:endParaRPr lang="en-US" sz="1150"/>
          </a:p>
        </p:txBody>
      </p:sp>
      <p:sp>
        <p:nvSpPr>
          <p:cNvPr id="72337775" name="Shape 14"/>
          <p:cNvSpPr/>
          <p:nvPr/>
        </p:nvSpPr>
        <p:spPr bwMode="auto">
          <a:xfrm>
            <a:off x="6172200" y="4069080"/>
            <a:ext cx="5349240" cy="685800"/>
          </a:xfrm>
          <a:prstGeom prst="roundRect">
            <a:avLst>
              <a:gd name="adj" fmla="val 8000"/>
            </a:avLst>
          </a:prstGeom>
          <a:solidFill>
            <a:srgbClr val="D8F3DC"/>
          </a:solidFill>
          <a:ln/>
        </p:spPr>
      </p:sp>
      <p:sp>
        <p:nvSpPr>
          <p:cNvPr id="687685319" name="Text 15"/>
          <p:cNvSpPr/>
          <p:nvPr/>
        </p:nvSpPr>
        <p:spPr bwMode="auto">
          <a:xfrm>
            <a:off x="6309360" y="4069080"/>
            <a:ext cx="914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700" b="1" i="1">
                <a:solidFill>
                  <a:srgbClr val="1B4332"/>
                </a:solidFill>
                <a:latin typeface="Cambria"/>
                <a:ea typeface="Cambria"/>
                <a:cs typeface="Cambria"/>
              </a:rPr>
              <a:t>εᵢⱼ</a:t>
            </a:r>
            <a:endParaRPr lang="en-US" sz="1700"/>
          </a:p>
        </p:txBody>
      </p:sp>
      <p:sp>
        <p:nvSpPr>
          <p:cNvPr id="694846970" name="Text 16"/>
          <p:cNvSpPr/>
          <p:nvPr/>
        </p:nvSpPr>
        <p:spPr bwMode="auto">
          <a:xfrm>
            <a:off x="7269480" y="4069080"/>
            <a:ext cx="4114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150">
                <a:solidFill>
                  <a:srgbClr val="1B2A22"/>
                </a:solidFill>
                <a:latin typeface="Calibri"/>
                <a:ea typeface="Calibri"/>
                <a:cs typeface="Calibri"/>
              </a:rPr>
              <a:t>Galat percobaan, εᵢⱼ ~ N(0, σ²)</a:t>
            </a:r>
            <a:endParaRPr lang="en-US" sz="1150"/>
          </a:p>
        </p:txBody>
      </p:sp>
      <p:sp>
        <p:nvSpPr>
          <p:cNvPr id="1662193066" name="Text 17"/>
          <p:cNvSpPr/>
          <p:nvPr/>
        </p:nvSpPr>
        <p:spPr bwMode="auto">
          <a:xfrm>
            <a:off x="548640" y="50749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450" b="1">
                <a:solidFill>
                  <a:srgbClr val="1B4332"/>
                </a:solidFill>
                <a:latin typeface="Cambria"/>
                <a:ea typeface="Cambria"/>
                <a:cs typeface="Cambria"/>
              </a:rPr>
              <a:t>Hipotesis yang Diuji</a:t>
            </a:r>
            <a:endParaRPr lang="en-US" sz="1450"/>
          </a:p>
        </p:txBody>
      </p:sp>
      <p:sp>
        <p:nvSpPr>
          <p:cNvPr id="873020316" name="Text 18"/>
          <p:cNvSpPr/>
          <p:nvPr/>
        </p:nvSpPr>
        <p:spPr bwMode="auto">
          <a:xfrm>
            <a:off x="548640" y="5394960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  <a:defRPr/>
            </a:pPr>
            <a:r>
              <a:rPr lang="en-US" sz="1350" b="1">
                <a:solidFill>
                  <a:srgbClr val="2D6A4F"/>
                </a:solidFill>
                <a:latin typeface="Calibri"/>
                <a:ea typeface="Calibri"/>
                <a:cs typeface="Calibri"/>
              </a:rPr>
              <a:t>H₀:  </a:t>
            </a:r>
            <a:r>
              <a:rPr lang="en-US" sz="1350">
                <a:solidFill>
                  <a:srgbClr val="1B2A22"/>
                </a:solidFill>
                <a:latin typeface="Calibri"/>
                <a:ea typeface="Calibri"/>
                <a:cs typeface="Calibri"/>
              </a:rPr>
              <a:t>τ₁ = τ₂ = ... = τₜ = 0   (tidak ada pengaruh perlakuan)</a:t>
            </a:r>
            <a:br>
              <a:rPr lang="en-US" sz="1350">
                <a:solidFill>
                  <a:srgbClr val="1B2A22"/>
                </a:solidFill>
                <a:latin typeface="Calibri"/>
                <a:ea typeface="Calibri"/>
                <a:cs typeface="Calibri"/>
              </a:rPr>
            </a:br>
            <a:r>
              <a:rPr lang="en-US" sz="1350" b="1">
                <a:solidFill>
                  <a:srgbClr val="E07A5F"/>
                </a:solidFill>
                <a:latin typeface="Calibri"/>
                <a:ea typeface="Calibri"/>
                <a:cs typeface="Calibri"/>
              </a:rPr>
              <a:t>H₁:  </a:t>
            </a:r>
            <a:r>
              <a:rPr lang="en-US" sz="1350">
                <a:solidFill>
                  <a:srgbClr val="1B2A22"/>
                </a:solidFill>
                <a:latin typeface="Calibri"/>
                <a:ea typeface="Calibri"/>
                <a:cs typeface="Calibri"/>
              </a:rPr>
              <a:t>minimal ada satu τᵢ ≠ 0</a:t>
            </a:r>
            <a:endParaRPr lang="en-US" sz="1350"/>
          </a:p>
        </p:txBody>
      </p:sp>
      <p:sp>
        <p:nvSpPr>
          <p:cNvPr id="447679881" name="Text 19"/>
          <p:cNvSpPr/>
          <p:nvPr/>
        </p:nvSpPr>
        <p:spPr bwMode="auto"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  <a:defRPr/>
            </a:pPr>
            <a:r>
              <a:rPr lang="en-US" sz="900">
                <a:solidFill>
                  <a:srgbClr val="5C6B63"/>
                </a:solidFill>
                <a:latin typeface="Calibri"/>
                <a:ea typeface="Calibri"/>
                <a:cs typeface="Calibri"/>
              </a:rPr>
              <a:t>RAL &amp; ANOVA Satu Arah — Biostatistika untuk Biologi</a:t>
            </a:r>
            <a:endParaRPr lang="en-US" sz="900"/>
          </a:p>
        </p:txBody>
      </p:sp>
      <p:sp>
        <p:nvSpPr>
          <p:cNvPr id="1628164844" name="Text 20"/>
          <p:cNvSpPr/>
          <p:nvPr/>
        </p:nvSpPr>
        <p:spPr bwMode="auto"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  <a:defRPr/>
            </a:pPr>
            <a:r>
              <a:rPr lang="en-US" sz="900">
                <a:solidFill>
                  <a:srgbClr val="5C6B63"/>
                </a:solidFill>
                <a:latin typeface="Calibri"/>
                <a:ea typeface="Calibri"/>
                <a:cs typeface="Calibri"/>
              </a:rPr>
              <a:t>5</a:t>
            </a:r>
            <a:endParaRPr lang="en-US" sz="9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6">
    <p:bg>
      <p:bgPr shadeToTitle="0">
        <a:solidFill>
          <a:srgbClr val="F7FAF7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96825760" name="Text 0"/>
          <p:cNvSpPr/>
          <p:nvPr/>
        </p:nvSpPr>
        <p:spPr bwMode="auto"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200" b="1" spc="200">
                <a:solidFill>
                  <a:srgbClr val="2D6A4F"/>
                </a:solidFill>
                <a:latin typeface="Calibri"/>
                <a:ea typeface="Calibri"/>
                <a:cs typeface="Calibri"/>
              </a:rPr>
              <a:t>1.4 · CONTOH KASUS</a:t>
            </a:r>
            <a:endParaRPr lang="en-US" sz="1200"/>
          </a:p>
        </p:txBody>
      </p:sp>
      <p:sp>
        <p:nvSpPr>
          <p:cNvPr id="175440186" name="Text 1"/>
          <p:cNvSpPr/>
          <p:nvPr/>
        </p:nvSpPr>
        <p:spPr bwMode="auto">
          <a:xfrm>
            <a:off x="548640" y="658368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3000" b="1">
                <a:solidFill>
                  <a:srgbClr val="1B4332"/>
                </a:solidFill>
                <a:latin typeface="Cambria"/>
                <a:ea typeface="Cambria"/>
                <a:cs typeface="Cambria"/>
              </a:rPr>
              <a:t>Pengaruh Pupuk Organik pada Bibit Kangkung</a:t>
            </a:r>
            <a:endParaRPr lang="en-US" sz="3000"/>
          </a:p>
        </p:txBody>
      </p:sp>
      <p:sp>
        <p:nvSpPr>
          <p:cNvPr id="322177835" name="Shape 2"/>
          <p:cNvSpPr/>
          <p:nvPr/>
        </p:nvSpPr>
        <p:spPr bwMode="auto">
          <a:xfrm>
            <a:off x="548640" y="1783080"/>
            <a:ext cx="777240" cy="777240"/>
          </a:xfrm>
          <a:prstGeom prst="ellipse">
            <a:avLst/>
          </a:prstGeom>
          <a:solidFill>
            <a:srgbClr val="2D6A4F"/>
          </a:solidFill>
          <a:ln/>
        </p:spPr>
      </p:sp>
      <p:pic>
        <p:nvPicPr>
          <p:cNvPr id="589965599" name="Image 0" descr="leaf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649681" y="1884121"/>
            <a:ext cx="575158" cy="575158"/>
          </a:xfrm>
          <a:prstGeom prst="rect">
            <a:avLst/>
          </a:prstGeom>
        </p:spPr>
      </p:pic>
      <p:sp>
        <p:nvSpPr>
          <p:cNvPr id="652328697" name="Text 3"/>
          <p:cNvSpPr/>
          <p:nvPr/>
        </p:nvSpPr>
        <p:spPr bwMode="auto">
          <a:xfrm>
            <a:off x="1600200" y="1783080"/>
            <a:ext cx="9966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  <a:defRPr/>
            </a:pPr>
            <a:r>
              <a:rPr lang="en-US" sz="1500">
                <a:solidFill>
                  <a:srgbClr val="1B2A22"/>
                </a:solidFill>
                <a:latin typeface="Calibri"/>
                <a:ea typeface="Calibri"/>
                <a:cs typeface="Calibri"/>
              </a:rPr>
              <a:t>Seorang mahasiswa biologi ingin menguji pengaruh </a:t>
            </a:r>
            <a:r>
              <a:rPr lang="en-US" sz="1500" b="1">
                <a:solidFill>
                  <a:srgbClr val="1B4332"/>
                </a:solidFill>
                <a:latin typeface="Calibri"/>
                <a:ea typeface="Calibri"/>
                <a:cs typeface="Calibri"/>
              </a:rPr>
              <a:t>tiga jenis pupuk organik</a:t>
            </a:r>
            <a:r>
              <a:rPr lang="en-US" sz="1500">
                <a:solidFill>
                  <a:srgbClr val="1B2A22"/>
                </a:solidFill>
                <a:latin typeface="Calibri"/>
                <a:ea typeface="Calibri"/>
                <a:cs typeface="Calibri"/>
              </a:rPr>
              <a:t> (Kontrol, Kompos, Pupuk Kandang) terhadap </a:t>
            </a:r>
            <a:r>
              <a:rPr lang="en-US" sz="1500" b="1">
                <a:solidFill>
                  <a:srgbClr val="1B4332"/>
                </a:solidFill>
                <a:latin typeface="Calibri"/>
                <a:ea typeface="Calibri"/>
                <a:cs typeface="Calibri"/>
              </a:rPr>
              <a:t>tinggi bibit kangkung</a:t>
            </a:r>
            <a:r>
              <a:rPr lang="en-US" sz="1500">
                <a:solidFill>
                  <a:srgbClr val="1B2A22"/>
                </a:solidFill>
                <a:latin typeface="Calibri"/>
                <a:ea typeface="Calibri"/>
                <a:cs typeface="Calibri"/>
              </a:rPr>
              <a:t> (</a:t>
            </a:r>
            <a:r>
              <a:rPr lang="en-US" sz="1500" i="1">
                <a:solidFill>
                  <a:srgbClr val="1B2A22"/>
                </a:solidFill>
                <a:latin typeface="Calibri"/>
                <a:ea typeface="Calibri"/>
                <a:cs typeface="Calibri"/>
              </a:rPr>
              <a:t>Ipomoea aquatica</a:t>
            </a:r>
            <a:r>
              <a:rPr lang="en-US" sz="1500">
                <a:solidFill>
                  <a:srgbClr val="1B2A22"/>
                </a:solidFill>
                <a:latin typeface="Calibri"/>
                <a:ea typeface="Calibri"/>
                <a:cs typeface="Calibri"/>
              </a:rPr>
              <a:t>) berumur 21 hari.</a:t>
            </a:r>
            <a:endParaRPr lang="en-US" sz="1500"/>
          </a:p>
        </p:txBody>
      </p:sp>
      <p:sp>
        <p:nvSpPr>
          <p:cNvPr id="384314011" name="Text 4"/>
          <p:cNvSpPr/>
          <p:nvPr/>
        </p:nvSpPr>
        <p:spPr bwMode="auto">
          <a:xfrm>
            <a:off x="548640" y="2788920"/>
            <a:ext cx="64008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  <a:defRPr/>
            </a:pPr>
            <a:r>
              <a:rPr lang="en-US" sz="1300">
                <a:solidFill>
                  <a:srgbClr val="1B2A22"/>
                </a:solidFill>
                <a:latin typeface="Calibri"/>
                <a:ea typeface="Calibri"/>
                <a:cs typeface="Calibri"/>
              </a:rPr>
              <a:t>30 polybag berisi media tanam seragam diletakkan berdampingan di satu meja rumah kaca yang menerima intensitas cahaya dan suhu relatif sama — sehingga tidak ada sumber keragaman terkontrol yang perlu dipisahkan lebih dahulu. Inilah ciri khas kasus yang sesuai dianalisis dengan RAL.</a:t>
            </a:r>
            <a:endParaRPr lang="en-US" sz="1300"/>
          </a:p>
        </p:txBody>
      </p:sp>
      <p:sp>
        <p:nvSpPr>
          <p:cNvPr id="1635542032" name="Shape 5"/>
          <p:cNvSpPr/>
          <p:nvPr/>
        </p:nvSpPr>
        <p:spPr bwMode="auto">
          <a:xfrm>
            <a:off x="548640" y="4526280"/>
            <a:ext cx="2011680" cy="1234440"/>
          </a:xfrm>
          <a:prstGeom prst="roundRect">
            <a:avLst>
              <a:gd name="adj" fmla="val 5926"/>
            </a:avLst>
          </a:prstGeom>
          <a:solidFill>
            <a:srgbClr val="1B4332"/>
          </a:solidFill>
          <a:ln/>
        </p:spPr>
      </p:sp>
      <p:sp>
        <p:nvSpPr>
          <p:cNvPr id="2022417165" name="Text 6"/>
          <p:cNvSpPr/>
          <p:nvPr/>
        </p:nvSpPr>
        <p:spPr bwMode="auto">
          <a:xfrm>
            <a:off x="548640" y="4590288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3400" b="1">
                <a:solidFill>
                  <a:srgbClr val="74C69D"/>
                </a:solidFill>
                <a:latin typeface="Cambria"/>
                <a:ea typeface="Cambria"/>
                <a:cs typeface="Cambria"/>
              </a:rPr>
              <a:t>30</a:t>
            </a:r>
            <a:endParaRPr lang="en-US" sz="3400"/>
          </a:p>
        </p:txBody>
      </p:sp>
      <p:sp>
        <p:nvSpPr>
          <p:cNvPr id="847533214" name="Text 7"/>
          <p:cNvSpPr/>
          <p:nvPr/>
        </p:nvSpPr>
        <p:spPr bwMode="auto">
          <a:xfrm>
            <a:off x="640080" y="525780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05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Polybag (unit percobaan)</a:t>
            </a:r>
            <a:endParaRPr lang="en-US" sz="1050"/>
          </a:p>
        </p:txBody>
      </p:sp>
      <p:sp>
        <p:nvSpPr>
          <p:cNvPr id="817106241" name="Shape 8"/>
          <p:cNvSpPr/>
          <p:nvPr/>
        </p:nvSpPr>
        <p:spPr bwMode="auto">
          <a:xfrm>
            <a:off x="2788920" y="4526280"/>
            <a:ext cx="2011680" cy="1234440"/>
          </a:xfrm>
          <a:prstGeom prst="roundRect">
            <a:avLst>
              <a:gd name="adj" fmla="val 5926"/>
            </a:avLst>
          </a:prstGeom>
          <a:solidFill>
            <a:srgbClr val="1B4332"/>
          </a:solidFill>
          <a:ln/>
        </p:spPr>
      </p:sp>
      <p:sp>
        <p:nvSpPr>
          <p:cNvPr id="325270073" name="Text 9"/>
          <p:cNvSpPr/>
          <p:nvPr/>
        </p:nvSpPr>
        <p:spPr bwMode="auto">
          <a:xfrm>
            <a:off x="2788920" y="4590288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3400" b="1">
                <a:solidFill>
                  <a:srgbClr val="74C69D"/>
                </a:solidFill>
                <a:latin typeface="Cambria"/>
                <a:ea typeface="Cambria"/>
                <a:cs typeface="Cambria"/>
              </a:rPr>
              <a:t>3</a:t>
            </a:r>
            <a:endParaRPr lang="en-US" sz="3400"/>
          </a:p>
        </p:txBody>
      </p:sp>
      <p:sp>
        <p:nvSpPr>
          <p:cNvPr id="1837660246" name="Text 10"/>
          <p:cNvSpPr/>
          <p:nvPr/>
        </p:nvSpPr>
        <p:spPr bwMode="auto">
          <a:xfrm>
            <a:off x="2880360" y="525780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05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Jenis pupuk (perlakuan)</a:t>
            </a:r>
            <a:endParaRPr lang="en-US" sz="1050"/>
          </a:p>
        </p:txBody>
      </p:sp>
      <p:sp>
        <p:nvSpPr>
          <p:cNvPr id="566331598" name="Shape 11"/>
          <p:cNvSpPr/>
          <p:nvPr/>
        </p:nvSpPr>
        <p:spPr bwMode="auto">
          <a:xfrm>
            <a:off x="5029200" y="4526280"/>
            <a:ext cx="2011680" cy="1234440"/>
          </a:xfrm>
          <a:prstGeom prst="roundRect">
            <a:avLst>
              <a:gd name="adj" fmla="val 5926"/>
            </a:avLst>
          </a:prstGeom>
          <a:solidFill>
            <a:srgbClr val="1B4332"/>
          </a:solidFill>
          <a:ln/>
        </p:spPr>
      </p:sp>
      <p:sp>
        <p:nvSpPr>
          <p:cNvPr id="1251301608" name="Text 12"/>
          <p:cNvSpPr/>
          <p:nvPr/>
        </p:nvSpPr>
        <p:spPr bwMode="auto">
          <a:xfrm>
            <a:off x="5029200" y="4590288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3400" b="1">
                <a:solidFill>
                  <a:srgbClr val="74C69D"/>
                </a:solidFill>
                <a:latin typeface="Cambria"/>
                <a:ea typeface="Cambria"/>
                <a:cs typeface="Cambria"/>
              </a:rPr>
              <a:t>10</a:t>
            </a:r>
            <a:endParaRPr lang="en-US" sz="3400"/>
          </a:p>
        </p:txBody>
      </p:sp>
      <p:sp>
        <p:nvSpPr>
          <p:cNvPr id="1605995959" name="Text 13"/>
          <p:cNvSpPr/>
          <p:nvPr/>
        </p:nvSpPr>
        <p:spPr bwMode="auto">
          <a:xfrm>
            <a:off x="5120640" y="525780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05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Ulangan per perlakuan</a:t>
            </a:r>
            <a:endParaRPr lang="en-US" sz="1050"/>
          </a:p>
        </p:txBody>
      </p:sp>
      <p:sp>
        <p:nvSpPr>
          <p:cNvPr id="1452551931" name="Shape 14"/>
          <p:cNvSpPr/>
          <p:nvPr/>
        </p:nvSpPr>
        <p:spPr bwMode="auto">
          <a:xfrm>
            <a:off x="7223760" y="2788920"/>
            <a:ext cx="4434840" cy="2971800"/>
          </a:xfrm>
          <a:prstGeom prst="roundRect">
            <a:avLst>
              <a:gd name="adj" fmla="val 3077"/>
            </a:avLst>
          </a:prstGeom>
          <a:solidFill>
            <a:srgbClr val="D8F3DC"/>
          </a:solidFill>
          <a:ln/>
        </p:spPr>
      </p:sp>
      <p:sp>
        <p:nvSpPr>
          <p:cNvPr id="1223877424" name="Text 15"/>
          <p:cNvSpPr/>
          <p:nvPr/>
        </p:nvSpPr>
        <p:spPr bwMode="auto">
          <a:xfrm>
            <a:off x="7498080" y="3017519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200" b="1" spc="100">
                <a:solidFill>
                  <a:srgbClr val="2D6A4F"/>
                </a:solidFill>
                <a:latin typeface="Calibri"/>
                <a:ea typeface="Calibri"/>
                <a:cs typeface="Calibri"/>
              </a:rPr>
              <a:t>Pertanyaan Penelitian</a:t>
            </a:r>
            <a:endParaRPr lang="en-US" sz="1200"/>
          </a:p>
        </p:txBody>
      </p:sp>
      <p:sp>
        <p:nvSpPr>
          <p:cNvPr id="657311624" name="Text 16"/>
          <p:cNvSpPr/>
          <p:nvPr/>
        </p:nvSpPr>
        <p:spPr bwMode="auto">
          <a:xfrm>
            <a:off x="7498080" y="3429000"/>
            <a:ext cx="39319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  <a:defRPr/>
            </a:pPr>
            <a:r>
              <a:rPr lang="en-US" sz="1600" b="1" i="1">
                <a:solidFill>
                  <a:srgbClr val="1B4332"/>
                </a:solidFill>
                <a:latin typeface="Cambria"/>
                <a:ea typeface="Cambria"/>
                <a:cs typeface="Cambria"/>
              </a:rPr>
              <a:t>“Apakah rata-rata tinggi bibit kangkung berbeda signifikan antara ketiga perlakuan pupuk?”</a:t>
            </a:r>
            <a:endParaRPr lang="en-US" sz="1600"/>
          </a:p>
        </p:txBody>
      </p:sp>
      <p:sp>
        <p:nvSpPr>
          <p:cNvPr id="485440770" name="Text 17"/>
          <p:cNvSpPr/>
          <p:nvPr/>
        </p:nvSpPr>
        <p:spPr bwMode="auto">
          <a:xfrm>
            <a:off x="7498080" y="4892039"/>
            <a:ext cx="3931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150" i="1">
                <a:solidFill>
                  <a:srgbClr val="5C6B63"/>
                </a:solidFill>
                <a:latin typeface="Calibri"/>
                <a:ea typeface="Calibri"/>
                <a:cs typeface="Calibri"/>
              </a:rPr>
              <a:t>Dijawab dengan ANOVA satu arah pada model RAL.</a:t>
            </a:r>
            <a:endParaRPr lang="en-US" sz="1150"/>
          </a:p>
        </p:txBody>
      </p:sp>
      <p:sp>
        <p:nvSpPr>
          <p:cNvPr id="27511388" name="Text 18"/>
          <p:cNvSpPr/>
          <p:nvPr/>
        </p:nvSpPr>
        <p:spPr bwMode="auto"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  <a:defRPr/>
            </a:pPr>
            <a:r>
              <a:rPr lang="en-US" sz="900">
                <a:solidFill>
                  <a:srgbClr val="5C6B63"/>
                </a:solidFill>
                <a:latin typeface="Calibri"/>
                <a:ea typeface="Calibri"/>
                <a:cs typeface="Calibri"/>
              </a:rPr>
              <a:t>RAL &amp; ANOVA Satu Arah — Biostatistika untuk Biologi</a:t>
            </a:r>
            <a:endParaRPr lang="en-US" sz="900"/>
          </a:p>
        </p:txBody>
      </p:sp>
      <p:sp>
        <p:nvSpPr>
          <p:cNvPr id="1660078146" name="Text 19"/>
          <p:cNvSpPr/>
          <p:nvPr/>
        </p:nvSpPr>
        <p:spPr bwMode="auto"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  <a:defRPr/>
            </a:pPr>
            <a:r>
              <a:rPr lang="en-US" sz="900">
                <a:solidFill>
                  <a:srgbClr val="5C6B63"/>
                </a:solidFill>
                <a:latin typeface="Calibri"/>
                <a:ea typeface="Calibri"/>
                <a:cs typeface="Calibri"/>
              </a:rPr>
              <a:t>6</a:t>
            </a:r>
            <a:endParaRPr lang="en-US" sz="9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7">
    <p:bg>
      <p:bgPr shadeToTitle="0">
        <a:solidFill>
          <a:srgbClr val="F7FAF7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98002080" name="Text 0"/>
          <p:cNvSpPr/>
          <p:nvPr/>
        </p:nvSpPr>
        <p:spPr bwMode="auto"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200" b="1" spc="200">
                <a:solidFill>
                  <a:srgbClr val="2D6A4F"/>
                </a:solidFill>
                <a:latin typeface="Calibri"/>
                <a:ea typeface="Calibri"/>
                <a:cs typeface="Calibri"/>
              </a:rPr>
              <a:t>1.4 · LANGKAH KERJA DI R</a:t>
            </a:r>
            <a:endParaRPr lang="en-US" sz="1200"/>
          </a:p>
        </p:txBody>
      </p:sp>
      <p:sp>
        <p:nvSpPr>
          <p:cNvPr id="196967782" name="Text 1"/>
          <p:cNvSpPr/>
          <p:nvPr/>
        </p:nvSpPr>
        <p:spPr bwMode="auto">
          <a:xfrm>
            <a:off x="548640" y="658368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3000" b="1">
                <a:solidFill>
                  <a:srgbClr val="1B4332"/>
                </a:solidFill>
                <a:latin typeface="Cambria"/>
                <a:ea typeface="Cambria"/>
                <a:cs typeface="Cambria"/>
              </a:rPr>
              <a:t>Dari Data ke Kesimpulan: 5 Langkah</a:t>
            </a:r>
            <a:endParaRPr lang="en-US" sz="3000"/>
          </a:p>
        </p:txBody>
      </p:sp>
      <p:sp>
        <p:nvSpPr>
          <p:cNvPr id="607807340" name="Shape 2"/>
          <p:cNvSpPr/>
          <p:nvPr/>
        </p:nvSpPr>
        <p:spPr bwMode="auto">
          <a:xfrm>
            <a:off x="548640" y="1965960"/>
            <a:ext cx="2084832" cy="3566160"/>
          </a:xfrm>
          <a:prstGeom prst="roundRect">
            <a:avLst>
              <a:gd name="adj" fmla="val 3947"/>
            </a:avLst>
          </a:prstGeom>
          <a:solidFill>
            <a:srgbClr val="2D6A4F"/>
          </a:solidFill>
          <a:ln/>
        </p:spPr>
      </p:sp>
      <p:sp>
        <p:nvSpPr>
          <p:cNvPr id="1807844531" name="Shape 3"/>
          <p:cNvSpPr/>
          <p:nvPr/>
        </p:nvSpPr>
        <p:spPr bwMode="auto">
          <a:xfrm>
            <a:off x="1298448" y="2221992"/>
            <a:ext cx="585216" cy="585216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726489143" name="Text 4"/>
          <p:cNvSpPr/>
          <p:nvPr/>
        </p:nvSpPr>
        <p:spPr bwMode="auto">
          <a:xfrm>
            <a:off x="1298448" y="2221992"/>
            <a:ext cx="585216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2200" b="1">
                <a:solidFill>
                  <a:srgbClr val="1B4332"/>
                </a:solidFill>
                <a:latin typeface="Cambria"/>
                <a:ea typeface="Cambria"/>
                <a:cs typeface="Cambria"/>
              </a:rPr>
              <a:t>1</a:t>
            </a:r>
            <a:endParaRPr lang="en-US" sz="2200"/>
          </a:p>
        </p:txBody>
      </p:sp>
      <p:sp>
        <p:nvSpPr>
          <p:cNvPr id="1358011453" name="Text 5"/>
          <p:cNvSpPr/>
          <p:nvPr/>
        </p:nvSpPr>
        <p:spPr bwMode="auto">
          <a:xfrm>
            <a:off x="658368" y="2971800"/>
            <a:ext cx="1865376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35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Siapkan Data</a:t>
            </a:r>
            <a:endParaRPr lang="en-US" sz="1350"/>
          </a:p>
        </p:txBody>
      </p:sp>
      <p:sp>
        <p:nvSpPr>
          <p:cNvPr id="1722056849" name="Text 6"/>
          <p:cNvSpPr/>
          <p:nvPr/>
        </p:nvSpPr>
        <p:spPr bwMode="auto">
          <a:xfrm>
            <a:off x="685800" y="3566160"/>
            <a:ext cx="1810512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5000"/>
              </a:lnSpc>
              <a:buNone/>
              <a:defRPr/>
            </a:pPr>
            <a:r>
              <a:rPr lang="en-US" sz="1050">
                <a:solidFill>
                  <a:srgbClr val="E4F1E9"/>
                </a:solidFill>
                <a:latin typeface="Calibri"/>
                <a:ea typeface="Calibri"/>
                <a:cs typeface="Calibri"/>
              </a:rPr>
              <a:t>Baca data, ubah kolom perlakuan menjadi factor()</a:t>
            </a:r>
            <a:endParaRPr lang="en-US" sz="1050"/>
          </a:p>
        </p:txBody>
      </p:sp>
      <p:sp>
        <p:nvSpPr>
          <p:cNvPr id="1691962996" name="Text 7"/>
          <p:cNvSpPr/>
          <p:nvPr/>
        </p:nvSpPr>
        <p:spPr bwMode="auto">
          <a:xfrm>
            <a:off x="2638044" y="3474720"/>
            <a:ext cx="12801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2200" b="1">
                <a:solidFill>
                  <a:srgbClr val="5C6B63"/>
                </a:solidFill>
                <a:latin typeface="Calibri"/>
                <a:ea typeface="Calibri"/>
                <a:cs typeface="Calibri"/>
              </a:rPr>
              <a:t>›</a:t>
            </a:r>
            <a:endParaRPr lang="en-US" sz="2200"/>
          </a:p>
        </p:txBody>
      </p:sp>
      <p:sp>
        <p:nvSpPr>
          <p:cNvPr id="351834796" name="Shape 8"/>
          <p:cNvSpPr/>
          <p:nvPr/>
        </p:nvSpPr>
        <p:spPr bwMode="auto">
          <a:xfrm>
            <a:off x="2770632" y="1965960"/>
            <a:ext cx="2084832" cy="3566160"/>
          </a:xfrm>
          <a:prstGeom prst="roundRect">
            <a:avLst>
              <a:gd name="adj" fmla="val 3947"/>
            </a:avLst>
          </a:prstGeom>
          <a:solidFill>
            <a:srgbClr val="2D6A4F"/>
          </a:solidFill>
          <a:ln/>
        </p:spPr>
      </p:sp>
      <p:sp>
        <p:nvSpPr>
          <p:cNvPr id="1697666662" name="Shape 9"/>
          <p:cNvSpPr/>
          <p:nvPr/>
        </p:nvSpPr>
        <p:spPr bwMode="auto">
          <a:xfrm>
            <a:off x="3520440" y="2221992"/>
            <a:ext cx="585216" cy="585216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552602491" name="Text 10"/>
          <p:cNvSpPr/>
          <p:nvPr/>
        </p:nvSpPr>
        <p:spPr bwMode="auto">
          <a:xfrm>
            <a:off x="3520440" y="2221992"/>
            <a:ext cx="585216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2200" b="1">
                <a:solidFill>
                  <a:srgbClr val="1B4332"/>
                </a:solidFill>
                <a:latin typeface="Cambria"/>
                <a:ea typeface="Cambria"/>
                <a:cs typeface="Cambria"/>
              </a:rPr>
              <a:t>2</a:t>
            </a:r>
            <a:endParaRPr lang="en-US" sz="2200"/>
          </a:p>
        </p:txBody>
      </p:sp>
      <p:sp>
        <p:nvSpPr>
          <p:cNvPr id="225571614" name="Text 11"/>
          <p:cNvSpPr/>
          <p:nvPr/>
        </p:nvSpPr>
        <p:spPr bwMode="auto">
          <a:xfrm>
            <a:off x="2880360" y="2971800"/>
            <a:ext cx="1865376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35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Statistik Deskriptif</a:t>
            </a:r>
            <a:endParaRPr lang="en-US" sz="1350"/>
          </a:p>
        </p:txBody>
      </p:sp>
      <p:sp>
        <p:nvSpPr>
          <p:cNvPr id="1252286450" name="Text 12"/>
          <p:cNvSpPr/>
          <p:nvPr/>
        </p:nvSpPr>
        <p:spPr bwMode="auto">
          <a:xfrm>
            <a:off x="2907792" y="3566160"/>
            <a:ext cx="1810512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5000"/>
              </a:lnSpc>
              <a:buNone/>
              <a:defRPr/>
            </a:pPr>
            <a:r>
              <a:rPr lang="en-US" sz="1050">
                <a:solidFill>
                  <a:srgbClr val="E4F1E9"/>
                </a:solidFill>
                <a:latin typeface="Calibri"/>
                <a:ea typeface="Calibri"/>
                <a:cs typeface="Calibri"/>
              </a:rPr>
              <a:t>Hitung n, rata-rata, sd, galat baku per kelompok</a:t>
            </a:r>
            <a:endParaRPr lang="en-US" sz="1050"/>
          </a:p>
        </p:txBody>
      </p:sp>
      <p:sp>
        <p:nvSpPr>
          <p:cNvPr id="654202504" name="Text 13"/>
          <p:cNvSpPr/>
          <p:nvPr/>
        </p:nvSpPr>
        <p:spPr bwMode="auto">
          <a:xfrm>
            <a:off x="4860036" y="3474720"/>
            <a:ext cx="12801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2200" b="1">
                <a:solidFill>
                  <a:srgbClr val="5C6B63"/>
                </a:solidFill>
                <a:latin typeface="Calibri"/>
                <a:ea typeface="Calibri"/>
                <a:cs typeface="Calibri"/>
              </a:rPr>
              <a:t>›</a:t>
            </a:r>
            <a:endParaRPr lang="en-US" sz="2200"/>
          </a:p>
        </p:txBody>
      </p:sp>
      <p:sp>
        <p:nvSpPr>
          <p:cNvPr id="1244775982" name="Shape 14"/>
          <p:cNvSpPr/>
          <p:nvPr/>
        </p:nvSpPr>
        <p:spPr bwMode="auto">
          <a:xfrm>
            <a:off x="4992624" y="1965960"/>
            <a:ext cx="2084832" cy="3566160"/>
          </a:xfrm>
          <a:prstGeom prst="roundRect">
            <a:avLst>
              <a:gd name="adj" fmla="val 3947"/>
            </a:avLst>
          </a:prstGeom>
          <a:solidFill>
            <a:srgbClr val="2D6A4F"/>
          </a:solidFill>
          <a:ln/>
        </p:spPr>
      </p:sp>
      <p:sp>
        <p:nvSpPr>
          <p:cNvPr id="232202049" name="Shape 15"/>
          <p:cNvSpPr/>
          <p:nvPr/>
        </p:nvSpPr>
        <p:spPr bwMode="auto">
          <a:xfrm>
            <a:off x="5742432" y="2221992"/>
            <a:ext cx="585216" cy="585216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533582245" name="Text 16"/>
          <p:cNvSpPr/>
          <p:nvPr/>
        </p:nvSpPr>
        <p:spPr bwMode="auto">
          <a:xfrm>
            <a:off x="5742432" y="2221992"/>
            <a:ext cx="585216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2200" b="1">
                <a:solidFill>
                  <a:srgbClr val="1B4332"/>
                </a:solidFill>
                <a:latin typeface="Cambria"/>
                <a:ea typeface="Cambria"/>
                <a:cs typeface="Cambria"/>
              </a:rPr>
              <a:t>3</a:t>
            </a:r>
            <a:endParaRPr lang="en-US" sz="2200"/>
          </a:p>
        </p:txBody>
      </p:sp>
      <p:sp>
        <p:nvSpPr>
          <p:cNvPr id="2085138179" name="Text 17"/>
          <p:cNvSpPr/>
          <p:nvPr/>
        </p:nvSpPr>
        <p:spPr bwMode="auto">
          <a:xfrm>
            <a:off x="5102352" y="2971800"/>
            <a:ext cx="1865376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35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Visualisasi</a:t>
            </a:r>
            <a:endParaRPr lang="en-US" sz="1350"/>
          </a:p>
        </p:txBody>
      </p:sp>
      <p:sp>
        <p:nvSpPr>
          <p:cNvPr id="27464093" name="Text 18"/>
          <p:cNvSpPr/>
          <p:nvPr/>
        </p:nvSpPr>
        <p:spPr bwMode="auto">
          <a:xfrm>
            <a:off x="5129784" y="3566160"/>
            <a:ext cx="1810512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5000"/>
              </a:lnSpc>
              <a:buNone/>
              <a:defRPr/>
            </a:pPr>
            <a:r>
              <a:rPr lang="en-US" sz="1050">
                <a:solidFill>
                  <a:srgbClr val="E4F1E9"/>
                </a:solidFill>
                <a:latin typeface="Calibri"/>
                <a:ea typeface="Calibri"/>
                <a:cs typeface="Calibri"/>
              </a:rPr>
              <a:t>Boxplot + jitter untuk melihat sebaran data</a:t>
            </a:r>
            <a:endParaRPr lang="en-US" sz="1050"/>
          </a:p>
        </p:txBody>
      </p:sp>
      <p:sp>
        <p:nvSpPr>
          <p:cNvPr id="1739358014" name="Text 19"/>
          <p:cNvSpPr/>
          <p:nvPr/>
        </p:nvSpPr>
        <p:spPr bwMode="auto">
          <a:xfrm>
            <a:off x="7082028" y="3474720"/>
            <a:ext cx="12801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2200" b="1">
                <a:solidFill>
                  <a:srgbClr val="5C6B63"/>
                </a:solidFill>
                <a:latin typeface="Calibri"/>
                <a:ea typeface="Calibri"/>
                <a:cs typeface="Calibri"/>
              </a:rPr>
              <a:t>›</a:t>
            </a:r>
            <a:endParaRPr lang="en-US" sz="2200"/>
          </a:p>
        </p:txBody>
      </p:sp>
      <p:sp>
        <p:nvSpPr>
          <p:cNvPr id="342105234" name="Shape 20"/>
          <p:cNvSpPr/>
          <p:nvPr/>
        </p:nvSpPr>
        <p:spPr bwMode="auto">
          <a:xfrm>
            <a:off x="7214616" y="1965960"/>
            <a:ext cx="2084832" cy="3566160"/>
          </a:xfrm>
          <a:prstGeom prst="roundRect">
            <a:avLst>
              <a:gd name="adj" fmla="val 3947"/>
            </a:avLst>
          </a:prstGeom>
          <a:solidFill>
            <a:srgbClr val="1B4332"/>
          </a:solidFill>
          <a:ln/>
        </p:spPr>
      </p:sp>
      <p:sp>
        <p:nvSpPr>
          <p:cNvPr id="753763749" name="Shape 21"/>
          <p:cNvSpPr/>
          <p:nvPr/>
        </p:nvSpPr>
        <p:spPr bwMode="auto">
          <a:xfrm>
            <a:off x="7964424" y="2221992"/>
            <a:ext cx="585216" cy="585216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164666112" name="Text 22"/>
          <p:cNvSpPr/>
          <p:nvPr/>
        </p:nvSpPr>
        <p:spPr bwMode="auto">
          <a:xfrm>
            <a:off x="7964424" y="2221992"/>
            <a:ext cx="585216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2200" b="1">
                <a:solidFill>
                  <a:srgbClr val="1B4332"/>
                </a:solidFill>
                <a:latin typeface="Cambria"/>
                <a:ea typeface="Cambria"/>
                <a:cs typeface="Cambria"/>
              </a:rPr>
              <a:t>4</a:t>
            </a:r>
            <a:endParaRPr lang="en-US" sz="2200"/>
          </a:p>
        </p:txBody>
      </p:sp>
      <p:sp>
        <p:nvSpPr>
          <p:cNvPr id="1077769644" name="Text 23"/>
          <p:cNvSpPr/>
          <p:nvPr/>
        </p:nvSpPr>
        <p:spPr bwMode="auto">
          <a:xfrm>
            <a:off x="7324344" y="2971800"/>
            <a:ext cx="1865376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35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Model &amp; ANOVA</a:t>
            </a:r>
            <a:endParaRPr lang="en-US" sz="1350"/>
          </a:p>
        </p:txBody>
      </p:sp>
      <p:sp>
        <p:nvSpPr>
          <p:cNvPr id="1237939563" name="Text 24"/>
          <p:cNvSpPr/>
          <p:nvPr/>
        </p:nvSpPr>
        <p:spPr bwMode="auto">
          <a:xfrm>
            <a:off x="7351776" y="3566160"/>
            <a:ext cx="1810512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5000"/>
              </a:lnSpc>
              <a:buNone/>
              <a:defRPr/>
            </a:pPr>
            <a:r>
              <a:rPr lang="en-US" sz="1050">
                <a:solidFill>
                  <a:srgbClr val="E4F1E9"/>
                </a:solidFill>
                <a:latin typeface="Calibri"/>
                <a:ea typeface="Calibri"/>
                <a:cs typeface="Calibri"/>
              </a:rPr>
              <a:t>aov(tinggi_cm ~ perlakuan) lalu summary()</a:t>
            </a:r>
            <a:endParaRPr lang="en-US" sz="1050"/>
          </a:p>
        </p:txBody>
      </p:sp>
      <p:sp>
        <p:nvSpPr>
          <p:cNvPr id="1135456392" name="Text 25"/>
          <p:cNvSpPr/>
          <p:nvPr/>
        </p:nvSpPr>
        <p:spPr bwMode="auto">
          <a:xfrm>
            <a:off x="9304020" y="3474720"/>
            <a:ext cx="12801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2200" b="1">
                <a:solidFill>
                  <a:srgbClr val="5C6B63"/>
                </a:solidFill>
                <a:latin typeface="Calibri"/>
                <a:ea typeface="Calibri"/>
                <a:cs typeface="Calibri"/>
              </a:rPr>
              <a:t>›</a:t>
            </a:r>
            <a:endParaRPr lang="en-US" sz="2200"/>
          </a:p>
        </p:txBody>
      </p:sp>
      <p:sp>
        <p:nvSpPr>
          <p:cNvPr id="279224154" name="Shape 26"/>
          <p:cNvSpPr/>
          <p:nvPr/>
        </p:nvSpPr>
        <p:spPr bwMode="auto">
          <a:xfrm>
            <a:off x="9436608" y="1965960"/>
            <a:ext cx="2084832" cy="3566160"/>
          </a:xfrm>
          <a:prstGeom prst="roundRect">
            <a:avLst>
              <a:gd name="adj" fmla="val 3947"/>
            </a:avLst>
          </a:prstGeom>
          <a:solidFill>
            <a:srgbClr val="2D6A4F"/>
          </a:solidFill>
          <a:ln/>
        </p:spPr>
      </p:sp>
      <p:sp>
        <p:nvSpPr>
          <p:cNvPr id="780274694" name="Shape 27"/>
          <p:cNvSpPr/>
          <p:nvPr/>
        </p:nvSpPr>
        <p:spPr bwMode="auto">
          <a:xfrm>
            <a:off x="10186416" y="2221992"/>
            <a:ext cx="585216" cy="585216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108674803" name="Text 28"/>
          <p:cNvSpPr/>
          <p:nvPr/>
        </p:nvSpPr>
        <p:spPr bwMode="auto">
          <a:xfrm>
            <a:off x="10186416" y="2221992"/>
            <a:ext cx="585216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2200" b="1">
                <a:solidFill>
                  <a:srgbClr val="1B4332"/>
                </a:solidFill>
                <a:latin typeface="Cambria"/>
                <a:ea typeface="Cambria"/>
                <a:cs typeface="Cambria"/>
              </a:rPr>
              <a:t>5</a:t>
            </a:r>
            <a:endParaRPr lang="en-US" sz="2200"/>
          </a:p>
        </p:txBody>
      </p:sp>
      <p:sp>
        <p:nvSpPr>
          <p:cNvPr id="1855831541" name="Text 29"/>
          <p:cNvSpPr/>
          <p:nvPr/>
        </p:nvSpPr>
        <p:spPr bwMode="auto">
          <a:xfrm>
            <a:off x="9546336" y="2971800"/>
            <a:ext cx="1865376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35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Uji Lanjut &amp; Asumsi</a:t>
            </a:r>
            <a:endParaRPr lang="en-US" sz="1350"/>
          </a:p>
        </p:txBody>
      </p:sp>
      <p:sp>
        <p:nvSpPr>
          <p:cNvPr id="1964210765" name="Text 30"/>
          <p:cNvSpPr/>
          <p:nvPr/>
        </p:nvSpPr>
        <p:spPr bwMode="auto">
          <a:xfrm>
            <a:off x="9573768" y="3566160"/>
            <a:ext cx="1810512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5000"/>
              </a:lnSpc>
              <a:buNone/>
              <a:defRPr/>
            </a:pPr>
            <a:r>
              <a:rPr lang="en-US" sz="1050">
                <a:solidFill>
                  <a:srgbClr val="E4F1E9"/>
                </a:solidFill>
                <a:latin typeface="Calibri"/>
                <a:ea typeface="Calibri"/>
                <a:cs typeface="Calibri"/>
              </a:rPr>
              <a:t>TukeyHSD() bila signifikan + diagnostik residual</a:t>
            </a:r>
            <a:endParaRPr lang="en-US" sz="1050"/>
          </a:p>
        </p:txBody>
      </p:sp>
      <p:sp>
        <p:nvSpPr>
          <p:cNvPr id="815882946" name="Shape 31"/>
          <p:cNvSpPr/>
          <p:nvPr/>
        </p:nvSpPr>
        <p:spPr bwMode="auto">
          <a:xfrm>
            <a:off x="548640" y="5760720"/>
            <a:ext cx="11064240" cy="594360"/>
          </a:xfrm>
          <a:prstGeom prst="roundRect">
            <a:avLst>
              <a:gd name="adj" fmla="val 9231"/>
            </a:avLst>
          </a:prstGeom>
          <a:solidFill>
            <a:srgbClr val="EDEDED"/>
          </a:solidFill>
          <a:ln/>
        </p:spPr>
      </p:sp>
      <p:sp>
        <p:nvSpPr>
          <p:cNvPr id="1382106292" name="Text 32"/>
          <p:cNvSpPr/>
          <p:nvPr/>
        </p:nvSpPr>
        <p:spPr bwMode="auto">
          <a:xfrm>
            <a:off x="548640" y="5760720"/>
            <a:ext cx="11064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250" b="1">
                <a:solidFill>
                  <a:srgbClr val="1B4332"/>
                </a:solidFill>
              </a:rPr>
              <a:t>  Kode inti:  </a:t>
            </a:r>
            <a:r>
              <a:rPr lang="en-US" sz="1250">
                <a:solidFill>
                  <a:srgbClr val="1B2A22"/>
                </a:solidFill>
                <a:latin typeface="Courier New"/>
                <a:ea typeface="Courier New"/>
                <a:cs typeface="Courier New"/>
              </a:rPr>
              <a:t>model &lt;- aov(tinggi_cm ~ perlakuan, data = data)  →  summary(model)</a:t>
            </a:r>
            <a:endParaRPr lang="en-US" sz="1250"/>
          </a:p>
        </p:txBody>
      </p:sp>
      <p:sp>
        <p:nvSpPr>
          <p:cNvPr id="1504149398" name="Text 33"/>
          <p:cNvSpPr/>
          <p:nvPr/>
        </p:nvSpPr>
        <p:spPr bwMode="auto"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  <a:defRPr/>
            </a:pPr>
            <a:r>
              <a:rPr lang="en-US" sz="900">
                <a:solidFill>
                  <a:srgbClr val="5C6B63"/>
                </a:solidFill>
                <a:latin typeface="Calibri"/>
                <a:ea typeface="Calibri"/>
                <a:cs typeface="Calibri"/>
              </a:rPr>
              <a:t>RAL &amp; ANOVA Satu Arah — Biostatistika untuk Biologi</a:t>
            </a:r>
            <a:endParaRPr lang="en-US" sz="900"/>
          </a:p>
        </p:txBody>
      </p:sp>
      <p:sp>
        <p:nvSpPr>
          <p:cNvPr id="1161511091" name="Text 34"/>
          <p:cNvSpPr/>
          <p:nvPr/>
        </p:nvSpPr>
        <p:spPr bwMode="auto"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  <a:defRPr/>
            </a:pPr>
            <a:r>
              <a:rPr lang="en-US" sz="900">
                <a:solidFill>
                  <a:srgbClr val="5C6B63"/>
                </a:solidFill>
                <a:latin typeface="Calibri"/>
                <a:ea typeface="Calibri"/>
                <a:cs typeface="Calibri"/>
              </a:rPr>
              <a:t>7</a:t>
            </a:r>
            <a:endParaRPr lang="en-US" sz="9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8">
    <p:bg>
      <p:bgPr shadeToTitle="0">
        <a:solidFill>
          <a:srgbClr val="F7FAF7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33834142" name="Text 0"/>
          <p:cNvSpPr/>
          <p:nvPr/>
        </p:nvSpPr>
        <p:spPr bwMode="auto"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200" b="1" spc="200">
                <a:solidFill>
                  <a:srgbClr val="2D6A4F"/>
                </a:solidFill>
                <a:latin typeface="Calibri"/>
                <a:ea typeface="Calibri"/>
                <a:cs typeface="Calibri"/>
              </a:rPr>
              <a:t>1.4.2–1.4.3 · EKSPLORASI DATA</a:t>
            </a:r>
            <a:endParaRPr lang="en-US" sz="1200"/>
          </a:p>
        </p:txBody>
      </p:sp>
      <p:sp>
        <p:nvSpPr>
          <p:cNvPr id="1028779337" name="Text 1"/>
          <p:cNvSpPr/>
          <p:nvPr/>
        </p:nvSpPr>
        <p:spPr bwMode="auto">
          <a:xfrm>
            <a:off x="548640" y="658368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3000" b="1">
                <a:solidFill>
                  <a:srgbClr val="1B4332"/>
                </a:solidFill>
                <a:latin typeface="Cambria"/>
                <a:ea typeface="Cambria"/>
                <a:cs typeface="Cambria"/>
              </a:rPr>
              <a:t>Statistik Deskriptif &amp; Visualisasi</a:t>
            </a:r>
            <a:endParaRPr lang="en-US" sz="3000"/>
          </a:p>
        </p:txBody>
      </p:sp>
      <p:sp>
        <p:nvSpPr>
          <p:cNvPr id="1557411598" name="Text 2"/>
          <p:cNvSpPr/>
          <p:nvPr/>
        </p:nvSpPr>
        <p:spPr bwMode="auto">
          <a:xfrm>
            <a:off x="548640" y="16916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500" b="1">
                <a:solidFill>
                  <a:srgbClr val="1B4332"/>
                </a:solidFill>
                <a:latin typeface="Cambria"/>
                <a:ea typeface="Cambria"/>
                <a:cs typeface="Cambria"/>
              </a:rPr>
              <a:t>Ringkasan per Kelompok Perlakuan</a:t>
            </a:r>
            <a:endParaRPr lang="en-US" sz="1500"/>
          </a:p>
        </p:txBody>
      </p:sp>
      <p:sp>
        <p:nvSpPr>
          <p:cNvPr id="2009095296" name="Shape 3"/>
          <p:cNvSpPr/>
          <p:nvPr/>
        </p:nvSpPr>
        <p:spPr bwMode="auto">
          <a:xfrm>
            <a:off x="548640" y="2148840"/>
            <a:ext cx="1920240" cy="457200"/>
          </a:xfrm>
          <a:prstGeom prst="rect">
            <a:avLst/>
          </a:prstGeom>
          <a:solidFill>
            <a:srgbClr val="1B4332"/>
          </a:solidFill>
          <a:ln/>
        </p:spPr>
      </p:sp>
      <p:sp>
        <p:nvSpPr>
          <p:cNvPr id="1385484030" name="Text 4"/>
          <p:cNvSpPr/>
          <p:nvPr/>
        </p:nvSpPr>
        <p:spPr bwMode="auto">
          <a:xfrm>
            <a:off x="548640" y="2148840"/>
            <a:ext cx="1920240" cy="457200"/>
          </a:xfrm>
          <a:prstGeom prst="rect">
            <a:avLst/>
          </a:prstGeom>
          <a:noFill/>
          <a:ln/>
        </p:spPr>
        <p:txBody>
          <a:bodyPr wrap="square" lIns="73152" tIns="73152" rIns="73152" bIns="73152" rtlCol="0" anchor="ctr"/>
          <a:lstStyle/>
          <a:p>
            <a:pPr marL="0" indent="0" algn="l">
              <a:buNone/>
              <a:defRPr/>
            </a:pPr>
            <a:r>
              <a:rPr lang="en-US" sz="1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Perlakuan</a:t>
            </a:r>
            <a:endParaRPr lang="en-US" sz="1200"/>
          </a:p>
        </p:txBody>
      </p:sp>
      <p:sp>
        <p:nvSpPr>
          <p:cNvPr id="66953021" name="Shape 5"/>
          <p:cNvSpPr/>
          <p:nvPr/>
        </p:nvSpPr>
        <p:spPr bwMode="auto">
          <a:xfrm>
            <a:off x="2468880" y="2148840"/>
            <a:ext cx="822960" cy="457200"/>
          </a:xfrm>
          <a:prstGeom prst="rect">
            <a:avLst/>
          </a:prstGeom>
          <a:solidFill>
            <a:srgbClr val="1B4332"/>
          </a:solidFill>
          <a:ln/>
        </p:spPr>
      </p:sp>
      <p:sp>
        <p:nvSpPr>
          <p:cNvPr id="275155103" name="Text 6"/>
          <p:cNvSpPr/>
          <p:nvPr/>
        </p:nvSpPr>
        <p:spPr bwMode="auto">
          <a:xfrm>
            <a:off x="2468880" y="2148840"/>
            <a:ext cx="822960" cy="457200"/>
          </a:xfrm>
          <a:prstGeom prst="rect">
            <a:avLst/>
          </a:prstGeom>
          <a:noFill/>
          <a:ln/>
        </p:spPr>
        <p:txBody>
          <a:bodyPr wrap="square" lIns="73152" tIns="73152" rIns="73152" bIns="73152" rtlCol="0" anchor="ctr"/>
          <a:lstStyle/>
          <a:p>
            <a:pPr marL="0" indent="0" algn="ctr">
              <a:buNone/>
              <a:defRPr/>
            </a:pPr>
            <a:r>
              <a:rPr lang="en-US" sz="1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n</a:t>
            </a:r>
            <a:endParaRPr lang="en-US" sz="1200"/>
          </a:p>
        </p:txBody>
      </p:sp>
      <p:sp>
        <p:nvSpPr>
          <p:cNvPr id="380299525" name="Shape 7"/>
          <p:cNvSpPr/>
          <p:nvPr/>
        </p:nvSpPr>
        <p:spPr bwMode="auto">
          <a:xfrm>
            <a:off x="3291840" y="2148840"/>
            <a:ext cx="1371600" cy="457200"/>
          </a:xfrm>
          <a:prstGeom prst="rect">
            <a:avLst/>
          </a:prstGeom>
          <a:solidFill>
            <a:srgbClr val="1B4332"/>
          </a:solidFill>
          <a:ln/>
        </p:spPr>
      </p:sp>
      <p:sp>
        <p:nvSpPr>
          <p:cNvPr id="1130136820" name="Text 8"/>
          <p:cNvSpPr/>
          <p:nvPr/>
        </p:nvSpPr>
        <p:spPr bwMode="auto">
          <a:xfrm>
            <a:off x="3291840" y="2148840"/>
            <a:ext cx="1371600" cy="457200"/>
          </a:xfrm>
          <a:prstGeom prst="rect">
            <a:avLst/>
          </a:prstGeom>
          <a:noFill/>
          <a:ln/>
        </p:spPr>
        <p:txBody>
          <a:bodyPr wrap="square" lIns="73152" tIns="73152" rIns="73152" bIns="73152" rtlCol="0" anchor="ctr"/>
          <a:lstStyle/>
          <a:p>
            <a:pPr marL="0" indent="0" algn="ctr">
              <a:buNone/>
              <a:defRPr/>
            </a:pPr>
            <a:r>
              <a:rPr lang="en-US" sz="1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Rata-rata</a:t>
            </a:r>
            <a:endParaRPr lang="en-US" sz="1200"/>
          </a:p>
        </p:txBody>
      </p:sp>
      <p:sp>
        <p:nvSpPr>
          <p:cNvPr id="1642324828" name="Shape 9"/>
          <p:cNvSpPr/>
          <p:nvPr/>
        </p:nvSpPr>
        <p:spPr bwMode="auto">
          <a:xfrm>
            <a:off x="4663440" y="2148840"/>
            <a:ext cx="914400" cy="457200"/>
          </a:xfrm>
          <a:prstGeom prst="rect">
            <a:avLst/>
          </a:prstGeom>
          <a:solidFill>
            <a:srgbClr val="1B4332"/>
          </a:solidFill>
          <a:ln/>
        </p:spPr>
      </p:sp>
      <p:sp>
        <p:nvSpPr>
          <p:cNvPr id="785494951" name="Text 10"/>
          <p:cNvSpPr/>
          <p:nvPr/>
        </p:nvSpPr>
        <p:spPr bwMode="auto">
          <a:xfrm>
            <a:off x="4663440" y="2148840"/>
            <a:ext cx="914400" cy="457200"/>
          </a:xfrm>
          <a:prstGeom prst="rect">
            <a:avLst/>
          </a:prstGeom>
          <a:noFill/>
          <a:ln/>
        </p:spPr>
        <p:txBody>
          <a:bodyPr wrap="square" lIns="73152" tIns="73152" rIns="73152" bIns="73152" rtlCol="0" anchor="ctr"/>
          <a:lstStyle/>
          <a:p>
            <a:pPr marL="0" indent="0" algn="ctr">
              <a:buNone/>
              <a:defRPr/>
            </a:pPr>
            <a:r>
              <a:rPr lang="en-US" sz="1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SD</a:t>
            </a:r>
            <a:endParaRPr lang="en-US" sz="1200"/>
          </a:p>
        </p:txBody>
      </p:sp>
      <p:sp>
        <p:nvSpPr>
          <p:cNvPr id="344952988" name="Shape 11"/>
          <p:cNvSpPr/>
          <p:nvPr/>
        </p:nvSpPr>
        <p:spPr bwMode="auto">
          <a:xfrm>
            <a:off x="5577840" y="2148840"/>
            <a:ext cx="914400" cy="457200"/>
          </a:xfrm>
          <a:prstGeom prst="rect">
            <a:avLst/>
          </a:prstGeom>
          <a:solidFill>
            <a:srgbClr val="1B4332"/>
          </a:solidFill>
          <a:ln/>
        </p:spPr>
      </p:sp>
      <p:sp>
        <p:nvSpPr>
          <p:cNvPr id="348497158" name="Text 12"/>
          <p:cNvSpPr/>
          <p:nvPr/>
        </p:nvSpPr>
        <p:spPr bwMode="auto">
          <a:xfrm>
            <a:off x="5577840" y="2148840"/>
            <a:ext cx="914400" cy="457200"/>
          </a:xfrm>
          <a:prstGeom prst="rect">
            <a:avLst/>
          </a:prstGeom>
          <a:noFill/>
          <a:ln/>
        </p:spPr>
        <p:txBody>
          <a:bodyPr wrap="square" lIns="73152" tIns="73152" rIns="73152" bIns="73152" rtlCol="0" anchor="ctr"/>
          <a:lstStyle/>
          <a:p>
            <a:pPr marL="0" indent="0" algn="ctr">
              <a:buNone/>
              <a:defRPr/>
            </a:pPr>
            <a:r>
              <a:rPr lang="en-US" sz="1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SE</a:t>
            </a:r>
            <a:endParaRPr lang="en-US" sz="1200"/>
          </a:p>
        </p:txBody>
      </p:sp>
      <p:sp>
        <p:nvSpPr>
          <p:cNvPr id="1731307204" name="Shape 13"/>
          <p:cNvSpPr/>
          <p:nvPr/>
        </p:nvSpPr>
        <p:spPr bwMode="auto">
          <a:xfrm>
            <a:off x="548640" y="2606040"/>
            <a:ext cx="192024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DEEE3"/>
            </a:solidFill>
            <a:prstDash val="solid"/>
          </a:ln>
        </p:spPr>
      </p:sp>
      <p:sp>
        <p:nvSpPr>
          <p:cNvPr id="491669807" name="Text 14"/>
          <p:cNvSpPr/>
          <p:nvPr/>
        </p:nvSpPr>
        <p:spPr bwMode="auto">
          <a:xfrm>
            <a:off x="548640" y="2606040"/>
            <a:ext cx="1920240" cy="457200"/>
          </a:xfrm>
          <a:prstGeom prst="rect">
            <a:avLst/>
          </a:prstGeom>
          <a:noFill/>
          <a:ln/>
        </p:spPr>
        <p:txBody>
          <a:bodyPr wrap="square" lIns="73152" tIns="73152" rIns="73152" bIns="73152" rtlCol="0" anchor="ctr"/>
          <a:lstStyle/>
          <a:p>
            <a:pPr marL="0" indent="0" algn="l">
              <a:buNone/>
              <a:defRPr/>
            </a:pPr>
            <a:r>
              <a:rPr lang="en-US" sz="1200">
                <a:solidFill>
                  <a:srgbClr val="1B2A22"/>
                </a:solidFill>
                <a:latin typeface="Calibri"/>
                <a:ea typeface="Calibri"/>
                <a:cs typeface="Calibri"/>
              </a:rPr>
              <a:t>Kontrol</a:t>
            </a:r>
            <a:endParaRPr lang="en-US" sz="1200"/>
          </a:p>
        </p:txBody>
      </p:sp>
      <p:sp>
        <p:nvSpPr>
          <p:cNvPr id="1889755452" name="Shape 15"/>
          <p:cNvSpPr/>
          <p:nvPr/>
        </p:nvSpPr>
        <p:spPr bwMode="auto">
          <a:xfrm>
            <a:off x="2468880" y="2606040"/>
            <a:ext cx="82296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DEEE3"/>
            </a:solidFill>
            <a:prstDash val="solid"/>
          </a:ln>
        </p:spPr>
      </p:sp>
      <p:sp>
        <p:nvSpPr>
          <p:cNvPr id="324816271" name="Text 16"/>
          <p:cNvSpPr/>
          <p:nvPr/>
        </p:nvSpPr>
        <p:spPr bwMode="auto">
          <a:xfrm>
            <a:off x="2468880" y="2606040"/>
            <a:ext cx="822960" cy="457200"/>
          </a:xfrm>
          <a:prstGeom prst="rect">
            <a:avLst/>
          </a:prstGeom>
          <a:noFill/>
          <a:ln/>
        </p:spPr>
        <p:txBody>
          <a:bodyPr wrap="square" lIns="73152" tIns="73152" rIns="73152" bIns="73152" rtlCol="0" anchor="ctr"/>
          <a:lstStyle/>
          <a:p>
            <a:pPr marL="0" indent="0" algn="ctr">
              <a:buNone/>
              <a:defRPr/>
            </a:pPr>
            <a:r>
              <a:rPr lang="en-US" sz="1200">
                <a:solidFill>
                  <a:srgbClr val="1B2A22"/>
                </a:solidFill>
                <a:latin typeface="Calibri"/>
                <a:ea typeface="Calibri"/>
                <a:cs typeface="Calibri"/>
              </a:rPr>
              <a:t>10</a:t>
            </a:r>
            <a:endParaRPr lang="en-US" sz="1200"/>
          </a:p>
        </p:txBody>
      </p:sp>
      <p:sp>
        <p:nvSpPr>
          <p:cNvPr id="1307864992" name="Shape 17"/>
          <p:cNvSpPr/>
          <p:nvPr/>
        </p:nvSpPr>
        <p:spPr bwMode="auto">
          <a:xfrm>
            <a:off x="3291840" y="2606040"/>
            <a:ext cx="137160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DEEE3"/>
            </a:solidFill>
            <a:prstDash val="solid"/>
          </a:ln>
        </p:spPr>
      </p:sp>
      <p:sp>
        <p:nvSpPr>
          <p:cNvPr id="1346638251" name="Text 18"/>
          <p:cNvSpPr/>
          <p:nvPr/>
        </p:nvSpPr>
        <p:spPr bwMode="auto">
          <a:xfrm>
            <a:off x="3291840" y="2606040"/>
            <a:ext cx="1371600" cy="457200"/>
          </a:xfrm>
          <a:prstGeom prst="rect">
            <a:avLst/>
          </a:prstGeom>
          <a:noFill/>
          <a:ln/>
        </p:spPr>
        <p:txBody>
          <a:bodyPr wrap="square" lIns="73152" tIns="73152" rIns="73152" bIns="73152" rtlCol="0" anchor="ctr"/>
          <a:lstStyle/>
          <a:p>
            <a:pPr marL="0" indent="0" algn="ctr">
              <a:buNone/>
              <a:defRPr/>
            </a:pPr>
            <a:r>
              <a:rPr lang="en-US" sz="1200">
                <a:solidFill>
                  <a:srgbClr val="1B2A22"/>
                </a:solidFill>
                <a:latin typeface="Calibri"/>
                <a:ea typeface="Calibri"/>
                <a:cs typeface="Calibri"/>
              </a:rPr>
              <a:t>14.2 cm</a:t>
            </a:r>
            <a:endParaRPr lang="en-US" sz="1200"/>
          </a:p>
        </p:txBody>
      </p:sp>
      <p:sp>
        <p:nvSpPr>
          <p:cNvPr id="499343183" name="Shape 19"/>
          <p:cNvSpPr/>
          <p:nvPr/>
        </p:nvSpPr>
        <p:spPr bwMode="auto">
          <a:xfrm>
            <a:off x="4663440" y="2606040"/>
            <a:ext cx="91440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DEEE3"/>
            </a:solidFill>
            <a:prstDash val="solid"/>
          </a:ln>
        </p:spPr>
      </p:sp>
      <p:sp>
        <p:nvSpPr>
          <p:cNvPr id="283456604" name="Text 20"/>
          <p:cNvSpPr/>
          <p:nvPr/>
        </p:nvSpPr>
        <p:spPr bwMode="auto">
          <a:xfrm>
            <a:off x="4663440" y="2606040"/>
            <a:ext cx="914400" cy="457200"/>
          </a:xfrm>
          <a:prstGeom prst="rect">
            <a:avLst/>
          </a:prstGeom>
          <a:noFill/>
          <a:ln/>
        </p:spPr>
        <p:txBody>
          <a:bodyPr wrap="square" lIns="73152" tIns="73152" rIns="73152" bIns="73152" rtlCol="0" anchor="ctr"/>
          <a:lstStyle/>
          <a:p>
            <a:pPr marL="0" indent="0" algn="ctr">
              <a:buNone/>
              <a:defRPr/>
            </a:pPr>
            <a:r>
              <a:rPr lang="en-US" sz="1200">
                <a:solidFill>
                  <a:srgbClr val="1B2A22"/>
                </a:solidFill>
                <a:latin typeface="Calibri"/>
                <a:ea typeface="Calibri"/>
                <a:cs typeface="Calibri"/>
              </a:rPr>
              <a:t>1.8</a:t>
            </a:r>
            <a:endParaRPr lang="en-US" sz="1200"/>
          </a:p>
        </p:txBody>
      </p:sp>
      <p:sp>
        <p:nvSpPr>
          <p:cNvPr id="44143554" name="Shape 21"/>
          <p:cNvSpPr/>
          <p:nvPr/>
        </p:nvSpPr>
        <p:spPr bwMode="auto">
          <a:xfrm>
            <a:off x="5577840" y="2606040"/>
            <a:ext cx="91440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DEEE3"/>
            </a:solidFill>
            <a:prstDash val="solid"/>
          </a:ln>
        </p:spPr>
      </p:sp>
      <p:sp>
        <p:nvSpPr>
          <p:cNvPr id="277761855" name="Text 22"/>
          <p:cNvSpPr/>
          <p:nvPr/>
        </p:nvSpPr>
        <p:spPr bwMode="auto">
          <a:xfrm>
            <a:off x="5577840" y="2606040"/>
            <a:ext cx="914400" cy="457200"/>
          </a:xfrm>
          <a:prstGeom prst="rect">
            <a:avLst/>
          </a:prstGeom>
          <a:noFill/>
          <a:ln/>
        </p:spPr>
        <p:txBody>
          <a:bodyPr wrap="square" lIns="73152" tIns="73152" rIns="73152" bIns="73152" rtlCol="0" anchor="ctr"/>
          <a:lstStyle/>
          <a:p>
            <a:pPr marL="0" indent="0" algn="ctr">
              <a:buNone/>
              <a:defRPr/>
            </a:pPr>
            <a:r>
              <a:rPr lang="en-US" sz="1200">
                <a:solidFill>
                  <a:srgbClr val="1B2A22"/>
                </a:solidFill>
                <a:latin typeface="Calibri"/>
                <a:ea typeface="Calibri"/>
                <a:cs typeface="Calibri"/>
              </a:rPr>
              <a:t>0.57</a:t>
            </a:r>
            <a:endParaRPr lang="en-US" sz="1200"/>
          </a:p>
        </p:txBody>
      </p:sp>
      <p:sp>
        <p:nvSpPr>
          <p:cNvPr id="271172483" name="Shape 23"/>
          <p:cNvSpPr/>
          <p:nvPr/>
        </p:nvSpPr>
        <p:spPr bwMode="auto">
          <a:xfrm>
            <a:off x="548640" y="3063240"/>
            <a:ext cx="1920240" cy="457200"/>
          </a:xfrm>
          <a:prstGeom prst="rect">
            <a:avLst/>
          </a:prstGeom>
          <a:solidFill>
            <a:srgbClr val="D8F3DC"/>
          </a:solidFill>
          <a:ln w="9525">
            <a:solidFill>
              <a:srgbClr val="DDEEE3"/>
            </a:solidFill>
            <a:prstDash val="solid"/>
          </a:ln>
        </p:spPr>
      </p:sp>
      <p:sp>
        <p:nvSpPr>
          <p:cNvPr id="1502210916" name="Text 24"/>
          <p:cNvSpPr/>
          <p:nvPr/>
        </p:nvSpPr>
        <p:spPr bwMode="auto">
          <a:xfrm>
            <a:off x="548640" y="3063240"/>
            <a:ext cx="1920240" cy="457200"/>
          </a:xfrm>
          <a:prstGeom prst="rect">
            <a:avLst/>
          </a:prstGeom>
          <a:noFill/>
          <a:ln/>
        </p:spPr>
        <p:txBody>
          <a:bodyPr wrap="square" lIns="73152" tIns="73152" rIns="73152" bIns="73152" rtlCol="0" anchor="ctr"/>
          <a:lstStyle/>
          <a:p>
            <a:pPr marL="0" indent="0" algn="l">
              <a:buNone/>
              <a:defRPr/>
            </a:pPr>
            <a:r>
              <a:rPr lang="en-US" sz="1200">
                <a:solidFill>
                  <a:srgbClr val="1B2A22"/>
                </a:solidFill>
                <a:latin typeface="Calibri"/>
                <a:ea typeface="Calibri"/>
                <a:cs typeface="Calibri"/>
              </a:rPr>
              <a:t>Kompos</a:t>
            </a:r>
            <a:endParaRPr lang="en-US" sz="1200"/>
          </a:p>
        </p:txBody>
      </p:sp>
      <p:sp>
        <p:nvSpPr>
          <p:cNvPr id="1682324141" name="Shape 25"/>
          <p:cNvSpPr/>
          <p:nvPr/>
        </p:nvSpPr>
        <p:spPr bwMode="auto">
          <a:xfrm>
            <a:off x="2468880" y="3063240"/>
            <a:ext cx="822960" cy="457200"/>
          </a:xfrm>
          <a:prstGeom prst="rect">
            <a:avLst/>
          </a:prstGeom>
          <a:solidFill>
            <a:srgbClr val="D8F3DC"/>
          </a:solidFill>
          <a:ln w="9525">
            <a:solidFill>
              <a:srgbClr val="DDEEE3"/>
            </a:solidFill>
            <a:prstDash val="solid"/>
          </a:ln>
        </p:spPr>
      </p:sp>
      <p:sp>
        <p:nvSpPr>
          <p:cNvPr id="1075141150" name="Text 26"/>
          <p:cNvSpPr/>
          <p:nvPr/>
        </p:nvSpPr>
        <p:spPr bwMode="auto">
          <a:xfrm>
            <a:off x="2468880" y="3063240"/>
            <a:ext cx="822960" cy="457200"/>
          </a:xfrm>
          <a:prstGeom prst="rect">
            <a:avLst/>
          </a:prstGeom>
          <a:noFill/>
          <a:ln/>
        </p:spPr>
        <p:txBody>
          <a:bodyPr wrap="square" lIns="73152" tIns="73152" rIns="73152" bIns="73152" rtlCol="0" anchor="ctr"/>
          <a:lstStyle/>
          <a:p>
            <a:pPr marL="0" indent="0" algn="ctr">
              <a:buNone/>
              <a:defRPr/>
            </a:pPr>
            <a:r>
              <a:rPr lang="en-US" sz="1200">
                <a:solidFill>
                  <a:srgbClr val="1B2A22"/>
                </a:solidFill>
                <a:latin typeface="Calibri"/>
                <a:ea typeface="Calibri"/>
                <a:cs typeface="Calibri"/>
              </a:rPr>
              <a:t>10</a:t>
            </a:r>
            <a:endParaRPr lang="en-US" sz="1200"/>
          </a:p>
        </p:txBody>
      </p:sp>
      <p:sp>
        <p:nvSpPr>
          <p:cNvPr id="978096124" name="Shape 27"/>
          <p:cNvSpPr/>
          <p:nvPr/>
        </p:nvSpPr>
        <p:spPr bwMode="auto">
          <a:xfrm>
            <a:off x="3291840" y="3063240"/>
            <a:ext cx="1371600" cy="457200"/>
          </a:xfrm>
          <a:prstGeom prst="rect">
            <a:avLst/>
          </a:prstGeom>
          <a:solidFill>
            <a:srgbClr val="D8F3DC"/>
          </a:solidFill>
          <a:ln w="9525">
            <a:solidFill>
              <a:srgbClr val="DDEEE3"/>
            </a:solidFill>
            <a:prstDash val="solid"/>
          </a:ln>
        </p:spPr>
      </p:sp>
      <p:sp>
        <p:nvSpPr>
          <p:cNvPr id="1961576045" name="Text 28"/>
          <p:cNvSpPr/>
          <p:nvPr/>
        </p:nvSpPr>
        <p:spPr bwMode="auto">
          <a:xfrm>
            <a:off x="3291840" y="3063240"/>
            <a:ext cx="1371600" cy="457200"/>
          </a:xfrm>
          <a:prstGeom prst="rect">
            <a:avLst/>
          </a:prstGeom>
          <a:noFill/>
          <a:ln/>
        </p:spPr>
        <p:txBody>
          <a:bodyPr wrap="square" lIns="73152" tIns="73152" rIns="73152" bIns="73152" rtlCol="0" anchor="ctr"/>
          <a:lstStyle/>
          <a:p>
            <a:pPr marL="0" indent="0" algn="ctr">
              <a:buNone/>
              <a:defRPr/>
            </a:pPr>
            <a:r>
              <a:rPr lang="en-US" sz="1200">
                <a:solidFill>
                  <a:srgbClr val="1B2A22"/>
                </a:solidFill>
                <a:latin typeface="Calibri"/>
                <a:ea typeface="Calibri"/>
                <a:cs typeface="Calibri"/>
              </a:rPr>
              <a:t>18.6 cm</a:t>
            </a:r>
            <a:endParaRPr lang="en-US" sz="1200"/>
          </a:p>
        </p:txBody>
      </p:sp>
      <p:sp>
        <p:nvSpPr>
          <p:cNvPr id="432371872" name="Shape 29"/>
          <p:cNvSpPr/>
          <p:nvPr/>
        </p:nvSpPr>
        <p:spPr bwMode="auto">
          <a:xfrm>
            <a:off x="4663440" y="3063240"/>
            <a:ext cx="914400" cy="457200"/>
          </a:xfrm>
          <a:prstGeom prst="rect">
            <a:avLst/>
          </a:prstGeom>
          <a:solidFill>
            <a:srgbClr val="D8F3DC"/>
          </a:solidFill>
          <a:ln w="9525">
            <a:solidFill>
              <a:srgbClr val="DDEEE3"/>
            </a:solidFill>
            <a:prstDash val="solid"/>
          </a:ln>
        </p:spPr>
      </p:sp>
      <p:sp>
        <p:nvSpPr>
          <p:cNvPr id="783514741" name="Text 30"/>
          <p:cNvSpPr/>
          <p:nvPr/>
        </p:nvSpPr>
        <p:spPr bwMode="auto">
          <a:xfrm>
            <a:off x="4663440" y="3063240"/>
            <a:ext cx="914400" cy="457200"/>
          </a:xfrm>
          <a:prstGeom prst="rect">
            <a:avLst/>
          </a:prstGeom>
          <a:noFill/>
          <a:ln/>
        </p:spPr>
        <p:txBody>
          <a:bodyPr wrap="square" lIns="73152" tIns="73152" rIns="73152" bIns="73152" rtlCol="0" anchor="ctr"/>
          <a:lstStyle/>
          <a:p>
            <a:pPr marL="0" indent="0" algn="ctr">
              <a:buNone/>
              <a:defRPr/>
            </a:pPr>
            <a:r>
              <a:rPr lang="en-US" sz="1200">
                <a:solidFill>
                  <a:srgbClr val="1B2A22"/>
                </a:solidFill>
                <a:latin typeface="Calibri"/>
                <a:ea typeface="Calibri"/>
                <a:cs typeface="Calibri"/>
              </a:rPr>
              <a:t>2.1</a:t>
            </a:r>
            <a:endParaRPr lang="en-US" sz="1200"/>
          </a:p>
        </p:txBody>
      </p:sp>
      <p:sp>
        <p:nvSpPr>
          <p:cNvPr id="1983188173" name="Shape 31"/>
          <p:cNvSpPr/>
          <p:nvPr/>
        </p:nvSpPr>
        <p:spPr bwMode="auto">
          <a:xfrm>
            <a:off x="5577840" y="3063240"/>
            <a:ext cx="914400" cy="457200"/>
          </a:xfrm>
          <a:prstGeom prst="rect">
            <a:avLst/>
          </a:prstGeom>
          <a:solidFill>
            <a:srgbClr val="D8F3DC"/>
          </a:solidFill>
          <a:ln w="9525">
            <a:solidFill>
              <a:srgbClr val="DDEEE3"/>
            </a:solidFill>
            <a:prstDash val="solid"/>
          </a:ln>
        </p:spPr>
      </p:sp>
      <p:sp>
        <p:nvSpPr>
          <p:cNvPr id="1361155112" name="Text 32"/>
          <p:cNvSpPr/>
          <p:nvPr/>
        </p:nvSpPr>
        <p:spPr bwMode="auto">
          <a:xfrm>
            <a:off x="5577840" y="3063240"/>
            <a:ext cx="914400" cy="457200"/>
          </a:xfrm>
          <a:prstGeom prst="rect">
            <a:avLst/>
          </a:prstGeom>
          <a:noFill/>
          <a:ln/>
        </p:spPr>
        <p:txBody>
          <a:bodyPr wrap="square" lIns="73152" tIns="73152" rIns="73152" bIns="73152" rtlCol="0" anchor="ctr"/>
          <a:lstStyle/>
          <a:p>
            <a:pPr marL="0" indent="0" algn="ctr">
              <a:buNone/>
              <a:defRPr/>
            </a:pPr>
            <a:r>
              <a:rPr lang="en-US" sz="1200">
                <a:solidFill>
                  <a:srgbClr val="1B2A22"/>
                </a:solidFill>
                <a:latin typeface="Calibri"/>
                <a:ea typeface="Calibri"/>
                <a:cs typeface="Calibri"/>
              </a:rPr>
              <a:t>0.66</a:t>
            </a:r>
            <a:endParaRPr lang="en-US" sz="1200"/>
          </a:p>
        </p:txBody>
      </p:sp>
      <p:sp>
        <p:nvSpPr>
          <p:cNvPr id="2016058621" name="Shape 33"/>
          <p:cNvSpPr/>
          <p:nvPr/>
        </p:nvSpPr>
        <p:spPr bwMode="auto">
          <a:xfrm>
            <a:off x="548640" y="3520440"/>
            <a:ext cx="192024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DEEE3"/>
            </a:solidFill>
            <a:prstDash val="solid"/>
          </a:ln>
        </p:spPr>
      </p:sp>
      <p:sp>
        <p:nvSpPr>
          <p:cNvPr id="741948518" name="Text 34"/>
          <p:cNvSpPr/>
          <p:nvPr/>
        </p:nvSpPr>
        <p:spPr bwMode="auto">
          <a:xfrm>
            <a:off x="548640" y="3520440"/>
            <a:ext cx="1920240" cy="457200"/>
          </a:xfrm>
          <a:prstGeom prst="rect">
            <a:avLst/>
          </a:prstGeom>
          <a:noFill/>
          <a:ln/>
        </p:spPr>
        <p:txBody>
          <a:bodyPr wrap="square" lIns="73152" tIns="73152" rIns="73152" bIns="73152" rtlCol="0" anchor="ctr"/>
          <a:lstStyle/>
          <a:p>
            <a:pPr marL="0" indent="0" algn="l">
              <a:buNone/>
              <a:defRPr/>
            </a:pPr>
            <a:r>
              <a:rPr lang="en-US" sz="1200">
                <a:solidFill>
                  <a:srgbClr val="1B2A22"/>
                </a:solidFill>
                <a:latin typeface="Calibri"/>
                <a:ea typeface="Calibri"/>
                <a:cs typeface="Calibri"/>
              </a:rPr>
              <a:t>Pupuk Kandang</a:t>
            </a:r>
            <a:endParaRPr lang="en-US" sz="1200"/>
          </a:p>
        </p:txBody>
      </p:sp>
      <p:sp>
        <p:nvSpPr>
          <p:cNvPr id="2038130549" name="Shape 35"/>
          <p:cNvSpPr/>
          <p:nvPr/>
        </p:nvSpPr>
        <p:spPr bwMode="auto">
          <a:xfrm>
            <a:off x="2468880" y="3520440"/>
            <a:ext cx="82296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DEEE3"/>
            </a:solidFill>
            <a:prstDash val="solid"/>
          </a:ln>
        </p:spPr>
      </p:sp>
      <p:sp>
        <p:nvSpPr>
          <p:cNvPr id="2122701428" name="Text 36"/>
          <p:cNvSpPr/>
          <p:nvPr/>
        </p:nvSpPr>
        <p:spPr bwMode="auto">
          <a:xfrm>
            <a:off x="2468880" y="3520440"/>
            <a:ext cx="822960" cy="457200"/>
          </a:xfrm>
          <a:prstGeom prst="rect">
            <a:avLst/>
          </a:prstGeom>
          <a:noFill/>
          <a:ln/>
        </p:spPr>
        <p:txBody>
          <a:bodyPr wrap="square" lIns="73152" tIns="73152" rIns="73152" bIns="73152" rtlCol="0" anchor="ctr"/>
          <a:lstStyle/>
          <a:p>
            <a:pPr marL="0" indent="0" algn="ctr">
              <a:buNone/>
              <a:defRPr/>
            </a:pPr>
            <a:r>
              <a:rPr lang="en-US" sz="1200">
                <a:solidFill>
                  <a:srgbClr val="1B2A22"/>
                </a:solidFill>
                <a:latin typeface="Calibri"/>
                <a:ea typeface="Calibri"/>
                <a:cs typeface="Calibri"/>
              </a:rPr>
              <a:t>10</a:t>
            </a:r>
            <a:endParaRPr lang="en-US" sz="1200"/>
          </a:p>
        </p:txBody>
      </p:sp>
      <p:sp>
        <p:nvSpPr>
          <p:cNvPr id="1174879782" name="Shape 37"/>
          <p:cNvSpPr/>
          <p:nvPr/>
        </p:nvSpPr>
        <p:spPr bwMode="auto">
          <a:xfrm>
            <a:off x="3291840" y="3520440"/>
            <a:ext cx="137160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DEEE3"/>
            </a:solidFill>
            <a:prstDash val="solid"/>
          </a:ln>
        </p:spPr>
      </p:sp>
      <p:sp>
        <p:nvSpPr>
          <p:cNvPr id="322889241" name="Text 38"/>
          <p:cNvSpPr/>
          <p:nvPr/>
        </p:nvSpPr>
        <p:spPr bwMode="auto">
          <a:xfrm>
            <a:off x="3291840" y="3520440"/>
            <a:ext cx="1371600" cy="457200"/>
          </a:xfrm>
          <a:prstGeom prst="rect">
            <a:avLst/>
          </a:prstGeom>
          <a:noFill/>
          <a:ln/>
        </p:spPr>
        <p:txBody>
          <a:bodyPr wrap="square" lIns="73152" tIns="73152" rIns="73152" bIns="73152" rtlCol="0" anchor="ctr"/>
          <a:lstStyle/>
          <a:p>
            <a:pPr marL="0" indent="0" algn="ctr">
              <a:buNone/>
              <a:defRPr/>
            </a:pPr>
            <a:r>
              <a:rPr lang="en-US" sz="1200">
                <a:solidFill>
                  <a:srgbClr val="1B2A22"/>
                </a:solidFill>
                <a:latin typeface="Calibri"/>
                <a:ea typeface="Calibri"/>
                <a:cs typeface="Calibri"/>
              </a:rPr>
              <a:t>20.4 cm</a:t>
            </a:r>
            <a:endParaRPr lang="en-US" sz="1200"/>
          </a:p>
        </p:txBody>
      </p:sp>
      <p:sp>
        <p:nvSpPr>
          <p:cNvPr id="447632672" name="Shape 39"/>
          <p:cNvSpPr/>
          <p:nvPr/>
        </p:nvSpPr>
        <p:spPr bwMode="auto">
          <a:xfrm>
            <a:off x="4663440" y="3520440"/>
            <a:ext cx="91440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DEEE3"/>
            </a:solidFill>
            <a:prstDash val="solid"/>
          </a:ln>
        </p:spPr>
      </p:sp>
      <p:sp>
        <p:nvSpPr>
          <p:cNvPr id="1613953030" name="Text 40"/>
          <p:cNvSpPr/>
          <p:nvPr/>
        </p:nvSpPr>
        <p:spPr bwMode="auto">
          <a:xfrm>
            <a:off x="4663440" y="3520440"/>
            <a:ext cx="914400" cy="457200"/>
          </a:xfrm>
          <a:prstGeom prst="rect">
            <a:avLst/>
          </a:prstGeom>
          <a:noFill/>
          <a:ln/>
        </p:spPr>
        <p:txBody>
          <a:bodyPr wrap="square" lIns="73152" tIns="73152" rIns="73152" bIns="73152" rtlCol="0" anchor="ctr"/>
          <a:lstStyle/>
          <a:p>
            <a:pPr marL="0" indent="0" algn="ctr">
              <a:buNone/>
              <a:defRPr/>
            </a:pPr>
            <a:r>
              <a:rPr lang="en-US" sz="1200">
                <a:solidFill>
                  <a:srgbClr val="1B2A22"/>
                </a:solidFill>
                <a:latin typeface="Calibri"/>
                <a:ea typeface="Calibri"/>
                <a:cs typeface="Calibri"/>
              </a:rPr>
              <a:t>1.9</a:t>
            </a:r>
            <a:endParaRPr lang="en-US" sz="1200"/>
          </a:p>
        </p:txBody>
      </p:sp>
      <p:sp>
        <p:nvSpPr>
          <p:cNvPr id="1691881238" name="Shape 41"/>
          <p:cNvSpPr/>
          <p:nvPr/>
        </p:nvSpPr>
        <p:spPr bwMode="auto">
          <a:xfrm>
            <a:off x="5577840" y="3520440"/>
            <a:ext cx="91440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DEEE3"/>
            </a:solidFill>
            <a:prstDash val="solid"/>
          </a:ln>
        </p:spPr>
      </p:sp>
      <p:sp>
        <p:nvSpPr>
          <p:cNvPr id="1066850022" name="Text 42"/>
          <p:cNvSpPr/>
          <p:nvPr/>
        </p:nvSpPr>
        <p:spPr bwMode="auto">
          <a:xfrm>
            <a:off x="5577840" y="3520440"/>
            <a:ext cx="914400" cy="457200"/>
          </a:xfrm>
          <a:prstGeom prst="rect">
            <a:avLst/>
          </a:prstGeom>
          <a:noFill/>
          <a:ln/>
        </p:spPr>
        <p:txBody>
          <a:bodyPr wrap="square" lIns="73152" tIns="73152" rIns="73152" bIns="73152" rtlCol="0" anchor="ctr"/>
          <a:lstStyle/>
          <a:p>
            <a:pPr marL="0" indent="0" algn="ctr">
              <a:buNone/>
              <a:defRPr/>
            </a:pPr>
            <a:r>
              <a:rPr lang="en-US" sz="1200">
                <a:solidFill>
                  <a:srgbClr val="1B2A22"/>
                </a:solidFill>
                <a:latin typeface="Calibri"/>
                <a:ea typeface="Calibri"/>
                <a:cs typeface="Calibri"/>
              </a:rPr>
              <a:t>0.60</a:t>
            </a:r>
            <a:endParaRPr lang="en-US" sz="1200"/>
          </a:p>
        </p:txBody>
      </p:sp>
      <p:sp>
        <p:nvSpPr>
          <p:cNvPr id="1222559611" name="Text 43"/>
          <p:cNvSpPr/>
          <p:nvPr/>
        </p:nvSpPr>
        <p:spPr bwMode="auto">
          <a:xfrm>
            <a:off x="548640" y="4206240"/>
            <a:ext cx="5943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  <a:defRPr/>
            </a:pPr>
            <a:r>
              <a:rPr lang="en-US" sz="1200" i="1">
                <a:solidFill>
                  <a:srgbClr val="5C6B63"/>
                </a:solidFill>
                <a:latin typeface="Calibri"/>
                <a:ea typeface="Calibri"/>
                <a:cs typeface="Calibri"/>
              </a:rPr>
              <a:t>Galat baku (SE = SD/√n) menggambarkan presisi estimasi rata-rata — berguna untuk membuat error bar pada grafik.</a:t>
            </a:r>
            <a:endParaRPr lang="en-US" sz="1200"/>
          </a:p>
        </p:txBody>
      </p:sp>
      <p:sp>
        <p:nvSpPr>
          <p:cNvPr id="1704810956" name="Text 44"/>
          <p:cNvSpPr/>
          <p:nvPr/>
        </p:nvSpPr>
        <p:spPr bwMode="auto">
          <a:xfrm>
            <a:off x="6858000" y="169164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500" b="1">
                <a:solidFill>
                  <a:srgbClr val="1B4332"/>
                </a:solidFill>
                <a:latin typeface="Cambria"/>
                <a:ea typeface="Cambria"/>
                <a:cs typeface="Cambria"/>
              </a:rPr>
              <a:t>Sebaran Tinggi Tanaman per Perlakuan</a:t>
            </a:r>
            <a:endParaRPr lang="en-US" sz="1500"/>
          </a:p>
        </p:txBody>
      </p:sp>
      <p:graphicFrame>
        <p:nvGraphicFramePr>
          <p:cNvPr id="1827112036" name="Chart 0" descr=""/>
          <p:cNvGraphicFramePr>
            <a:graphicFrameLocks xmlns:a="http://schemas.openxmlformats.org/drawingml/2006/main"/>
          </p:cNvGraphicFramePr>
          <p:nvPr/>
        </p:nvGraphicFramePr>
        <p:xfrm rot="0">
          <a:off x="6766560" y="2103120"/>
          <a:ext cx="4846320" cy="32918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567026702" name="Text 45"/>
          <p:cNvSpPr/>
          <p:nvPr/>
        </p:nvSpPr>
        <p:spPr bwMode="auto">
          <a:xfrm>
            <a:off x="6766560" y="5486400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950" i="1">
                <a:solidFill>
                  <a:srgbClr val="5C6B63"/>
                </a:solidFill>
                <a:latin typeface="Calibri"/>
                <a:ea typeface="Calibri"/>
                <a:cs typeface="Calibri"/>
              </a:rPr>
              <a:t>* Angka ilustratif mengikuti alur boxplot + jitter pada modul (ggplot2)</a:t>
            </a:r>
            <a:endParaRPr lang="en-US" sz="950"/>
          </a:p>
        </p:txBody>
      </p:sp>
      <p:sp>
        <p:nvSpPr>
          <p:cNvPr id="809929972" name="Text 46"/>
          <p:cNvSpPr/>
          <p:nvPr/>
        </p:nvSpPr>
        <p:spPr bwMode="auto"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  <a:defRPr/>
            </a:pPr>
            <a:r>
              <a:rPr lang="en-US" sz="900">
                <a:solidFill>
                  <a:srgbClr val="5C6B63"/>
                </a:solidFill>
                <a:latin typeface="Calibri"/>
                <a:ea typeface="Calibri"/>
                <a:cs typeface="Calibri"/>
              </a:rPr>
              <a:t>RAL &amp; ANOVA Satu Arah — Biostatistika untuk Biologi</a:t>
            </a:r>
            <a:endParaRPr lang="en-US" sz="900"/>
          </a:p>
        </p:txBody>
      </p:sp>
      <p:sp>
        <p:nvSpPr>
          <p:cNvPr id="1260651003" name="Text 47"/>
          <p:cNvSpPr/>
          <p:nvPr/>
        </p:nvSpPr>
        <p:spPr bwMode="auto"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  <a:defRPr/>
            </a:pPr>
            <a:r>
              <a:rPr lang="en-US" sz="900">
                <a:solidFill>
                  <a:srgbClr val="5C6B63"/>
                </a:solidFill>
                <a:latin typeface="Calibri"/>
                <a:ea typeface="Calibri"/>
                <a:cs typeface="Calibri"/>
              </a:rPr>
              <a:t>8</a:t>
            </a:r>
            <a:endParaRPr lang="en-US" sz="9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9">
    <p:bg>
      <p:bgPr shadeToTitle="0">
        <a:solidFill>
          <a:srgbClr val="F7FAF7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68516003" name="Text 0"/>
          <p:cNvSpPr/>
          <p:nvPr/>
        </p:nvSpPr>
        <p:spPr bwMode="auto"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200" b="1" spc="200">
                <a:solidFill>
                  <a:srgbClr val="2D6A4F"/>
                </a:solidFill>
                <a:latin typeface="Calibri"/>
                <a:ea typeface="Calibri"/>
                <a:cs typeface="Calibri"/>
              </a:rPr>
              <a:t>1.4.4 · MODEL RAL</a:t>
            </a:r>
            <a:endParaRPr lang="en-US" sz="1200"/>
          </a:p>
        </p:txBody>
      </p:sp>
      <p:sp>
        <p:nvSpPr>
          <p:cNvPr id="1231617745" name="Text 1"/>
          <p:cNvSpPr/>
          <p:nvPr/>
        </p:nvSpPr>
        <p:spPr bwMode="auto">
          <a:xfrm>
            <a:off x="548640" y="658368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3000" b="1">
                <a:solidFill>
                  <a:srgbClr val="1B4332"/>
                </a:solidFill>
                <a:latin typeface="Cambria"/>
                <a:ea typeface="Cambria"/>
                <a:cs typeface="Cambria"/>
              </a:rPr>
              <a:t>Model ANOVA Satu Arah &amp; Tabel Hasil</a:t>
            </a:r>
            <a:endParaRPr lang="en-US" sz="3000"/>
          </a:p>
        </p:txBody>
      </p:sp>
      <p:sp>
        <p:nvSpPr>
          <p:cNvPr id="1739184015" name="Shape 2"/>
          <p:cNvSpPr/>
          <p:nvPr/>
        </p:nvSpPr>
        <p:spPr bwMode="auto">
          <a:xfrm>
            <a:off x="548640" y="1645920"/>
            <a:ext cx="11064240" cy="731520"/>
          </a:xfrm>
          <a:prstGeom prst="roundRect">
            <a:avLst>
              <a:gd name="adj" fmla="val 7500"/>
            </a:avLst>
          </a:prstGeom>
          <a:solidFill>
            <a:srgbClr val="24291F"/>
          </a:solidFill>
          <a:ln/>
        </p:spPr>
      </p:sp>
      <p:sp>
        <p:nvSpPr>
          <p:cNvPr id="22123800" name="Text 3"/>
          <p:cNvSpPr/>
          <p:nvPr/>
        </p:nvSpPr>
        <p:spPr bwMode="auto">
          <a:xfrm>
            <a:off x="777240" y="1645920"/>
            <a:ext cx="10607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350">
                <a:solidFill>
                  <a:srgbClr val="9FE6B0"/>
                </a:solidFill>
                <a:latin typeface="Courier New"/>
                <a:ea typeface="Courier New"/>
                <a:cs typeface="Courier New"/>
              </a:rPr>
              <a:t>model</a:t>
            </a:r>
            <a:r>
              <a:rPr lang="en-US" sz="1350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 &lt;- </a:t>
            </a:r>
            <a:r>
              <a:rPr lang="en-US" sz="1350" b="1">
                <a:solidFill>
                  <a:srgbClr val="F2C6A0"/>
                </a:solidFill>
                <a:latin typeface="Courier New"/>
                <a:ea typeface="Courier New"/>
                <a:cs typeface="Courier New"/>
              </a:rPr>
              <a:t>aov</a:t>
            </a:r>
            <a:r>
              <a:rPr lang="en-US" sz="1350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(tinggi_cm ~ perlakuan, data = data)   </a:t>
            </a:r>
            <a:r>
              <a:rPr lang="en-US" sz="1350" b="1">
                <a:solidFill>
                  <a:srgbClr val="F2C6A0"/>
                </a:solidFill>
                <a:latin typeface="Courier New"/>
                <a:ea typeface="Courier New"/>
                <a:cs typeface="Courier New"/>
              </a:rPr>
              <a:t>summary</a:t>
            </a:r>
            <a:r>
              <a:rPr lang="en-US" sz="1350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(model)</a:t>
            </a:r>
            <a:endParaRPr lang="en-US" sz="1350"/>
          </a:p>
        </p:txBody>
      </p:sp>
      <p:sp>
        <p:nvSpPr>
          <p:cNvPr id="83705888" name="Shape 4"/>
          <p:cNvSpPr/>
          <p:nvPr/>
        </p:nvSpPr>
        <p:spPr bwMode="auto">
          <a:xfrm>
            <a:off x="548640" y="2651760"/>
            <a:ext cx="2377440" cy="457200"/>
          </a:xfrm>
          <a:prstGeom prst="rect">
            <a:avLst/>
          </a:prstGeom>
          <a:solidFill>
            <a:srgbClr val="1B4332"/>
          </a:solidFill>
          <a:ln/>
        </p:spPr>
      </p:sp>
      <p:sp>
        <p:nvSpPr>
          <p:cNvPr id="937974606" name="Text 5"/>
          <p:cNvSpPr/>
          <p:nvPr/>
        </p:nvSpPr>
        <p:spPr bwMode="auto">
          <a:xfrm>
            <a:off x="548640" y="265176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2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Sumber</a:t>
            </a:r>
            <a:endParaRPr lang="en-US" sz="1250"/>
          </a:p>
        </p:txBody>
      </p:sp>
      <p:sp>
        <p:nvSpPr>
          <p:cNvPr id="631067135" name="Shape 6"/>
          <p:cNvSpPr/>
          <p:nvPr/>
        </p:nvSpPr>
        <p:spPr bwMode="auto">
          <a:xfrm>
            <a:off x="2926080" y="2651760"/>
            <a:ext cx="914400" cy="457200"/>
          </a:xfrm>
          <a:prstGeom prst="rect">
            <a:avLst/>
          </a:prstGeom>
          <a:solidFill>
            <a:srgbClr val="1B4332"/>
          </a:solidFill>
          <a:ln/>
        </p:spPr>
      </p:sp>
      <p:sp>
        <p:nvSpPr>
          <p:cNvPr id="1615084528" name="Text 7"/>
          <p:cNvSpPr/>
          <p:nvPr/>
        </p:nvSpPr>
        <p:spPr bwMode="auto">
          <a:xfrm>
            <a:off x="2926080" y="265176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2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Df</a:t>
            </a:r>
            <a:endParaRPr lang="en-US" sz="1250"/>
          </a:p>
        </p:txBody>
      </p:sp>
      <p:sp>
        <p:nvSpPr>
          <p:cNvPr id="1796084519" name="Shape 8"/>
          <p:cNvSpPr/>
          <p:nvPr/>
        </p:nvSpPr>
        <p:spPr bwMode="auto">
          <a:xfrm>
            <a:off x="3840480" y="2651760"/>
            <a:ext cx="1645920" cy="457200"/>
          </a:xfrm>
          <a:prstGeom prst="rect">
            <a:avLst/>
          </a:prstGeom>
          <a:solidFill>
            <a:srgbClr val="1B4332"/>
          </a:solidFill>
          <a:ln/>
        </p:spPr>
      </p:sp>
      <p:sp>
        <p:nvSpPr>
          <p:cNvPr id="1828792848" name="Text 9"/>
          <p:cNvSpPr/>
          <p:nvPr/>
        </p:nvSpPr>
        <p:spPr bwMode="auto">
          <a:xfrm>
            <a:off x="3840480" y="26517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2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Sum Sq</a:t>
            </a:r>
            <a:endParaRPr lang="en-US" sz="1250"/>
          </a:p>
        </p:txBody>
      </p:sp>
      <p:sp>
        <p:nvSpPr>
          <p:cNvPr id="1645477425" name="Shape 10"/>
          <p:cNvSpPr/>
          <p:nvPr/>
        </p:nvSpPr>
        <p:spPr bwMode="auto">
          <a:xfrm>
            <a:off x="5486400" y="2651760"/>
            <a:ext cx="1645920" cy="457200"/>
          </a:xfrm>
          <a:prstGeom prst="rect">
            <a:avLst/>
          </a:prstGeom>
          <a:solidFill>
            <a:srgbClr val="1B4332"/>
          </a:solidFill>
          <a:ln/>
        </p:spPr>
      </p:sp>
      <p:sp>
        <p:nvSpPr>
          <p:cNvPr id="1785992741" name="Text 11"/>
          <p:cNvSpPr/>
          <p:nvPr/>
        </p:nvSpPr>
        <p:spPr bwMode="auto">
          <a:xfrm>
            <a:off x="5486400" y="26517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2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Mean Sq</a:t>
            </a:r>
            <a:endParaRPr lang="en-US" sz="1250"/>
          </a:p>
        </p:txBody>
      </p:sp>
      <p:sp>
        <p:nvSpPr>
          <p:cNvPr id="224198629" name="Shape 12"/>
          <p:cNvSpPr/>
          <p:nvPr/>
        </p:nvSpPr>
        <p:spPr bwMode="auto">
          <a:xfrm>
            <a:off x="7132320" y="2651760"/>
            <a:ext cx="1463040" cy="457200"/>
          </a:xfrm>
          <a:prstGeom prst="rect">
            <a:avLst/>
          </a:prstGeom>
          <a:solidFill>
            <a:srgbClr val="1B4332"/>
          </a:solidFill>
          <a:ln/>
        </p:spPr>
      </p:sp>
      <p:sp>
        <p:nvSpPr>
          <p:cNvPr id="1328876354" name="Text 13"/>
          <p:cNvSpPr/>
          <p:nvPr/>
        </p:nvSpPr>
        <p:spPr bwMode="auto">
          <a:xfrm>
            <a:off x="7132320" y="265176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2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F value</a:t>
            </a:r>
            <a:endParaRPr lang="en-US" sz="1250"/>
          </a:p>
        </p:txBody>
      </p:sp>
      <p:sp>
        <p:nvSpPr>
          <p:cNvPr id="970773175" name="Shape 14"/>
          <p:cNvSpPr/>
          <p:nvPr/>
        </p:nvSpPr>
        <p:spPr bwMode="auto">
          <a:xfrm>
            <a:off x="8595360" y="2651760"/>
            <a:ext cx="1554480" cy="457200"/>
          </a:xfrm>
          <a:prstGeom prst="rect">
            <a:avLst/>
          </a:prstGeom>
          <a:solidFill>
            <a:srgbClr val="1B4332"/>
          </a:solidFill>
          <a:ln/>
        </p:spPr>
      </p:sp>
      <p:sp>
        <p:nvSpPr>
          <p:cNvPr id="1119343367" name="Text 15"/>
          <p:cNvSpPr/>
          <p:nvPr/>
        </p:nvSpPr>
        <p:spPr bwMode="auto">
          <a:xfrm>
            <a:off x="8595360" y="265176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2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Pr(&gt;F)</a:t>
            </a:r>
            <a:endParaRPr lang="en-US" sz="1250"/>
          </a:p>
        </p:txBody>
      </p:sp>
      <p:sp>
        <p:nvSpPr>
          <p:cNvPr id="2083450604" name="Shape 16"/>
          <p:cNvSpPr/>
          <p:nvPr/>
        </p:nvSpPr>
        <p:spPr bwMode="auto">
          <a:xfrm>
            <a:off x="548640" y="3108960"/>
            <a:ext cx="2377440" cy="502920"/>
          </a:xfrm>
          <a:prstGeom prst="rect">
            <a:avLst/>
          </a:prstGeom>
          <a:solidFill>
            <a:srgbClr val="D8F3DC"/>
          </a:solidFill>
          <a:ln w="9525">
            <a:solidFill>
              <a:srgbClr val="DDEEE3"/>
            </a:solidFill>
            <a:prstDash val="solid"/>
          </a:ln>
        </p:spPr>
      </p:sp>
      <p:sp>
        <p:nvSpPr>
          <p:cNvPr id="365409907" name="Text 17"/>
          <p:cNvSpPr/>
          <p:nvPr/>
        </p:nvSpPr>
        <p:spPr bwMode="auto">
          <a:xfrm>
            <a:off x="548640" y="3108960"/>
            <a:ext cx="2377440" cy="50292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ctr"/>
          <a:lstStyle/>
          <a:p>
            <a:pPr marL="0" indent="0" algn="l">
              <a:buNone/>
              <a:defRPr/>
            </a:pPr>
            <a:r>
              <a:rPr lang="en-US" sz="1250">
                <a:solidFill>
                  <a:srgbClr val="1B2A22"/>
                </a:solidFill>
                <a:latin typeface="Calibri"/>
                <a:ea typeface="Calibri"/>
                <a:cs typeface="Calibri"/>
              </a:rPr>
              <a:t>perlakuan</a:t>
            </a:r>
            <a:endParaRPr lang="en-US" sz="1250"/>
          </a:p>
        </p:txBody>
      </p:sp>
      <p:sp>
        <p:nvSpPr>
          <p:cNvPr id="1519791387" name="Shape 18"/>
          <p:cNvSpPr/>
          <p:nvPr/>
        </p:nvSpPr>
        <p:spPr bwMode="auto">
          <a:xfrm>
            <a:off x="2926080" y="3108960"/>
            <a:ext cx="914400" cy="502920"/>
          </a:xfrm>
          <a:prstGeom prst="rect">
            <a:avLst/>
          </a:prstGeom>
          <a:solidFill>
            <a:srgbClr val="D8F3DC"/>
          </a:solidFill>
          <a:ln w="9525">
            <a:solidFill>
              <a:srgbClr val="DDEEE3"/>
            </a:solidFill>
            <a:prstDash val="solid"/>
          </a:ln>
        </p:spPr>
      </p:sp>
      <p:sp>
        <p:nvSpPr>
          <p:cNvPr id="233817569" name="Text 19"/>
          <p:cNvSpPr/>
          <p:nvPr/>
        </p:nvSpPr>
        <p:spPr bwMode="auto">
          <a:xfrm>
            <a:off x="2926080" y="3108960"/>
            <a:ext cx="914400" cy="50292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ctr"/>
          <a:lstStyle/>
          <a:p>
            <a:pPr marL="0" indent="0" algn="ctr">
              <a:buNone/>
              <a:defRPr/>
            </a:pPr>
            <a:r>
              <a:rPr lang="en-US" sz="1250">
                <a:solidFill>
                  <a:srgbClr val="1B2A22"/>
                </a:solidFill>
                <a:latin typeface="Calibri"/>
                <a:ea typeface="Calibri"/>
                <a:cs typeface="Calibri"/>
              </a:rPr>
              <a:t>2</a:t>
            </a:r>
            <a:endParaRPr lang="en-US" sz="1250"/>
          </a:p>
        </p:txBody>
      </p:sp>
      <p:sp>
        <p:nvSpPr>
          <p:cNvPr id="1348799938" name="Shape 20"/>
          <p:cNvSpPr/>
          <p:nvPr/>
        </p:nvSpPr>
        <p:spPr bwMode="auto">
          <a:xfrm>
            <a:off x="3840480" y="3108960"/>
            <a:ext cx="1645920" cy="502920"/>
          </a:xfrm>
          <a:prstGeom prst="rect">
            <a:avLst/>
          </a:prstGeom>
          <a:solidFill>
            <a:srgbClr val="D8F3DC"/>
          </a:solidFill>
          <a:ln w="9525">
            <a:solidFill>
              <a:srgbClr val="DDEEE3"/>
            </a:solidFill>
            <a:prstDash val="solid"/>
          </a:ln>
        </p:spPr>
      </p:sp>
      <p:sp>
        <p:nvSpPr>
          <p:cNvPr id="380648876" name="Text 21"/>
          <p:cNvSpPr/>
          <p:nvPr/>
        </p:nvSpPr>
        <p:spPr bwMode="auto">
          <a:xfrm>
            <a:off x="3840480" y="3108960"/>
            <a:ext cx="1645920" cy="50292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ctr"/>
          <a:lstStyle/>
          <a:p>
            <a:pPr marL="0" indent="0" algn="ctr">
              <a:buNone/>
              <a:defRPr/>
            </a:pPr>
            <a:r>
              <a:rPr lang="en-US" sz="1250">
                <a:solidFill>
                  <a:srgbClr val="1B2A22"/>
                </a:solidFill>
                <a:latin typeface="Calibri"/>
                <a:ea typeface="Calibri"/>
                <a:cs typeface="Calibri"/>
              </a:rPr>
              <a:t>142.6</a:t>
            </a:r>
            <a:endParaRPr lang="en-US" sz="1250"/>
          </a:p>
        </p:txBody>
      </p:sp>
      <p:sp>
        <p:nvSpPr>
          <p:cNvPr id="1452640721" name="Shape 22"/>
          <p:cNvSpPr/>
          <p:nvPr/>
        </p:nvSpPr>
        <p:spPr bwMode="auto">
          <a:xfrm>
            <a:off x="5486400" y="3108960"/>
            <a:ext cx="1645920" cy="502920"/>
          </a:xfrm>
          <a:prstGeom prst="rect">
            <a:avLst/>
          </a:prstGeom>
          <a:solidFill>
            <a:srgbClr val="D8F3DC"/>
          </a:solidFill>
          <a:ln w="9525">
            <a:solidFill>
              <a:srgbClr val="DDEEE3"/>
            </a:solidFill>
            <a:prstDash val="solid"/>
          </a:ln>
        </p:spPr>
      </p:sp>
      <p:sp>
        <p:nvSpPr>
          <p:cNvPr id="109590616" name="Text 23"/>
          <p:cNvSpPr/>
          <p:nvPr/>
        </p:nvSpPr>
        <p:spPr bwMode="auto">
          <a:xfrm>
            <a:off x="5486400" y="3108960"/>
            <a:ext cx="1645920" cy="50292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ctr"/>
          <a:lstStyle/>
          <a:p>
            <a:pPr marL="0" indent="0" algn="ctr">
              <a:buNone/>
              <a:defRPr/>
            </a:pPr>
            <a:r>
              <a:rPr lang="en-US" sz="1250">
                <a:solidFill>
                  <a:srgbClr val="1B2A22"/>
                </a:solidFill>
                <a:latin typeface="Calibri"/>
                <a:ea typeface="Calibri"/>
                <a:cs typeface="Calibri"/>
              </a:rPr>
              <a:t>71.30</a:t>
            </a:r>
            <a:endParaRPr lang="en-US" sz="1250"/>
          </a:p>
        </p:txBody>
      </p:sp>
      <p:sp>
        <p:nvSpPr>
          <p:cNvPr id="1708126430" name="Shape 24"/>
          <p:cNvSpPr/>
          <p:nvPr/>
        </p:nvSpPr>
        <p:spPr bwMode="auto">
          <a:xfrm>
            <a:off x="7132320" y="3108960"/>
            <a:ext cx="1463040" cy="502920"/>
          </a:xfrm>
          <a:prstGeom prst="rect">
            <a:avLst/>
          </a:prstGeom>
          <a:solidFill>
            <a:srgbClr val="D8F3DC"/>
          </a:solidFill>
          <a:ln w="9525">
            <a:solidFill>
              <a:srgbClr val="DDEEE3"/>
            </a:solidFill>
            <a:prstDash val="solid"/>
          </a:ln>
        </p:spPr>
      </p:sp>
      <p:sp>
        <p:nvSpPr>
          <p:cNvPr id="1523181304" name="Text 25"/>
          <p:cNvSpPr/>
          <p:nvPr/>
        </p:nvSpPr>
        <p:spPr bwMode="auto">
          <a:xfrm>
            <a:off x="7132320" y="3108960"/>
            <a:ext cx="1463040" cy="50292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ctr"/>
          <a:lstStyle/>
          <a:p>
            <a:pPr marL="0" indent="0" algn="ctr">
              <a:buNone/>
              <a:defRPr/>
            </a:pPr>
            <a:r>
              <a:rPr lang="en-US" sz="1250">
                <a:solidFill>
                  <a:srgbClr val="1B2A22"/>
                </a:solidFill>
                <a:latin typeface="Calibri"/>
                <a:ea typeface="Calibri"/>
                <a:cs typeface="Calibri"/>
              </a:rPr>
              <a:t>18.94</a:t>
            </a:r>
            <a:endParaRPr lang="en-US" sz="1250"/>
          </a:p>
        </p:txBody>
      </p:sp>
      <p:sp>
        <p:nvSpPr>
          <p:cNvPr id="2004871484" name="Shape 26"/>
          <p:cNvSpPr/>
          <p:nvPr/>
        </p:nvSpPr>
        <p:spPr bwMode="auto">
          <a:xfrm>
            <a:off x="8595360" y="3108960"/>
            <a:ext cx="1554480" cy="502920"/>
          </a:xfrm>
          <a:prstGeom prst="rect">
            <a:avLst/>
          </a:prstGeom>
          <a:solidFill>
            <a:srgbClr val="FBEAE3"/>
          </a:solidFill>
          <a:ln w="9525">
            <a:solidFill>
              <a:srgbClr val="DDEEE3"/>
            </a:solidFill>
            <a:prstDash val="solid"/>
          </a:ln>
        </p:spPr>
      </p:sp>
      <p:sp>
        <p:nvSpPr>
          <p:cNvPr id="169594024" name="Text 27"/>
          <p:cNvSpPr/>
          <p:nvPr/>
        </p:nvSpPr>
        <p:spPr bwMode="auto">
          <a:xfrm>
            <a:off x="8595360" y="3108960"/>
            <a:ext cx="1554480" cy="50292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ctr"/>
          <a:lstStyle/>
          <a:p>
            <a:pPr marL="0" indent="0" algn="ctr">
              <a:buNone/>
              <a:defRPr/>
            </a:pPr>
            <a:r>
              <a:rPr lang="en-US" sz="1250" b="1">
                <a:solidFill>
                  <a:srgbClr val="E07A5F"/>
                </a:solidFill>
                <a:latin typeface="Calibri"/>
                <a:ea typeface="Calibri"/>
                <a:cs typeface="Calibri"/>
              </a:rPr>
              <a:t>0.0000</a:t>
            </a:r>
            <a:endParaRPr lang="en-US" sz="1250"/>
          </a:p>
        </p:txBody>
      </p:sp>
      <p:sp>
        <p:nvSpPr>
          <p:cNvPr id="1055681335" name="Shape 28"/>
          <p:cNvSpPr/>
          <p:nvPr/>
        </p:nvSpPr>
        <p:spPr bwMode="auto">
          <a:xfrm>
            <a:off x="548640" y="3611880"/>
            <a:ext cx="2377440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DDEEE3"/>
            </a:solidFill>
            <a:prstDash val="solid"/>
          </a:ln>
        </p:spPr>
      </p:sp>
      <p:sp>
        <p:nvSpPr>
          <p:cNvPr id="878613029" name="Text 29"/>
          <p:cNvSpPr/>
          <p:nvPr/>
        </p:nvSpPr>
        <p:spPr bwMode="auto">
          <a:xfrm>
            <a:off x="548640" y="3611880"/>
            <a:ext cx="2377440" cy="50292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ctr"/>
          <a:lstStyle/>
          <a:p>
            <a:pPr marL="0" indent="0" algn="l">
              <a:buNone/>
              <a:defRPr/>
            </a:pPr>
            <a:r>
              <a:rPr lang="en-US" sz="1250">
                <a:solidFill>
                  <a:srgbClr val="1B2A22"/>
                </a:solidFill>
                <a:latin typeface="Calibri"/>
                <a:ea typeface="Calibri"/>
                <a:cs typeface="Calibri"/>
              </a:rPr>
              <a:t>Residuals</a:t>
            </a:r>
            <a:endParaRPr lang="en-US" sz="1250"/>
          </a:p>
        </p:txBody>
      </p:sp>
      <p:sp>
        <p:nvSpPr>
          <p:cNvPr id="1471139980" name="Shape 30"/>
          <p:cNvSpPr/>
          <p:nvPr/>
        </p:nvSpPr>
        <p:spPr bwMode="auto">
          <a:xfrm>
            <a:off x="2926080" y="3611880"/>
            <a:ext cx="914400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DDEEE3"/>
            </a:solidFill>
            <a:prstDash val="solid"/>
          </a:ln>
        </p:spPr>
      </p:sp>
      <p:sp>
        <p:nvSpPr>
          <p:cNvPr id="520259558" name="Text 31"/>
          <p:cNvSpPr/>
          <p:nvPr/>
        </p:nvSpPr>
        <p:spPr bwMode="auto">
          <a:xfrm>
            <a:off x="2926080" y="3611880"/>
            <a:ext cx="914400" cy="50292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ctr"/>
          <a:lstStyle/>
          <a:p>
            <a:pPr marL="0" indent="0" algn="ctr">
              <a:buNone/>
              <a:defRPr/>
            </a:pPr>
            <a:r>
              <a:rPr lang="en-US" sz="1250">
                <a:solidFill>
                  <a:srgbClr val="1B2A22"/>
                </a:solidFill>
                <a:latin typeface="Calibri"/>
                <a:ea typeface="Calibri"/>
                <a:cs typeface="Calibri"/>
              </a:rPr>
              <a:t>27</a:t>
            </a:r>
            <a:endParaRPr lang="en-US" sz="1250"/>
          </a:p>
        </p:txBody>
      </p:sp>
      <p:sp>
        <p:nvSpPr>
          <p:cNvPr id="1158208645" name="Shape 32"/>
          <p:cNvSpPr/>
          <p:nvPr/>
        </p:nvSpPr>
        <p:spPr bwMode="auto">
          <a:xfrm>
            <a:off x="3840480" y="3611880"/>
            <a:ext cx="1645920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DDEEE3"/>
            </a:solidFill>
            <a:prstDash val="solid"/>
          </a:ln>
        </p:spPr>
      </p:sp>
      <p:sp>
        <p:nvSpPr>
          <p:cNvPr id="487500690" name="Text 33"/>
          <p:cNvSpPr/>
          <p:nvPr/>
        </p:nvSpPr>
        <p:spPr bwMode="auto">
          <a:xfrm>
            <a:off x="3840480" y="3611880"/>
            <a:ext cx="1645920" cy="50292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ctr"/>
          <a:lstStyle/>
          <a:p>
            <a:pPr marL="0" indent="0" algn="ctr">
              <a:buNone/>
              <a:defRPr/>
            </a:pPr>
            <a:r>
              <a:rPr lang="en-US" sz="1250">
                <a:solidFill>
                  <a:srgbClr val="1B2A22"/>
                </a:solidFill>
                <a:latin typeface="Calibri"/>
                <a:ea typeface="Calibri"/>
                <a:cs typeface="Calibri"/>
              </a:rPr>
              <a:t>101.6</a:t>
            </a:r>
            <a:endParaRPr lang="en-US" sz="1250"/>
          </a:p>
        </p:txBody>
      </p:sp>
      <p:sp>
        <p:nvSpPr>
          <p:cNvPr id="28130423" name="Shape 34"/>
          <p:cNvSpPr/>
          <p:nvPr/>
        </p:nvSpPr>
        <p:spPr bwMode="auto">
          <a:xfrm>
            <a:off x="5486400" y="3611880"/>
            <a:ext cx="1645920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DDEEE3"/>
            </a:solidFill>
            <a:prstDash val="solid"/>
          </a:ln>
        </p:spPr>
      </p:sp>
      <p:sp>
        <p:nvSpPr>
          <p:cNvPr id="1695221488" name="Text 35"/>
          <p:cNvSpPr/>
          <p:nvPr/>
        </p:nvSpPr>
        <p:spPr bwMode="auto">
          <a:xfrm>
            <a:off x="5486400" y="3611880"/>
            <a:ext cx="1645920" cy="50292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ctr"/>
          <a:lstStyle/>
          <a:p>
            <a:pPr marL="0" indent="0" algn="ctr">
              <a:buNone/>
              <a:defRPr/>
            </a:pPr>
            <a:r>
              <a:rPr lang="en-US" sz="1250">
                <a:solidFill>
                  <a:srgbClr val="1B2A22"/>
                </a:solidFill>
                <a:latin typeface="Calibri"/>
                <a:ea typeface="Calibri"/>
                <a:cs typeface="Calibri"/>
              </a:rPr>
              <a:t>3.76</a:t>
            </a:r>
            <a:endParaRPr lang="en-US" sz="1250"/>
          </a:p>
        </p:txBody>
      </p:sp>
      <p:sp>
        <p:nvSpPr>
          <p:cNvPr id="746453317" name="Shape 36"/>
          <p:cNvSpPr/>
          <p:nvPr/>
        </p:nvSpPr>
        <p:spPr bwMode="auto">
          <a:xfrm>
            <a:off x="7132320" y="3611880"/>
            <a:ext cx="1463040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DDEEE3"/>
            </a:solidFill>
            <a:prstDash val="solid"/>
          </a:ln>
        </p:spPr>
      </p:sp>
      <p:sp>
        <p:nvSpPr>
          <p:cNvPr id="1916211840" name="Text 37"/>
          <p:cNvSpPr/>
          <p:nvPr/>
        </p:nvSpPr>
        <p:spPr bwMode="auto">
          <a:xfrm>
            <a:off x="7132320" y="3611880"/>
            <a:ext cx="1463040" cy="50292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ctr"/>
          <a:lstStyle/>
          <a:p>
            <a:pPr marL="0" indent="0" algn="ctr">
              <a:buNone/>
              <a:defRPr/>
            </a:pPr>
            <a:endParaRPr lang="en-US" sz="1250"/>
          </a:p>
        </p:txBody>
      </p:sp>
      <p:sp>
        <p:nvSpPr>
          <p:cNvPr id="967554352" name="Shape 38"/>
          <p:cNvSpPr/>
          <p:nvPr/>
        </p:nvSpPr>
        <p:spPr bwMode="auto">
          <a:xfrm>
            <a:off x="8595360" y="3611880"/>
            <a:ext cx="1554480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DDEEE3"/>
            </a:solidFill>
            <a:prstDash val="solid"/>
          </a:ln>
        </p:spPr>
      </p:sp>
      <p:sp>
        <p:nvSpPr>
          <p:cNvPr id="217998461" name="Text 39"/>
          <p:cNvSpPr/>
          <p:nvPr/>
        </p:nvSpPr>
        <p:spPr bwMode="auto">
          <a:xfrm>
            <a:off x="8595360" y="3611880"/>
            <a:ext cx="1554480" cy="50292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ctr"/>
          <a:lstStyle/>
          <a:p>
            <a:pPr marL="0" indent="0" algn="ctr">
              <a:buNone/>
              <a:defRPr/>
            </a:pPr>
            <a:endParaRPr lang="en-US" sz="1250"/>
          </a:p>
        </p:txBody>
      </p:sp>
      <p:sp>
        <p:nvSpPr>
          <p:cNvPr id="145300860" name="Shape 40"/>
          <p:cNvSpPr/>
          <p:nvPr/>
        </p:nvSpPr>
        <p:spPr bwMode="auto">
          <a:xfrm>
            <a:off x="548640" y="4434840"/>
            <a:ext cx="11064240" cy="1188720"/>
          </a:xfrm>
          <a:prstGeom prst="roundRect">
            <a:avLst>
              <a:gd name="adj" fmla="val 6154"/>
            </a:avLst>
          </a:prstGeom>
          <a:solidFill>
            <a:srgbClr val="D8F3DC"/>
          </a:solidFill>
          <a:ln/>
        </p:spPr>
      </p:sp>
      <p:sp>
        <p:nvSpPr>
          <p:cNvPr id="310387350" name="Text 41"/>
          <p:cNvSpPr/>
          <p:nvPr/>
        </p:nvSpPr>
        <p:spPr bwMode="auto">
          <a:xfrm>
            <a:off x="822960" y="457200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  <a:defRPr/>
            </a:pPr>
            <a:r>
              <a:rPr lang="en-US" sz="1300" b="1">
                <a:solidFill>
                  <a:srgbClr val="1B4332"/>
                </a:solidFill>
                <a:latin typeface="Calibri"/>
                <a:ea typeface="Calibri"/>
                <a:cs typeface="Calibri"/>
              </a:rPr>
              <a:t>Interpretasi:  </a:t>
            </a:r>
            <a:r>
              <a:rPr lang="en-US" sz="1300">
                <a:solidFill>
                  <a:srgbClr val="1B2A22"/>
                </a:solidFill>
                <a:latin typeface="Calibri"/>
                <a:ea typeface="Calibri"/>
                <a:cs typeface="Calibri"/>
              </a:rPr>
              <a:t>Pr(&gt;F) = 0.0000 &lt; 0.05  →  </a:t>
            </a:r>
            <a:r>
              <a:rPr lang="en-US" sz="1300" b="1">
                <a:solidFill>
                  <a:srgbClr val="E07A5F"/>
                </a:solidFill>
                <a:latin typeface="Calibri"/>
                <a:ea typeface="Calibri"/>
                <a:cs typeface="Calibri"/>
              </a:rPr>
              <a:t>H₀ ditolak.</a:t>
            </a:r>
            <a:r>
              <a:rPr lang="en-US" sz="1300">
                <a:solidFill>
                  <a:srgbClr val="1B2A22"/>
                </a:solidFill>
                <a:latin typeface="Calibri"/>
                <a:ea typeface="Calibri"/>
                <a:cs typeface="Calibri"/>
              </a:rPr>
              <a:t> Minimal ada satu pasang perlakuan dengan rata-rata tinggi bibit yang berbeda signifikan. Namun ANOVA belum menunjukkan pasangan mana yang berbeda — perlu uji lanjut.</a:t>
            </a:r>
            <a:endParaRPr lang="en-US" sz="1300"/>
          </a:p>
        </p:txBody>
      </p:sp>
      <p:sp>
        <p:nvSpPr>
          <p:cNvPr id="798471055" name="Text 42"/>
          <p:cNvSpPr/>
          <p:nvPr/>
        </p:nvSpPr>
        <p:spPr bwMode="auto"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  <a:defRPr/>
            </a:pPr>
            <a:r>
              <a:rPr lang="en-US" sz="900">
                <a:solidFill>
                  <a:srgbClr val="5C6B63"/>
                </a:solidFill>
                <a:latin typeface="Calibri"/>
                <a:ea typeface="Calibri"/>
                <a:cs typeface="Calibri"/>
              </a:rPr>
              <a:t>RAL &amp; ANOVA Satu Arah — Biostatistika untuk Biologi</a:t>
            </a:r>
            <a:endParaRPr lang="en-US" sz="900"/>
          </a:p>
        </p:txBody>
      </p:sp>
      <p:sp>
        <p:nvSpPr>
          <p:cNvPr id="648551043" name="Text 43"/>
          <p:cNvSpPr/>
          <p:nvPr/>
        </p:nvSpPr>
        <p:spPr bwMode="auto"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  <a:defRPr/>
            </a:pPr>
            <a:r>
              <a:rPr lang="en-US" sz="900">
                <a:solidFill>
                  <a:srgbClr val="5C6B63"/>
                </a:solidFill>
                <a:latin typeface="Calibri"/>
                <a:ea typeface="Calibri"/>
                <a:cs typeface="Calibri"/>
              </a:rPr>
              <a:t>9</a:t>
            </a:r>
            <a:endParaRPr lang="en-US" sz="9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10">
    <p:bg>
      <p:bgPr shadeToTitle="0">
        <a:solidFill>
          <a:srgbClr val="F7FAF7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5353870" name="Text 0"/>
          <p:cNvSpPr/>
          <p:nvPr/>
        </p:nvSpPr>
        <p:spPr bwMode="auto"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200" b="1" spc="200">
                <a:solidFill>
                  <a:srgbClr val="2D6A4F"/>
                </a:solidFill>
                <a:latin typeface="Calibri"/>
                <a:ea typeface="Calibri"/>
                <a:cs typeface="Calibri"/>
              </a:rPr>
              <a:t>1.4.5 · UJI LANJUT</a:t>
            </a:r>
            <a:endParaRPr lang="en-US" sz="1200"/>
          </a:p>
        </p:txBody>
      </p:sp>
      <p:sp>
        <p:nvSpPr>
          <p:cNvPr id="1926815889" name="Text 1"/>
          <p:cNvSpPr/>
          <p:nvPr/>
        </p:nvSpPr>
        <p:spPr bwMode="auto">
          <a:xfrm>
            <a:off x="548640" y="658368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3000" b="1">
                <a:solidFill>
                  <a:srgbClr val="1B4332"/>
                </a:solidFill>
                <a:latin typeface="Cambria"/>
                <a:ea typeface="Cambria"/>
                <a:cs typeface="Cambria"/>
              </a:rPr>
              <a:t>Tukey HSD (Honestly Significant Difference)</a:t>
            </a:r>
            <a:endParaRPr lang="en-US" sz="3000"/>
          </a:p>
        </p:txBody>
      </p:sp>
      <p:sp>
        <p:nvSpPr>
          <p:cNvPr id="403593267" name="Shape 2"/>
          <p:cNvSpPr/>
          <p:nvPr/>
        </p:nvSpPr>
        <p:spPr bwMode="auto">
          <a:xfrm>
            <a:off x="548640" y="1783080"/>
            <a:ext cx="731520" cy="731520"/>
          </a:xfrm>
          <a:prstGeom prst="ellipse">
            <a:avLst/>
          </a:prstGeom>
          <a:solidFill>
            <a:srgbClr val="2D6A4F"/>
          </a:solidFill>
          <a:ln/>
        </p:spPr>
      </p:sp>
      <p:pic>
        <p:nvPicPr>
          <p:cNvPr id="878808846" name="Image 0" descr="scale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643738" y="1878178"/>
            <a:ext cx="541325" cy="541325"/>
          </a:xfrm>
          <a:prstGeom prst="rect">
            <a:avLst/>
          </a:prstGeom>
        </p:spPr>
      </p:pic>
      <p:sp>
        <p:nvSpPr>
          <p:cNvPr id="1724496216" name="Text 3"/>
          <p:cNvSpPr/>
          <p:nvPr/>
        </p:nvSpPr>
        <p:spPr bwMode="auto">
          <a:xfrm>
            <a:off x="1508759" y="178308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  <a:defRPr/>
            </a:pPr>
            <a:r>
              <a:rPr lang="en-US" sz="1400">
                <a:solidFill>
                  <a:srgbClr val="1B2A22"/>
                </a:solidFill>
                <a:latin typeface="Calibri"/>
                <a:ea typeface="Calibri"/>
                <a:cs typeface="Calibri"/>
              </a:rPr>
              <a:t>ANOVA hanya menjawab </a:t>
            </a:r>
            <a:r>
              <a:rPr lang="en-US" sz="1400" b="1" i="1">
                <a:solidFill>
                  <a:srgbClr val="1B2A22"/>
                </a:solidFill>
                <a:latin typeface="Calibri"/>
                <a:ea typeface="Calibri"/>
                <a:cs typeface="Calibri"/>
              </a:rPr>
              <a:t>apakah</a:t>
            </a:r>
            <a:r>
              <a:rPr lang="en-US" sz="1400">
                <a:solidFill>
                  <a:srgbClr val="1B2A22"/>
                </a:solidFill>
                <a:latin typeface="Calibri"/>
                <a:ea typeface="Calibri"/>
                <a:cs typeface="Calibri"/>
              </a:rPr>
              <a:t> ada perbedaan — bukan </a:t>
            </a:r>
            <a:r>
              <a:rPr lang="en-US" sz="1400" b="1" i="1">
                <a:solidFill>
                  <a:srgbClr val="1B2A22"/>
                </a:solidFill>
                <a:latin typeface="Calibri"/>
                <a:ea typeface="Calibri"/>
                <a:cs typeface="Calibri"/>
              </a:rPr>
              <a:t>di mana</a:t>
            </a:r>
            <a:r>
              <a:rPr lang="en-US" sz="1400">
                <a:solidFill>
                  <a:srgbClr val="1B2A22"/>
                </a:solidFill>
                <a:latin typeface="Calibri"/>
                <a:ea typeface="Calibri"/>
                <a:cs typeface="Calibri"/>
              </a:rPr>
              <a:t> letak perbedaan itu. Tukey HSD membandingkan </a:t>
            </a:r>
            <a:r>
              <a:rPr lang="en-US" sz="1400" b="1">
                <a:solidFill>
                  <a:srgbClr val="1B4332"/>
                </a:solidFill>
                <a:latin typeface="Calibri"/>
                <a:ea typeface="Calibri"/>
                <a:cs typeface="Calibri"/>
              </a:rPr>
              <a:t>semua pasangan perlakuan sekaligus</a:t>
            </a:r>
            <a:r>
              <a:rPr lang="en-US" sz="1400">
                <a:solidFill>
                  <a:srgbClr val="1B2A22"/>
                </a:solidFill>
                <a:latin typeface="Calibri"/>
                <a:ea typeface="Calibri"/>
                <a:cs typeface="Calibri"/>
              </a:rPr>
              <a:t> sambil mengontrol risiko kesalahan akibat perbandingan berganda.</a:t>
            </a:r>
            <a:endParaRPr lang="en-US" sz="1400"/>
          </a:p>
        </p:txBody>
      </p:sp>
      <p:sp>
        <p:nvSpPr>
          <p:cNvPr id="575447636" name="Shape 4"/>
          <p:cNvSpPr/>
          <p:nvPr/>
        </p:nvSpPr>
        <p:spPr bwMode="auto">
          <a:xfrm>
            <a:off x="548640" y="2834640"/>
            <a:ext cx="11064240" cy="548640"/>
          </a:xfrm>
          <a:prstGeom prst="roundRect">
            <a:avLst>
              <a:gd name="adj" fmla="val 10000"/>
            </a:avLst>
          </a:prstGeom>
          <a:solidFill>
            <a:srgbClr val="24291F"/>
          </a:solidFill>
          <a:ln/>
        </p:spPr>
      </p:sp>
      <p:sp>
        <p:nvSpPr>
          <p:cNvPr id="1068813472" name="Text 5"/>
          <p:cNvSpPr/>
          <p:nvPr/>
        </p:nvSpPr>
        <p:spPr bwMode="auto">
          <a:xfrm>
            <a:off x="777240" y="2834640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300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tukey_result &lt;- </a:t>
            </a:r>
            <a:r>
              <a:rPr lang="en-US" sz="1300" b="1">
                <a:solidFill>
                  <a:srgbClr val="F2C6A0"/>
                </a:solidFill>
                <a:latin typeface="Courier New"/>
                <a:ea typeface="Courier New"/>
                <a:cs typeface="Courier New"/>
              </a:rPr>
              <a:t>TukeyHSD</a:t>
            </a:r>
            <a:r>
              <a:rPr lang="en-US" sz="1300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(model)   </a:t>
            </a:r>
            <a:r>
              <a:rPr lang="en-US" sz="1300" b="1">
                <a:solidFill>
                  <a:srgbClr val="F2C6A0"/>
                </a:solidFill>
                <a:latin typeface="Courier New"/>
                <a:ea typeface="Courier New"/>
                <a:cs typeface="Courier New"/>
              </a:rPr>
              <a:t>print</a:t>
            </a:r>
            <a:r>
              <a:rPr lang="en-US" sz="1300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(tukey_result)</a:t>
            </a:r>
            <a:endParaRPr lang="en-US" sz="1300"/>
          </a:p>
        </p:txBody>
      </p:sp>
      <p:sp>
        <p:nvSpPr>
          <p:cNvPr id="1793588321" name="Shape 6"/>
          <p:cNvSpPr/>
          <p:nvPr/>
        </p:nvSpPr>
        <p:spPr bwMode="auto">
          <a:xfrm>
            <a:off x="548640" y="3657600"/>
            <a:ext cx="3749040" cy="457200"/>
          </a:xfrm>
          <a:prstGeom prst="rect">
            <a:avLst/>
          </a:prstGeom>
          <a:solidFill>
            <a:srgbClr val="1B4332"/>
          </a:solidFill>
          <a:ln/>
        </p:spPr>
      </p:sp>
      <p:sp>
        <p:nvSpPr>
          <p:cNvPr id="485670361" name="Text 7"/>
          <p:cNvSpPr/>
          <p:nvPr/>
        </p:nvSpPr>
        <p:spPr bwMode="auto">
          <a:xfrm>
            <a:off x="548640" y="365760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Pasangan Perlakuan</a:t>
            </a:r>
            <a:endParaRPr lang="en-US" sz="1200"/>
          </a:p>
        </p:txBody>
      </p:sp>
      <p:sp>
        <p:nvSpPr>
          <p:cNvPr id="1462319759" name="Shape 8"/>
          <p:cNvSpPr/>
          <p:nvPr/>
        </p:nvSpPr>
        <p:spPr bwMode="auto">
          <a:xfrm>
            <a:off x="4297680" y="3657600"/>
            <a:ext cx="1463040" cy="457200"/>
          </a:xfrm>
          <a:prstGeom prst="rect">
            <a:avLst/>
          </a:prstGeom>
          <a:solidFill>
            <a:srgbClr val="1B4332"/>
          </a:solidFill>
          <a:ln/>
        </p:spPr>
      </p:sp>
      <p:sp>
        <p:nvSpPr>
          <p:cNvPr id="1523161583" name="Text 9"/>
          <p:cNvSpPr/>
          <p:nvPr/>
        </p:nvSpPr>
        <p:spPr bwMode="auto">
          <a:xfrm>
            <a:off x="4297680" y="365760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Diff</a:t>
            </a:r>
            <a:endParaRPr lang="en-US" sz="1200"/>
          </a:p>
        </p:txBody>
      </p:sp>
      <p:sp>
        <p:nvSpPr>
          <p:cNvPr id="13760322" name="Shape 10"/>
          <p:cNvSpPr/>
          <p:nvPr/>
        </p:nvSpPr>
        <p:spPr bwMode="auto">
          <a:xfrm>
            <a:off x="5760720" y="3657600"/>
            <a:ext cx="1645920" cy="457200"/>
          </a:xfrm>
          <a:prstGeom prst="rect">
            <a:avLst/>
          </a:prstGeom>
          <a:solidFill>
            <a:srgbClr val="1B4332"/>
          </a:solidFill>
          <a:ln/>
        </p:spPr>
      </p:sp>
      <p:sp>
        <p:nvSpPr>
          <p:cNvPr id="666730844" name="Text 11"/>
          <p:cNvSpPr/>
          <p:nvPr/>
        </p:nvSpPr>
        <p:spPr bwMode="auto">
          <a:xfrm>
            <a:off x="5760720" y="365760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 adj</a:t>
            </a:r>
            <a:endParaRPr lang="en-US" sz="1200"/>
          </a:p>
        </p:txBody>
      </p:sp>
      <p:sp>
        <p:nvSpPr>
          <p:cNvPr id="1100510483" name="Shape 12"/>
          <p:cNvSpPr/>
          <p:nvPr/>
        </p:nvSpPr>
        <p:spPr bwMode="auto">
          <a:xfrm>
            <a:off x="7406640" y="3657600"/>
            <a:ext cx="2011680" cy="457200"/>
          </a:xfrm>
          <a:prstGeom prst="rect">
            <a:avLst/>
          </a:prstGeom>
          <a:solidFill>
            <a:srgbClr val="1B4332"/>
          </a:solidFill>
          <a:ln/>
        </p:spPr>
      </p:sp>
      <p:sp>
        <p:nvSpPr>
          <p:cNvPr id="2021442709" name="Text 13"/>
          <p:cNvSpPr/>
          <p:nvPr/>
        </p:nvSpPr>
        <p:spPr bwMode="auto">
          <a:xfrm>
            <a:off x="7406640" y="365760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Signifikan?</a:t>
            </a:r>
            <a:endParaRPr lang="en-US" sz="1200"/>
          </a:p>
        </p:txBody>
      </p:sp>
      <p:sp>
        <p:nvSpPr>
          <p:cNvPr id="738760944" name="Shape 14"/>
          <p:cNvSpPr/>
          <p:nvPr/>
        </p:nvSpPr>
        <p:spPr bwMode="auto">
          <a:xfrm>
            <a:off x="548640" y="4114800"/>
            <a:ext cx="3749040" cy="475488"/>
          </a:xfrm>
          <a:prstGeom prst="rect">
            <a:avLst/>
          </a:prstGeom>
          <a:solidFill>
            <a:srgbClr val="D8F3DC"/>
          </a:solidFill>
          <a:ln w="9525">
            <a:solidFill>
              <a:srgbClr val="DDEEE3"/>
            </a:solidFill>
            <a:prstDash val="solid"/>
          </a:ln>
        </p:spPr>
      </p:sp>
      <p:sp>
        <p:nvSpPr>
          <p:cNvPr id="566504090" name="Text 15"/>
          <p:cNvSpPr/>
          <p:nvPr/>
        </p:nvSpPr>
        <p:spPr bwMode="auto">
          <a:xfrm>
            <a:off x="548640" y="4114800"/>
            <a:ext cx="3749040" cy="475488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ctr"/>
          <a:lstStyle/>
          <a:p>
            <a:pPr marL="0" indent="0" algn="l">
              <a:buNone/>
              <a:defRPr/>
            </a:pPr>
            <a:r>
              <a:rPr lang="en-US" sz="1200">
                <a:solidFill>
                  <a:srgbClr val="1B2A22"/>
                </a:solidFill>
                <a:latin typeface="Calibri"/>
                <a:ea typeface="Calibri"/>
                <a:cs typeface="Calibri"/>
              </a:rPr>
              <a:t>Kompos − Kontrol</a:t>
            </a:r>
            <a:endParaRPr lang="en-US" sz="1200"/>
          </a:p>
        </p:txBody>
      </p:sp>
      <p:sp>
        <p:nvSpPr>
          <p:cNvPr id="209392344" name="Shape 16"/>
          <p:cNvSpPr/>
          <p:nvPr/>
        </p:nvSpPr>
        <p:spPr bwMode="auto">
          <a:xfrm>
            <a:off x="4297680" y="4114800"/>
            <a:ext cx="1463040" cy="475488"/>
          </a:xfrm>
          <a:prstGeom prst="rect">
            <a:avLst/>
          </a:prstGeom>
          <a:solidFill>
            <a:srgbClr val="D8F3DC"/>
          </a:solidFill>
          <a:ln w="9525">
            <a:solidFill>
              <a:srgbClr val="DDEEE3"/>
            </a:solidFill>
            <a:prstDash val="solid"/>
          </a:ln>
        </p:spPr>
      </p:sp>
      <p:sp>
        <p:nvSpPr>
          <p:cNvPr id="1950858389" name="Text 17"/>
          <p:cNvSpPr/>
          <p:nvPr/>
        </p:nvSpPr>
        <p:spPr bwMode="auto">
          <a:xfrm>
            <a:off x="4297680" y="4114800"/>
            <a:ext cx="1463040" cy="475488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ctr"/>
          <a:lstStyle/>
          <a:p>
            <a:pPr marL="0" indent="0" algn="ctr">
              <a:buNone/>
              <a:defRPr/>
            </a:pPr>
            <a:r>
              <a:rPr lang="en-US" sz="1200">
                <a:solidFill>
                  <a:srgbClr val="1B2A22"/>
                </a:solidFill>
                <a:latin typeface="Calibri"/>
                <a:ea typeface="Calibri"/>
                <a:cs typeface="Calibri"/>
              </a:rPr>
              <a:t>4.40</a:t>
            </a:r>
            <a:endParaRPr lang="en-US" sz="1200"/>
          </a:p>
        </p:txBody>
      </p:sp>
      <p:sp>
        <p:nvSpPr>
          <p:cNvPr id="435709669" name="Shape 18"/>
          <p:cNvSpPr/>
          <p:nvPr/>
        </p:nvSpPr>
        <p:spPr bwMode="auto">
          <a:xfrm>
            <a:off x="5760720" y="4114800"/>
            <a:ext cx="1645920" cy="475488"/>
          </a:xfrm>
          <a:prstGeom prst="rect">
            <a:avLst/>
          </a:prstGeom>
          <a:solidFill>
            <a:srgbClr val="D8F3DC"/>
          </a:solidFill>
          <a:ln w="9525">
            <a:solidFill>
              <a:srgbClr val="DDEEE3"/>
            </a:solidFill>
            <a:prstDash val="solid"/>
          </a:ln>
        </p:spPr>
      </p:sp>
      <p:sp>
        <p:nvSpPr>
          <p:cNvPr id="31269570" name="Text 19"/>
          <p:cNvSpPr/>
          <p:nvPr/>
        </p:nvSpPr>
        <p:spPr bwMode="auto">
          <a:xfrm>
            <a:off x="5760720" y="4114800"/>
            <a:ext cx="1645920" cy="475488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ctr"/>
          <a:lstStyle/>
          <a:p>
            <a:pPr marL="0" indent="0" algn="ctr">
              <a:buNone/>
              <a:defRPr/>
            </a:pPr>
            <a:r>
              <a:rPr lang="en-US" sz="1200">
                <a:solidFill>
                  <a:srgbClr val="1B2A22"/>
                </a:solidFill>
                <a:latin typeface="Calibri"/>
                <a:ea typeface="Calibri"/>
                <a:cs typeface="Calibri"/>
              </a:rPr>
              <a:t>0.0021</a:t>
            </a:r>
            <a:endParaRPr lang="en-US" sz="1200"/>
          </a:p>
        </p:txBody>
      </p:sp>
      <p:sp>
        <p:nvSpPr>
          <p:cNvPr id="1058047070" name="Shape 20"/>
          <p:cNvSpPr/>
          <p:nvPr/>
        </p:nvSpPr>
        <p:spPr bwMode="auto">
          <a:xfrm>
            <a:off x="7406640" y="4114800"/>
            <a:ext cx="2011680" cy="475488"/>
          </a:xfrm>
          <a:prstGeom prst="rect">
            <a:avLst/>
          </a:prstGeom>
          <a:solidFill>
            <a:srgbClr val="D8F3DC"/>
          </a:solidFill>
          <a:ln w="9525">
            <a:solidFill>
              <a:srgbClr val="DDEEE3"/>
            </a:solidFill>
            <a:prstDash val="solid"/>
          </a:ln>
        </p:spPr>
      </p:sp>
      <p:sp>
        <p:nvSpPr>
          <p:cNvPr id="1236945023" name="Text 21"/>
          <p:cNvSpPr/>
          <p:nvPr/>
        </p:nvSpPr>
        <p:spPr bwMode="auto">
          <a:xfrm>
            <a:off x="7406640" y="4114800"/>
            <a:ext cx="2011680" cy="475488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ctr"/>
          <a:lstStyle/>
          <a:p>
            <a:pPr marL="0" indent="0" algn="ctr">
              <a:buNone/>
              <a:defRPr/>
            </a:pPr>
            <a:r>
              <a:rPr lang="en-US" sz="1200" b="1">
                <a:solidFill>
                  <a:srgbClr val="2D6A4F"/>
                </a:solidFill>
                <a:latin typeface="Calibri"/>
                <a:ea typeface="Calibri"/>
                <a:cs typeface="Calibri"/>
              </a:rPr>
              <a:t>Ya</a:t>
            </a:r>
            <a:endParaRPr lang="en-US" sz="1200"/>
          </a:p>
        </p:txBody>
      </p:sp>
      <p:sp>
        <p:nvSpPr>
          <p:cNvPr id="583630392" name="Shape 22"/>
          <p:cNvSpPr/>
          <p:nvPr/>
        </p:nvSpPr>
        <p:spPr bwMode="auto">
          <a:xfrm>
            <a:off x="548640" y="4590288"/>
            <a:ext cx="3749040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DDEEE3"/>
            </a:solidFill>
            <a:prstDash val="solid"/>
          </a:ln>
        </p:spPr>
      </p:sp>
      <p:sp>
        <p:nvSpPr>
          <p:cNvPr id="673115955" name="Text 23"/>
          <p:cNvSpPr/>
          <p:nvPr/>
        </p:nvSpPr>
        <p:spPr bwMode="auto">
          <a:xfrm>
            <a:off x="548640" y="4590288"/>
            <a:ext cx="3749040" cy="475488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ctr"/>
          <a:lstStyle/>
          <a:p>
            <a:pPr marL="0" indent="0" algn="l">
              <a:buNone/>
              <a:defRPr/>
            </a:pPr>
            <a:r>
              <a:rPr lang="en-US" sz="1200">
                <a:solidFill>
                  <a:srgbClr val="1B2A22"/>
                </a:solidFill>
                <a:latin typeface="Calibri"/>
                <a:ea typeface="Calibri"/>
                <a:cs typeface="Calibri"/>
              </a:rPr>
              <a:t>Pupuk Kandang − Kontrol</a:t>
            </a:r>
            <a:endParaRPr lang="en-US" sz="1200"/>
          </a:p>
        </p:txBody>
      </p:sp>
      <p:sp>
        <p:nvSpPr>
          <p:cNvPr id="163873320" name="Shape 24"/>
          <p:cNvSpPr/>
          <p:nvPr/>
        </p:nvSpPr>
        <p:spPr bwMode="auto">
          <a:xfrm>
            <a:off x="4297680" y="4590288"/>
            <a:ext cx="1463040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DDEEE3"/>
            </a:solidFill>
            <a:prstDash val="solid"/>
          </a:ln>
        </p:spPr>
      </p:sp>
      <p:sp>
        <p:nvSpPr>
          <p:cNvPr id="1369410547" name="Text 25"/>
          <p:cNvSpPr/>
          <p:nvPr/>
        </p:nvSpPr>
        <p:spPr bwMode="auto">
          <a:xfrm>
            <a:off x="4297680" y="4590288"/>
            <a:ext cx="1463040" cy="475488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ctr"/>
          <a:lstStyle/>
          <a:p>
            <a:pPr marL="0" indent="0" algn="ctr">
              <a:buNone/>
              <a:defRPr/>
            </a:pPr>
            <a:r>
              <a:rPr lang="en-US" sz="1200">
                <a:solidFill>
                  <a:srgbClr val="1B2A22"/>
                </a:solidFill>
                <a:latin typeface="Calibri"/>
                <a:ea typeface="Calibri"/>
                <a:cs typeface="Calibri"/>
              </a:rPr>
              <a:t>6.20</a:t>
            </a:r>
            <a:endParaRPr lang="en-US" sz="1200"/>
          </a:p>
        </p:txBody>
      </p:sp>
      <p:sp>
        <p:nvSpPr>
          <p:cNvPr id="1799044731" name="Shape 26"/>
          <p:cNvSpPr/>
          <p:nvPr/>
        </p:nvSpPr>
        <p:spPr bwMode="auto">
          <a:xfrm>
            <a:off x="5760720" y="4590288"/>
            <a:ext cx="1645920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DDEEE3"/>
            </a:solidFill>
            <a:prstDash val="solid"/>
          </a:ln>
        </p:spPr>
      </p:sp>
      <p:sp>
        <p:nvSpPr>
          <p:cNvPr id="766225526" name="Text 27"/>
          <p:cNvSpPr/>
          <p:nvPr/>
        </p:nvSpPr>
        <p:spPr bwMode="auto">
          <a:xfrm>
            <a:off x="5760720" y="4590288"/>
            <a:ext cx="1645920" cy="475488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ctr"/>
          <a:lstStyle/>
          <a:p>
            <a:pPr marL="0" indent="0" algn="ctr">
              <a:buNone/>
              <a:defRPr/>
            </a:pPr>
            <a:r>
              <a:rPr lang="en-US" sz="1200">
                <a:solidFill>
                  <a:srgbClr val="1B2A22"/>
                </a:solidFill>
                <a:latin typeface="Calibri"/>
                <a:ea typeface="Calibri"/>
                <a:cs typeface="Calibri"/>
              </a:rPr>
              <a:t>0.0001</a:t>
            </a:r>
            <a:endParaRPr lang="en-US" sz="1200"/>
          </a:p>
        </p:txBody>
      </p:sp>
      <p:sp>
        <p:nvSpPr>
          <p:cNvPr id="1887972282" name="Shape 28"/>
          <p:cNvSpPr/>
          <p:nvPr/>
        </p:nvSpPr>
        <p:spPr bwMode="auto">
          <a:xfrm>
            <a:off x="7406640" y="4590288"/>
            <a:ext cx="2011680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DDEEE3"/>
            </a:solidFill>
            <a:prstDash val="solid"/>
          </a:ln>
        </p:spPr>
      </p:sp>
      <p:sp>
        <p:nvSpPr>
          <p:cNvPr id="492913527" name="Text 29"/>
          <p:cNvSpPr/>
          <p:nvPr/>
        </p:nvSpPr>
        <p:spPr bwMode="auto">
          <a:xfrm>
            <a:off x="7406640" y="4590288"/>
            <a:ext cx="2011680" cy="475488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ctr"/>
          <a:lstStyle/>
          <a:p>
            <a:pPr marL="0" indent="0" algn="ctr">
              <a:buNone/>
              <a:defRPr/>
            </a:pPr>
            <a:r>
              <a:rPr lang="en-US" sz="1200" b="1">
                <a:solidFill>
                  <a:srgbClr val="2D6A4F"/>
                </a:solidFill>
                <a:latin typeface="Calibri"/>
                <a:ea typeface="Calibri"/>
                <a:cs typeface="Calibri"/>
              </a:rPr>
              <a:t>Ya</a:t>
            </a:r>
            <a:endParaRPr lang="en-US" sz="1200"/>
          </a:p>
        </p:txBody>
      </p:sp>
      <p:sp>
        <p:nvSpPr>
          <p:cNvPr id="2003433677" name="Shape 30"/>
          <p:cNvSpPr/>
          <p:nvPr/>
        </p:nvSpPr>
        <p:spPr bwMode="auto">
          <a:xfrm>
            <a:off x="548640" y="5065776"/>
            <a:ext cx="3749040" cy="475488"/>
          </a:xfrm>
          <a:prstGeom prst="rect">
            <a:avLst/>
          </a:prstGeom>
          <a:solidFill>
            <a:srgbClr val="D8F3DC"/>
          </a:solidFill>
          <a:ln w="9525">
            <a:solidFill>
              <a:srgbClr val="DDEEE3"/>
            </a:solidFill>
            <a:prstDash val="solid"/>
          </a:ln>
        </p:spPr>
      </p:sp>
      <p:sp>
        <p:nvSpPr>
          <p:cNvPr id="185804462" name="Text 31"/>
          <p:cNvSpPr/>
          <p:nvPr/>
        </p:nvSpPr>
        <p:spPr bwMode="auto">
          <a:xfrm>
            <a:off x="548640" y="5065776"/>
            <a:ext cx="3749040" cy="475488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ctr"/>
          <a:lstStyle/>
          <a:p>
            <a:pPr marL="0" indent="0" algn="l">
              <a:buNone/>
              <a:defRPr/>
            </a:pPr>
            <a:r>
              <a:rPr lang="en-US" sz="1200">
                <a:solidFill>
                  <a:srgbClr val="1B2A22"/>
                </a:solidFill>
                <a:latin typeface="Calibri"/>
                <a:ea typeface="Calibri"/>
                <a:cs typeface="Calibri"/>
              </a:rPr>
              <a:t>Pupuk Kandang − Kompos</a:t>
            </a:r>
            <a:endParaRPr lang="en-US" sz="1200"/>
          </a:p>
        </p:txBody>
      </p:sp>
      <p:sp>
        <p:nvSpPr>
          <p:cNvPr id="914280158" name="Shape 32"/>
          <p:cNvSpPr/>
          <p:nvPr/>
        </p:nvSpPr>
        <p:spPr bwMode="auto">
          <a:xfrm>
            <a:off x="4297680" y="5065776"/>
            <a:ext cx="1463040" cy="475488"/>
          </a:xfrm>
          <a:prstGeom prst="rect">
            <a:avLst/>
          </a:prstGeom>
          <a:solidFill>
            <a:srgbClr val="D8F3DC"/>
          </a:solidFill>
          <a:ln w="9525">
            <a:solidFill>
              <a:srgbClr val="DDEEE3"/>
            </a:solidFill>
            <a:prstDash val="solid"/>
          </a:ln>
        </p:spPr>
      </p:sp>
      <p:sp>
        <p:nvSpPr>
          <p:cNvPr id="1563123294" name="Text 33"/>
          <p:cNvSpPr/>
          <p:nvPr/>
        </p:nvSpPr>
        <p:spPr bwMode="auto">
          <a:xfrm>
            <a:off x="4297680" y="5065776"/>
            <a:ext cx="1463040" cy="475488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ctr"/>
          <a:lstStyle/>
          <a:p>
            <a:pPr marL="0" indent="0" algn="ctr">
              <a:buNone/>
              <a:defRPr/>
            </a:pPr>
            <a:r>
              <a:rPr lang="en-US" sz="1200">
                <a:solidFill>
                  <a:srgbClr val="1B2A22"/>
                </a:solidFill>
                <a:latin typeface="Calibri"/>
                <a:ea typeface="Calibri"/>
                <a:cs typeface="Calibri"/>
              </a:rPr>
              <a:t>1.80</a:t>
            </a:r>
            <a:endParaRPr lang="en-US" sz="1200"/>
          </a:p>
        </p:txBody>
      </p:sp>
      <p:sp>
        <p:nvSpPr>
          <p:cNvPr id="1319195506" name="Shape 34"/>
          <p:cNvSpPr/>
          <p:nvPr/>
        </p:nvSpPr>
        <p:spPr bwMode="auto">
          <a:xfrm>
            <a:off x="5760720" y="5065776"/>
            <a:ext cx="1645920" cy="475488"/>
          </a:xfrm>
          <a:prstGeom prst="rect">
            <a:avLst/>
          </a:prstGeom>
          <a:solidFill>
            <a:srgbClr val="D8F3DC"/>
          </a:solidFill>
          <a:ln w="9525">
            <a:solidFill>
              <a:srgbClr val="DDEEE3"/>
            </a:solidFill>
            <a:prstDash val="solid"/>
          </a:ln>
        </p:spPr>
      </p:sp>
      <p:sp>
        <p:nvSpPr>
          <p:cNvPr id="303752935" name="Text 35"/>
          <p:cNvSpPr/>
          <p:nvPr/>
        </p:nvSpPr>
        <p:spPr bwMode="auto">
          <a:xfrm>
            <a:off x="5760720" y="5065776"/>
            <a:ext cx="1645920" cy="475488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ctr"/>
          <a:lstStyle/>
          <a:p>
            <a:pPr marL="0" indent="0" algn="ctr">
              <a:buNone/>
              <a:defRPr/>
            </a:pPr>
            <a:r>
              <a:rPr lang="en-US" sz="1200">
                <a:solidFill>
                  <a:srgbClr val="1B2A22"/>
                </a:solidFill>
                <a:latin typeface="Calibri"/>
                <a:ea typeface="Calibri"/>
                <a:cs typeface="Calibri"/>
              </a:rPr>
              <a:t>0.1904</a:t>
            </a:r>
            <a:endParaRPr lang="en-US" sz="1200"/>
          </a:p>
        </p:txBody>
      </p:sp>
      <p:sp>
        <p:nvSpPr>
          <p:cNvPr id="1203444367" name="Shape 36"/>
          <p:cNvSpPr/>
          <p:nvPr/>
        </p:nvSpPr>
        <p:spPr bwMode="auto">
          <a:xfrm>
            <a:off x="7406640" y="5065776"/>
            <a:ext cx="2011680" cy="475488"/>
          </a:xfrm>
          <a:prstGeom prst="rect">
            <a:avLst/>
          </a:prstGeom>
          <a:solidFill>
            <a:srgbClr val="D8F3DC"/>
          </a:solidFill>
          <a:ln w="9525">
            <a:solidFill>
              <a:srgbClr val="DDEEE3"/>
            </a:solidFill>
            <a:prstDash val="solid"/>
          </a:ln>
        </p:spPr>
      </p:sp>
      <p:sp>
        <p:nvSpPr>
          <p:cNvPr id="1295210243" name="Text 37"/>
          <p:cNvSpPr/>
          <p:nvPr/>
        </p:nvSpPr>
        <p:spPr bwMode="auto">
          <a:xfrm>
            <a:off x="7406640" y="5065776"/>
            <a:ext cx="2011680" cy="475488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ctr"/>
          <a:lstStyle/>
          <a:p>
            <a:pPr marL="0" indent="0" algn="ctr">
              <a:buNone/>
              <a:defRPr/>
            </a:pPr>
            <a:r>
              <a:rPr lang="en-US" sz="1200" b="1">
                <a:solidFill>
                  <a:srgbClr val="5C6B63"/>
                </a:solidFill>
                <a:latin typeface="Calibri"/>
                <a:ea typeface="Calibri"/>
                <a:cs typeface="Calibri"/>
              </a:rPr>
              <a:t>Tidak</a:t>
            </a:r>
            <a:endParaRPr lang="en-US" sz="1200"/>
          </a:p>
        </p:txBody>
      </p:sp>
      <p:sp>
        <p:nvSpPr>
          <p:cNvPr id="545891762" name="Text 38"/>
          <p:cNvSpPr/>
          <p:nvPr/>
        </p:nvSpPr>
        <p:spPr bwMode="auto">
          <a:xfrm>
            <a:off x="548640" y="5815584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250" i="1">
                <a:solidFill>
                  <a:srgbClr val="5C6B63"/>
                </a:solidFill>
                <a:latin typeface="Calibri"/>
                <a:ea typeface="Calibri"/>
                <a:cs typeface="Calibri"/>
              </a:rPr>
              <a:t>Uji Tukey hanya relevan diinterpretasikan apabila hasil ANOVA signifikan (lihat slide sebelumnya).</a:t>
            </a:r>
            <a:endParaRPr lang="en-US" sz="1250"/>
          </a:p>
        </p:txBody>
      </p:sp>
      <p:sp>
        <p:nvSpPr>
          <p:cNvPr id="1181552734" name="Text 39"/>
          <p:cNvSpPr/>
          <p:nvPr/>
        </p:nvSpPr>
        <p:spPr bwMode="auto"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  <a:defRPr/>
            </a:pPr>
            <a:r>
              <a:rPr lang="en-US" sz="900">
                <a:solidFill>
                  <a:srgbClr val="5C6B63"/>
                </a:solidFill>
                <a:latin typeface="Calibri"/>
                <a:ea typeface="Calibri"/>
                <a:cs typeface="Calibri"/>
              </a:rPr>
              <a:t>RAL &amp; ANOVA Satu Arah — Biostatistika untuk Biologi</a:t>
            </a:r>
            <a:endParaRPr lang="en-US" sz="900"/>
          </a:p>
        </p:txBody>
      </p:sp>
      <p:sp>
        <p:nvSpPr>
          <p:cNvPr id="426447992" name="Text 40"/>
          <p:cNvSpPr/>
          <p:nvPr/>
        </p:nvSpPr>
        <p:spPr bwMode="auto"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  <a:defRPr/>
            </a:pPr>
            <a:r>
              <a:rPr lang="en-US" sz="900">
                <a:solidFill>
                  <a:srgbClr val="5C6B63"/>
                </a:solidFill>
                <a:latin typeface="Calibri"/>
                <a:ea typeface="Calibri"/>
                <a:cs typeface="Calibri"/>
              </a:rPr>
              <a:t>10</a:t>
            </a:r>
            <a:endParaRPr lang="en-US" sz="9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11">
    <p:bg>
      <p:bgPr shadeToTitle="0">
        <a:solidFill>
          <a:srgbClr val="F7FAF7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37976450" name="Text 0"/>
          <p:cNvSpPr/>
          <p:nvPr/>
        </p:nvSpPr>
        <p:spPr bwMode="auto"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200" b="1" spc="200">
                <a:solidFill>
                  <a:srgbClr val="2D6A4F"/>
                </a:solidFill>
                <a:latin typeface="Calibri"/>
                <a:ea typeface="Calibri"/>
                <a:cs typeface="Calibri"/>
              </a:rPr>
              <a:t>1.4.6 · DIAGNOSTIK MODEL</a:t>
            </a:r>
            <a:endParaRPr lang="en-US" sz="1200"/>
          </a:p>
        </p:txBody>
      </p:sp>
      <p:sp>
        <p:nvSpPr>
          <p:cNvPr id="87064907" name="Text 1"/>
          <p:cNvSpPr/>
          <p:nvPr/>
        </p:nvSpPr>
        <p:spPr bwMode="auto">
          <a:xfrm>
            <a:off x="548640" y="658368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3000" b="1">
                <a:solidFill>
                  <a:srgbClr val="1B4332"/>
                </a:solidFill>
                <a:latin typeface="Cambria"/>
                <a:ea typeface="Cambria"/>
                <a:cs typeface="Cambria"/>
              </a:rPr>
              <a:t>Pemeriksaan Asumsi ANOVA</a:t>
            </a:r>
            <a:endParaRPr lang="en-US" sz="3000"/>
          </a:p>
        </p:txBody>
      </p:sp>
      <p:sp>
        <p:nvSpPr>
          <p:cNvPr id="518398231" name="Shape 2"/>
          <p:cNvSpPr/>
          <p:nvPr/>
        </p:nvSpPr>
        <p:spPr bwMode="auto">
          <a:xfrm>
            <a:off x="548640" y="1828800"/>
            <a:ext cx="3520440" cy="2331720"/>
          </a:xfrm>
          <a:prstGeom prst="roundRect">
            <a:avLst>
              <a:gd name="adj" fmla="val 3922"/>
            </a:avLst>
          </a:prstGeom>
          <a:solidFill>
            <a:srgbClr val="FFFFFF"/>
          </a:solidFill>
          <a:ln w="12700">
            <a:solidFill>
              <a:srgbClr val="DDEEE3"/>
            </a:solidFill>
            <a:prstDash val="solid"/>
          </a:ln>
          <a:effectLst>
            <a:outerShdw blurRad="76200" dist="25400" dir="5400000" sx="100000" sy="100000" kx="0" ky="0" algn="bl" rotWithShape="0">
              <a:srgbClr val="999999">
                <a:alpha val="18000"/>
              </a:srgbClr>
            </a:outerShdw>
          </a:effectLst>
        </p:spPr>
      </p:sp>
      <p:sp>
        <p:nvSpPr>
          <p:cNvPr id="799623814" name="Shape 3"/>
          <p:cNvSpPr/>
          <p:nvPr/>
        </p:nvSpPr>
        <p:spPr bwMode="auto">
          <a:xfrm>
            <a:off x="1943100" y="2084832"/>
            <a:ext cx="731520" cy="731520"/>
          </a:xfrm>
          <a:prstGeom prst="ellipse">
            <a:avLst/>
          </a:prstGeom>
          <a:solidFill>
            <a:srgbClr val="2D6A4F"/>
          </a:solidFill>
          <a:ln/>
        </p:spPr>
      </p:sp>
      <p:pic>
        <p:nvPicPr>
          <p:cNvPr id="1331746069" name="Image 0" descr="micro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2038198" y="2179930"/>
            <a:ext cx="541325" cy="541325"/>
          </a:xfrm>
          <a:prstGeom prst="rect">
            <a:avLst/>
          </a:prstGeom>
        </p:spPr>
      </p:pic>
      <p:sp>
        <p:nvSpPr>
          <p:cNvPr id="141870582" name="Text 4"/>
          <p:cNvSpPr/>
          <p:nvPr/>
        </p:nvSpPr>
        <p:spPr bwMode="auto">
          <a:xfrm>
            <a:off x="731520" y="2926080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500" b="1">
                <a:solidFill>
                  <a:srgbClr val="1B4332"/>
                </a:solidFill>
                <a:latin typeface="Cambria"/>
                <a:ea typeface="Cambria"/>
                <a:cs typeface="Cambria"/>
              </a:rPr>
              <a:t>Normalitas</a:t>
            </a:r>
            <a:endParaRPr lang="en-US" sz="1500"/>
          </a:p>
        </p:txBody>
      </p:sp>
      <p:sp>
        <p:nvSpPr>
          <p:cNvPr id="907048617" name="Text 5"/>
          <p:cNvSpPr/>
          <p:nvPr/>
        </p:nvSpPr>
        <p:spPr bwMode="auto">
          <a:xfrm>
            <a:off x="777240" y="3310127"/>
            <a:ext cx="3063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  <a:defRPr/>
            </a:pPr>
            <a:r>
              <a:rPr lang="en-US" sz="1150">
                <a:solidFill>
                  <a:srgbClr val="1B2A22"/>
                </a:solidFill>
                <a:latin typeface="Calibri"/>
                <a:ea typeface="Calibri"/>
                <a:cs typeface="Calibri"/>
              </a:rPr>
              <a:t>Residual (galat) menyebar normal</a:t>
            </a:r>
            <a:endParaRPr lang="en-US" sz="1150"/>
          </a:p>
        </p:txBody>
      </p:sp>
      <p:sp>
        <p:nvSpPr>
          <p:cNvPr id="1367500933" name="Shape 6"/>
          <p:cNvSpPr/>
          <p:nvPr/>
        </p:nvSpPr>
        <p:spPr bwMode="auto">
          <a:xfrm>
            <a:off x="777240" y="3721608"/>
            <a:ext cx="3063240" cy="347472"/>
          </a:xfrm>
          <a:prstGeom prst="roundRect">
            <a:avLst>
              <a:gd name="adj" fmla="val 13158"/>
            </a:avLst>
          </a:prstGeom>
          <a:solidFill>
            <a:srgbClr val="D8F3DC"/>
          </a:solidFill>
          <a:ln/>
        </p:spPr>
      </p:sp>
      <p:sp>
        <p:nvSpPr>
          <p:cNvPr id="43036703" name="Text 7"/>
          <p:cNvSpPr/>
          <p:nvPr/>
        </p:nvSpPr>
        <p:spPr bwMode="auto">
          <a:xfrm>
            <a:off x="777240" y="3721608"/>
            <a:ext cx="3063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000" b="1">
                <a:solidFill>
                  <a:srgbClr val="2D6A4F"/>
                </a:solidFill>
                <a:latin typeface="Calibri"/>
                <a:ea typeface="Calibri"/>
                <a:cs typeface="Calibri"/>
              </a:rPr>
              <a:t>Q-Q Plot, Shapiro-Wilk</a:t>
            </a:r>
            <a:endParaRPr lang="en-US" sz="1000"/>
          </a:p>
        </p:txBody>
      </p:sp>
      <p:sp>
        <p:nvSpPr>
          <p:cNvPr id="643472171" name="Shape 8"/>
          <p:cNvSpPr/>
          <p:nvPr/>
        </p:nvSpPr>
        <p:spPr bwMode="auto">
          <a:xfrm>
            <a:off x="4343400" y="1828800"/>
            <a:ext cx="3520440" cy="2331720"/>
          </a:xfrm>
          <a:prstGeom prst="roundRect">
            <a:avLst>
              <a:gd name="adj" fmla="val 3922"/>
            </a:avLst>
          </a:prstGeom>
          <a:solidFill>
            <a:srgbClr val="FFFFFF"/>
          </a:solidFill>
          <a:ln w="12700">
            <a:solidFill>
              <a:srgbClr val="DDEEE3"/>
            </a:solidFill>
            <a:prstDash val="solid"/>
          </a:ln>
          <a:effectLst>
            <a:outerShdw blurRad="76200" dist="25400" dir="5400000" sx="100000" sy="100000" kx="0" ky="0" algn="bl" rotWithShape="0">
              <a:srgbClr val="999999">
                <a:alpha val="18000"/>
              </a:srgbClr>
            </a:outerShdw>
          </a:effectLst>
        </p:spPr>
      </p:sp>
      <p:sp>
        <p:nvSpPr>
          <p:cNvPr id="545143625" name="Shape 9"/>
          <p:cNvSpPr/>
          <p:nvPr/>
        </p:nvSpPr>
        <p:spPr bwMode="auto">
          <a:xfrm>
            <a:off x="5737860" y="2084832"/>
            <a:ext cx="731520" cy="731520"/>
          </a:xfrm>
          <a:prstGeom prst="ellipse">
            <a:avLst/>
          </a:prstGeom>
          <a:solidFill>
            <a:srgbClr val="2D6A4F"/>
          </a:solidFill>
          <a:ln/>
        </p:spPr>
      </p:sp>
      <p:pic>
        <p:nvPicPr>
          <p:cNvPr id="862698845" name="Image 1" descr="diagram.png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5832958" y="2179930"/>
            <a:ext cx="541325" cy="541325"/>
          </a:xfrm>
          <a:prstGeom prst="rect">
            <a:avLst/>
          </a:prstGeom>
        </p:spPr>
      </p:pic>
      <p:sp>
        <p:nvSpPr>
          <p:cNvPr id="1204846990" name="Text 10"/>
          <p:cNvSpPr/>
          <p:nvPr/>
        </p:nvSpPr>
        <p:spPr bwMode="auto">
          <a:xfrm>
            <a:off x="4526280" y="2926080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500" b="1">
                <a:solidFill>
                  <a:srgbClr val="1B4332"/>
                </a:solidFill>
                <a:latin typeface="Cambria"/>
                <a:ea typeface="Cambria"/>
                <a:cs typeface="Cambria"/>
              </a:rPr>
              <a:t>Homogenitas Ragam</a:t>
            </a:r>
            <a:endParaRPr lang="en-US" sz="1500"/>
          </a:p>
        </p:txBody>
      </p:sp>
      <p:sp>
        <p:nvSpPr>
          <p:cNvPr id="1157799514" name="Text 11"/>
          <p:cNvSpPr/>
          <p:nvPr/>
        </p:nvSpPr>
        <p:spPr bwMode="auto">
          <a:xfrm>
            <a:off x="4572000" y="3310127"/>
            <a:ext cx="3063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  <a:defRPr/>
            </a:pPr>
            <a:r>
              <a:rPr lang="en-US" sz="1150">
                <a:solidFill>
                  <a:srgbClr val="1B2A22"/>
                </a:solidFill>
                <a:latin typeface="Calibri"/>
                <a:ea typeface="Calibri"/>
                <a:cs typeface="Calibri"/>
              </a:rPr>
              <a:t>Ragam antar kelompok homogen</a:t>
            </a:r>
            <a:endParaRPr lang="en-US" sz="1150"/>
          </a:p>
        </p:txBody>
      </p:sp>
      <p:sp>
        <p:nvSpPr>
          <p:cNvPr id="1878887596" name="Shape 12"/>
          <p:cNvSpPr/>
          <p:nvPr/>
        </p:nvSpPr>
        <p:spPr bwMode="auto">
          <a:xfrm>
            <a:off x="4572000" y="3721608"/>
            <a:ext cx="3063240" cy="347472"/>
          </a:xfrm>
          <a:prstGeom prst="roundRect">
            <a:avLst>
              <a:gd name="adj" fmla="val 13158"/>
            </a:avLst>
          </a:prstGeom>
          <a:solidFill>
            <a:srgbClr val="D8F3DC"/>
          </a:solidFill>
          <a:ln/>
        </p:spPr>
      </p:sp>
      <p:sp>
        <p:nvSpPr>
          <p:cNvPr id="690693459" name="Text 13"/>
          <p:cNvSpPr/>
          <p:nvPr/>
        </p:nvSpPr>
        <p:spPr bwMode="auto">
          <a:xfrm>
            <a:off x="4572000" y="3721608"/>
            <a:ext cx="3063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000" b="1">
                <a:solidFill>
                  <a:srgbClr val="2D6A4F"/>
                </a:solidFill>
                <a:latin typeface="Calibri"/>
                <a:ea typeface="Calibri"/>
                <a:cs typeface="Calibri"/>
              </a:rPr>
              <a:t>Scale-Location, Bartlett Test</a:t>
            </a:r>
            <a:endParaRPr lang="en-US" sz="1000"/>
          </a:p>
        </p:txBody>
      </p:sp>
      <p:sp>
        <p:nvSpPr>
          <p:cNvPr id="760896456" name="Shape 14"/>
          <p:cNvSpPr/>
          <p:nvPr/>
        </p:nvSpPr>
        <p:spPr bwMode="auto">
          <a:xfrm>
            <a:off x="8138160" y="1828800"/>
            <a:ext cx="3520440" cy="2331720"/>
          </a:xfrm>
          <a:prstGeom prst="roundRect">
            <a:avLst>
              <a:gd name="adj" fmla="val 3922"/>
            </a:avLst>
          </a:prstGeom>
          <a:solidFill>
            <a:srgbClr val="FFFFFF"/>
          </a:solidFill>
          <a:ln w="12700">
            <a:solidFill>
              <a:srgbClr val="DDEEE3"/>
            </a:solidFill>
            <a:prstDash val="solid"/>
          </a:ln>
          <a:effectLst>
            <a:outerShdw blurRad="76200" dist="25400" dir="5400000" sx="100000" sy="100000" kx="0" ky="0" algn="bl" rotWithShape="0">
              <a:srgbClr val="999999">
                <a:alpha val="18000"/>
              </a:srgbClr>
            </a:outerShdw>
          </a:effectLst>
        </p:spPr>
      </p:sp>
      <p:sp>
        <p:nvSpPr>
          <p:cNvPr id="232077415" name="Shape 15"/>
          <p:cNvSpPr/>
          <p:nvPr/>
        </p:nvSpPr>
        <p:spPr bwMode="auto">
          <a:xfrm>
            <a:off x="9532620" y="2084832"/>
            <a:ext cx="731520" cy="731520"/>
          </a:xfrm>
          <a:prstGeom prst="ellipse">
            <a:avLst/>
          </a:prstGeom>
          <a:solidFill>
            <a:srgbClr val="2D6A4F"/>
          </a:solidFill>
          <a:ln/>
        </p:spPr>
      </p:sp>
      <p:pic>
        <p:nvPicPr>
          <p:cNvPr id="1482062873" name="Image 2" descr="check.png"/>
          <p:cNvPicPr>
            <a:picLocks noChangeAspect="1"/>
          </p:cNvPicPr>
          <p:nvPr/>
        </p:nvPicPr>
        <p:blipFill rotWithShape="1">
          <a:blip r:embed="rId5"/>
          <a:stretch/>
        </p:blipFill>
        <p:spPr bwMode="auto">
          <a:xfrm>
            <a:off x="9627718" y="2179930"/>
            <a:ext cx="541325" cy="541325"/>
          </a:xfrm>
          <a:prstGeom prst="rect">
            <a:avLst/>
          </a:prstGeom>
        </p:spPr>
      </p:pic>
      <p:sp>
        <p:nvSpPr>
          <p:cNvPr id="2046732216" name="Text 16"/>
          <p:cNvSpPr/>
          <p:nvPr/>
        </p:nvSpPr>
        <p:spPr bwMode="auto">
          <a:xfrm>
            <a:off x="8321039" y="2926080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500" b="1">
                <a:solidFill>
                  <a:srgbClr val="1B4332"/>
                </a:solidFill>
                <a:latin typeface="Cambria"/>
                <a:ea typeface="Cambria"/>
                <a:cs typeface="Cambria"/>
              </a:rPr>
              <a:t>Kebebasan</a:t>
            </a:r>
            <a:endParaRPr lang="en-US" sz="1500"/>
          </a:p>
        </p:txBody>
      </p:sp>
      <p:sp>
        <p:nvSpPr>
          <p:cNvPr id="2038239020" name="Text 17"/>
          <p:cNvSpPr/>
          <p:nvPr/>
        </p:nvSpPr>
        <p:spPr bwMode="auto">
          <a:xfrm>
            <a:off x="8366760" y="3310127"/>
            <a:ext cx="3063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  <a:defRPr/>
            </a:pPr>
            <a:r>
              <a:rPr lang="en-US" sz="1150">
                <a:solidFill>
                  <a:srgbClr val="1B2A22"/>
                </a:solidFill>
                <a:latin typeface="Calibri"/>
                <a:ea typeface="Calibri"/>
                <a:cs typeface="Calibri"/>
              </a:rPr>
              <a:t>Pengamatan saling bebas satu sama lain</a:t>
            </a:r>
            <a:endParaRPr lang="en-US" sz="1150"/>
          </a:p>
        </p:txBody>
      </p:sp>
      <p:sp>
        <p:nvSpPr>
          <p:cNvPr id="1277976162" name="Shape 18"/>
          <p:cNvSpPr/>
          <p:nvPr/>
        </p:nvSpPr>
        <p:spPr bwMode="auto">
          <a:xfrm>
            <a:off x="8366760" y="3721608"/>
            <a:ext cx="3063240" cy="347472"/>
          </a:xfrm>
          <a:prstGeom prst="roundRect">
            <a:avLst>
              <a:gd name="adj" fmla="val 13158"/>
            </a:avLst>
          </a:prstGeom>
          <a:solidFill>
            <a:srgbClr val="D8F3DC"/>
          </a:solidFill>
          <a:ln/>
        </p:spPr>
      </p:sp>
      <p:sp>
        <p:nvSpPr>
          <p:cNvPr id="1468045576" name="Text 19"/>
          <p:cNvSpPr/>
          <p:nvPr/>
        </p:nvSpPr>
        <p:spPr bwMode="auto">
          <a:xfrm>
            <a:off x="8366760" y="3721608"/>
            <a:ext cx="3063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000" b="1">
                <a:solidFill>
                  <a:srgbClr val="2D6A4F"/>
                </a:solidFill>
                <a:latin typeface="Calibri"/>
                <a:ea typeface="Calibri"/>
                <a:cs typeface="Calibri"/>
              </a:rPr>
              <a:t>Residuals vs Fitted</a:t>
            </a:r>
            <a:endParaRPr lang="en-US" sz="1000"/>
          </a:p>
        </p:txBody>
      </p:sp>
      <p:sp>
        <p:nvSpPr>
          <p:cNvPr id="861197629" name="Shape 20"/>
          <p:cNvSpPr/>
          <p:nvPr/>
        </p:nvSpPr>
        <p:spPr bwMode="auto">
          <a:xfrm>
            <a:off x="548640" y="4434840"/>
            <a:ext cx="11064240" cy="685800"/>
          </a:xfrm>
          <a:prstGeom prst="roundRect">
            <a:avLst>
              <a:gd name="adj" fmla="val 8000"/>
            </a:avLst>
          </a:prstGeom>
          <a:solidFill>
            <a:srgbClr val="24291F"/>
          </a:solidFill>
          <a:ln/>
        </p:spPr>
      </p:sp>
      <p:sp>
        <p:nvSpPr>
          <p:cNvPr id="1517974216" name="Text 21"/>
          <p:cNvSpPr/>
          <p:nvPr/>
        </p:nvSpPr>
        <p:spPr bwMode="auto">
          <a:xfrm>
            <a:off x="777240" y="4434840"/>
            <a:ext cx="10607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250" b="1">
                <a:solidFill>
                  <a:srgbClr val="F2C6A0"/>
                </a:solidFill>
                <a:latin typeface="Courier New"/>
                <a:ea typeface="Courier New"/>
                <a:cs typeface="Courier New"/>
              </a:rPr>
              <a:t>shapiro.test</a:t>
            </a:r>
            <a:r>
              <a:rPr lang="en-US" sz="1250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(residuals(model))     </a:t>
            </a:r>
            <a:r>
              <a:rPr lang="en-US" sz="1250" b="1">
                <a:solidFill>
                  <a:srgbClr val="F2C6A0"/>
                </a:solidFill>
                <a:latin typeface="Courier New"/>
                <a:ea typeface="Courier New"/>
                <a:cs typeface="Courier New"/>
              </a:rPr>
              <a:t>bartlett.test</a:t>
            </a:r>
            <a:r>
              <a:rPr lang="en-US" sz="1250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(tinggi_cm ~ perlakuan, data = data)</a:t>
            </a:r>
            <a:endParaRPr lang="en-US" sz="1250"/>
          </a:p>
        </p:txBody>
      </p:sp>
      <p:sp>
        <p:nvSpPr>
          <p:cNvPr id="1740277793" name="Text 22"/>
          <p:cNvSpPr/>
          <p:nvPr/>
        </p:nvSpPr>
        <p:spPr bwMode="auto">
          <a:xfrm>
            <a:off x="548640" y="534924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250" i="1">
                <a:solidFill>
                  <a:srgbClr val="5C6B63"/>
                </a:solidFill>
                <a:latin typeface="Calibri"/>
                <a:ea typeface="Calibri"/>
                <a:cs typeface="Calibri"/>
              </a:rPr>
              <a:t>Uji formal (Shapiro-Wilk, Bartlett) melengkapi — bukan menggantikan — inspeksi visual grafik diagnostik.</a:t>
            </a:r>
            <a:endParaRPr lang="en-US" sz="1250"/>
          </a:p>
        </p:txBody>
      </p:sp>
      <p:sp>
        <p:nvSpPr>
          <p:cNvPr id="2081491896" name="Text 23"/>
          <p:cNvSpPr/>
          <p:nvPr/>
        </p:nvSpPr>
        <p:spPr bwMode="auto"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  <a:defRPr/>
            </a:pPr>
            <a:r>
              <a:rPr lang="en-US" sz="900">
                <a:solidFill>
                  <a:srgbClr val="5C6B63"/>
                </a:solidFill>
                <a:latin typeface="Calibri"/>
                <a:ea typeface="Calibri"/>
                <a:cs typeface="Calibri"/>
              </a:rPr>
              <a:t>RAL &amp; ANOVA Satu Arah — Biostatistika untuk Biologi</a:t>
            </a:r>
            <a:endParaRPr lang="en-US" sz="900"/>
          </a:p>
        </p:txBody>
      </p:sp>
      <p:sp>
        <p:nvSpPr>
          <p:cNvPr id="1205749624" name="Text 24"/>
          <p:cNvSpPr/>
          <p:nvPr/>
        </p:nvSpPr>
        <p:spPr bwMode="auto"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  <a:defRPr/>
            </a:pPr>
            <a:r>
              <a:rPr lang="en-US" sz="900">
                <a:solidFill>
                  <a:srgbClr val="5C6B63"/>
                </a:solidFill>
                <a:latin typeface="Calibri"/>
                <a:ea typeface="Calibri"/>
                <a:cs typeface="Calibri"/>
              </a:rPr>
              <a:t>11</a:t>
            </a:r>
            <a:endParaRPr lang="en-US" sz="9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12">
    <p:bg>
      <p:bgPr shadeToTitle="0">
        <a:solidFill>
          <a:srgbClr val="1B433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70919020" name="Shape 0"/>
          <p:cNvSpPr/>
          <p:nvPr/>
        </p:nvSpPr>
        <p:spPr bwMode="auto">
          <a:xfrm>
            <a:off x="9601200" y="-2011680"/>
            <a:ext cx="5486400" cy="5486400"/>
          </a:xfrm>
          <a:prstGeom prst="ellipse">
            <a:avLst/>
          </a:prstGeom>
          <a:solidFill>
            <a:srgbClr val="2D6A4F">
              <a:alpha val="42000"/>
            </a:srgbClr>
          </a:solidFill>
          <a:ln/>
        </p:spPr>
      </p:sp>
      <p:sp>
        <p:nvSpPr>
          <p:cNvPr id="672446994" name="Text 1"/>
          <p:cNvSpPr/>
          <p:nvPr/>
        </p:nvSpPr>
        <p:spPr bwMode="auto">
          <a:xfrm>
            <a:off x="640080" y="5029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300" b="1" spc="200">
                <a:solidFill>
                  <a:srgbClr val="74C69D"/>
                </a:solidFill>
                <a:latin typeface="Calibri"/>
                <a:ea typeface="Calibri"/>
                <a:cs typeface="Calibri"/>
              </a:rPr>
              <a:t>RANGKUMAN</a:t>
            </a:r>
            <a:endParaRPr lang="en-US" sz="1300"/>
          </a:p>
        </p:txBody>
      </p:sp>
      <p:sp>
        <p:nvSpPr>
          <p:cNvPr id="506200072" name="Text 2"/>
          <p:cNvSpPr/>
          <p:nvPr/>
        </p:nvSpPr>
        <p:spPr bwMode="auto">
          <a:xfrm>
            <a:off x="640080" y="82296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28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Yang Perlu Diingat dari Bab Ini</a:t>
            </a:r>
            <a:endParaRPr lang="en-US" sz="2800"/>
          </a:p>
        </p:txBody>
      </p:sp>
      <p:sp>
        <p:nvSpPr>
          <p:cNvPr id="94108696" name="Shape 3"/>
          <p:cNvSpPr/>
          <p:nvPr/>
        </p:nvSpPr>
        <p:spPr bwMode="auto">
          <a:xfrm>
            <a:off x="640080" y="1691640"/>
            <a:ext cx="594360" cy="594360"/>
          </a:xfrm>
          <a:prstGeom prst="ellipse">
            <a:avLst/>
          </a:prstGeom>
          <a:solidFill>
            <a:srgbClr val="2D6A4F"/>
          </a:solidFill>
          <a:ln/>
        </p:spPr>
      </p:sp>
      <p:pic>
        <p:nvPicPr>
          <p:cNvPr id="1821705957" name="Image 0" descr="seedling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717347" y="1768907"/>
            <a:ext cx="439826" cy="439826"/>
          </a:xfrm>
          <a:prstGeom prst="rect">
            <a:avLst/>
          </a:prstGeom>
        </p:spPr>
      </p:pic>
      <p:sp>
        <p:nvSpPr>
          <p:cNvPr id="1015403961" name="Text 4"/>
          <p:cNvSpPr/>
          <p:nvPr/>
        </p:nvSpPr>
        <p:spPr bwMode="auto">
          <a:xfrm>
            <a:off x="1417320" y="1673352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45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RAL untuk unit homogen</a:t>
            </a:r>
            <a:endParaRPr lang="en-US" sz="1450"/>
          </a:p>
        </p:txBody>
      </p:sp>
      <p:sp>
        <p:nvSpPr>
          <p:cNvPr id="1736455276" name="Text 5"/>
          <p:cNvSpPr/>
          <p:nvPr/>
        </p:nvSpPr>
        <p:spPr bwMode="auto">
          <a:xfrm>
            <a:off x="1417320" y="2039112"/>
            <a:ext cx="45720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  <a:defRPr/>
            </a:pPr>
            <a:r>
              <a:rPr lang="en-US" sz="1150">
                <a:solidFill>
                  <a:srgbClr val="D8F3DC"/>
                </a:solidFill>
                <a:latin typeface="Calibri"/>
                <a:ea typeface="Calibri"/>
                <a:cs typeface="Calibri"/>
              </a:rPr>
              <a:t>RAL digunakan ketika unit percobaan relatif homogen sehingga perlakuan dapat diacak sepenuhnya.</a:t>
            </a:r>
            <a:endParaRPr lang="en-US" sz="1150"/>
          </a:p>
        </p:txBody>
      </p:sp>
      <p:sp>
        <p:nvSpPr>
          <p:cNvPr id="1008692108" name="Shape 6"/>
          <p:cNvSpPr/>
          <p:nvPr/>
        </p:nvSpPr>
        <p:spPr bwMode="auto">
          <a:xfrm>
            <a:off x="6446520" y="1691640"/>
            <a:ext cx="594360" cy="594360"/>
          </a:xfrm>
          <a:prstGeom prst="ellipse">
            <a:avLst/>
          </a:prstGeom>
          <a:solidFill>
            <a:srgbClr val="2D6A4F"/>
          </a:solidFill>
          <a:ln/>
        </p:spPr>
      </p:sp>
      <p:pic>
        <p:nvPicPr>
          <p:cNvPr id="76503681" name="Image 1" descr="chart.png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6523787" y="1768907"/>
            <a:ext cx="439826" cy="439826"/>
          </a:xfrm>
          <a:prstGeom prst="rect">
            <a:avLst/>
          </a:prstGeom>
        </p:spPr>
      </p:pic>
      <p:sp>
        <p:nvSpPr>
          <p:cNvPr id="2119548602" name="Text 7"/>
          <p:cNvSpPr/>
          <p:nvPr/>
        </p:nvSpPr>
        <p:spPr bwMode="auto">
          <a:xfrm>
            <a:off x="7223760" y="1673352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45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Bandingkan dua ragam</a:t>
            </a:r>
            <a:endParaRPr lang="en-US" sz="1450"/>
          </a:p>
        </p:txBody>
      </p:sp>
      <p:sp>
        <p:nvSpPr>
          <p:cNvPr id="1645512113" name="Text 8"/>
          <p:cNvSpPr/>
          <p:nvPr/>
        </p:nvSpPr>
        <p:spPr bwMode="auto">
          <a:xfrm>
            <a:off x="7223760" y="2039112"/>
            <a:ext cx="45720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  <a:defRPr/>
            </a:pPr>
            <a:r>
              <a:rPr lang="en-US" sz="1150">
                <a:solidFill>
                  <a:srgbClr val="D8F3DC"/>
                </a:solidFill>
                <a:latin typeface="Calibri"/>
                <a:ea typeface="Calibri"/>
                <a:cs typeface="Calibri"/>
              </a:rPr>
              <a:t>ANOVA satu arah membandingkan ragam antar kelompok dengan ragam di dalam kelompok.</a:t>
            </a:r>
            <a:endParaRPr lang="en-US" sz="1150"/>
          </a:p>
        </p:txBody>
      </p:sp>
      <p:sp>
        <p:nvSpPr>
          <p:cNvPr id="1067528623" name="Shape 9"/>
          <p:cNvSpPr/>
          <p:nvPr/>
        </p:nvSpPr>
        <p:spPr bwMode="auto">
          <a:xfrm>
            <a:off x="640080" y="3063240"/>
            <a:ext cx="594360" cy="594360"/>
          </a:xfrm>
          <a:prstGeom prst="ellipse">
            <a:avLst/>
          </a:prstGeom>
          <a:solidFill>
            <a:srgbClr val="2D6A4F"/>
          </a:solidFill>
          <a:ln/>
        </p:spPr>
      </p:sp>
      <p:pic>
        <p:nvPicPr>
          <p:cNvPr id="1987186779" name="Image 2" descr="scale.png"/>
          <p:cNvPicPr>
            <a:picLocks noChangeAspect="1"/>
          </p:cNvPicPr>
          <p:nvPr/>
        </p:nvPicPr>
        <p:blipFill rotWithShape="1">
          <a:blip r:embed="rId5"/>
          <a:stretch/>
        </p:blipFill>
        <p:spPr bwMode="auto">
          <a:xfrm>
            <a:off x="717347" y="3140507"/>
            <a:ext cx="439826" cy="439826"/>
          </a:xfrm>
          <a:prstGeom prst="rect">
            <a:avLst/>
          </a:prstGeom>
        </p:spPr>
      </p:pic>
      <p:sp>
        <p:nvSpPr>
          <p:cNvPr id="1381259289" name="Text 10"/>
          <p:cNvSpPr/>
          <p:nvPr/>
        </p:nvSpPr>
        <p:spPr bwMode="auto">
          <a:xfrm>
            <a:off x="1417320" y="3044952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45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Tukey HSD jika signifikan</a:t>
            </a:r>
            <a:endParaRPr lang="en-US" sz="1450"/>
          </a:p>
        </p:txBody>
      </p:sp>
      <p:sp>
        <p:nvSpPr>
          <p:cNvPr id="719415992" name="Text 11"/>
          <p:cNvSpPr/>
          <p:nvPr/>
        </p:nvSpPr>
        <p:spPr bwMode="auto">
          <a:xfrm>
            <a:off x="1417320" y="3410712"/>
            <a:ext cx="45720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  <a:defRPr/>
            </a:pPr>
            <a:r>
              <a:rPr lang="en-US" sz="1150">
                <a:solidFill>
                  <a:srgbClr val="D8F3DC"/>
                </a:solidFill>
                <a:latin typeface="Calibri"/>
                <a:ea typeface="Calibri"/>
                <a:cs typeface="Calibri"/>
              </a:rPr>
              <a:t>Uji lanjut Tukey HSD hanya diinterpretasikan jika hasil ANOVA signifikan.</a:t>
            </a:r>
            <a:endParaRPr lang="en-US" sz="1150"/>
          </a:p>
        </p:txBody>
      </p:sp>
      <p:sp>
        <p:nvSpPr>
          <p:cNvPr id="1709128698" name="Shape 12"/>
          <p:cNvSpPr/>
          <p:nvPr/>
        </p:nvSpPr>
        <p:spPr bwMode="auto">
          <a:xfrm>
            <a:off x="6446520" y="3063240"/>
            <a:ext cx="594360" cy="594360"/>
          </a:xfrm>
          <a:prstGeom prst="ellipse">
            <a:avLst/>
          </a:prstGeom>
          <a:solidFill>
            <a:srgbClr val="2D6A4F"/>
          </a:solidFill>
          <a:ln/>
        </p:spPr>
      </p:sp>
      <p:pic>
        <p:nvPicPr>
          <p:cNvPr id="1822161241" name="Image 3" descr="check.png"/>
          <p:cNvPicPr>
            <a:picLocks noChangeAspect="1"/>
          </p:cNvPicPr>
          <p:nvPr/>
        </p:nvPicPr>
        <p:blipFill rotWithShape="1">
          <a:blip r:embed="rId6"/>
          <a:stretch/>
        </p:blipFill>
        <p:spPr bwMode="auto">
          <a:xfrm>
            <a:off x="6523787" y="3140507"/>
            <a:ext cx="439826" cy="439826"/>
          </a:xfrm>
          <a:prstGeom prst="rect">
            <a:avLst/>
          </a:prstGeom>
        </p:spPr>
      </p:pic>
      <p:sp>
        <p:nvSpPr>
          <p:cNvPr id="1591382519" name="Text 13"/>
          <p:cNvSpPr/>
          <p:nvPr/>
        </p:nvSpPr>
        <p:spPr bwMode="auto">
          <a:xfrm>
            <a:off x="7223760" y="3044952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45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Selalu periksa asumsi</a:t>
            </a:r>
            <a:endParaRPr lang="en-US" sz="1450"/>
          </a:p>
        </p:txBody>
      </p:sp>
      <p:sp>
        <p:nvSpPr>
          <p:cNvPr id="14515443" name="Text 14"/>
          <p:cNvSpPr/>
          <p:nvPr/>
        </p:nvSpPr>
        <p:spPr bwMode="auto">
          <a:xfrm>
            <a:off x="7223760" y="3410712"/>
            <a:ext cx="45720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  <a:defRPr/>
            </a:pPr>
            <a:r>
              <a:rPr lang="en-US" sz="1150">
                <a:solidFill>
                  <a:srgbClr val="D8F3DC"/>
                </a:solidFill>
                <a:latin typeface="Calibri"/>
                <a:ea typeface="Calibri"/>
                <a:cs typeface="Calibri"/>
              </a:rPr>
              <a:t>Kelayakan model harus diperiksa lewat diagnostik residual sebelum kesimpulan ditarik.</a:t>
            </a:r>
            <a:endParaRPr lang="en-US" sz="1150"/>
          </a:p>
        </p:txBody>
      </p:sp>
      <p:sp>
        <p:nvSpPr>
          <p:cNvPr id="1503817103" name="Shape 15"/>
          <p:cNvSpPr/>
          <p:nvPr/>
        </p:nvSpPr>
        <p:spPr bwMode="auto">
          <a:xfrm>
            <a:off x="640080" y="5897880"/>
            <a:ext cx="10881360" cy="0"/>
          </a:xfrm>
          <a:prstGeom prst="line">
            <a:avLst/>
          </a:prstGeom>
          <a:noFill/>
          <a:ln w="12700">
            <a:solidFill>
              <a:srgbClr val="3A5A46"/>
            </a:solidFill>
            <a:prstDash val="solid"/>
          </a:ln>
        </p:spPr>
      </p:sp>
      <p:sp>
        <p:nvSpPr>
          <p:cNvPr id="276611356" name="Text 16"/>
          <p:cNvSpPr/>
          <p:nvPr/>
        </p:nvSpPr>
        <p:spPr bwMode="auto">
          <a:xfrm>
            <a:off x="640080" y="6016752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250" i="1">
                <a:solidFill>
                  <a:srgbClr val="9FC2AE"/>
                </a:solidFill>
                <a:latin typeface="Calibri"/>
                <a:ea typeface="Calibri"/>
                <a:cs typeface="Calibri"/>
              </a:rPr>
              <a:t>Selanjutnya: Bab 2 — Rancangan Acak Kelompok (RAK), menambahkan satu arah pengelompokan (blok).</a:t>
            </a:r>
            <a:endParaRPr lang="en-US" sz="1250"/>
          </a:p>
        </p:txBody>
      </p:sp>
      <p:sp>
        <p:nvSpPr>
          <p:cNvPr id="259493158" name="Text 17"/>
          <p:cNvSpPr/>
          <p:nvPr/>
        </p:nvSpPr>
        <p:spPr bwMode="auto"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  <a:defRPr/>
            </a:pPr>
            <a:r>
              <a:rPr lang="en-US" sz="900">
                <a:solidFill>
                  <a:srgbClr val="B7CFC2"/>
                </a:solidFill>
                <a:latin typeface="Calibri"/>
                <a:ea typeface="Calibri"/>
                <a:cs typeface="Calibri"/>
              </a:rPr>
              <a:t>RAL &amp; ANOVA Satu Arah — Biostatistika untuk Biologi</a:t>
            </a:r>
            <a:endParaRPr lang="en-US" sz="900"/>
          </a:p>
        </p:txBody>
      </p:sp>
      <p:sp>
        <p:nvSpPr>
          <p:cNvPr id="414203507" name="Text 18"/>
          <p:cNvSpPr/>
          <p:nvPr/>
        </p:nvSpPr>
        <p:spPr bwMode="auto"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  <a:defRPr/>
            </a:pPr>
            <a:r>
              <a:rPr lang="en-US" sz="900">
                <a:solidFill>
                  <a:srgbClr val="B7CFC2"/>
                </a:solidFill>
                <a:latin typeface="Calibri"/>
                <a:ea typeface="Calibri"/>
                <a:cs typeface="Calibri"/>
              </a:rPr>
              <a:t>12</a:t>
            </a:r>
            <a:endParaRPr lang="en-US" sz="9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ONLYOFFICE/9.4.0.129</Application>
  <PresentationFormat>On-screen Show (4:3)</PresentationFormat>
  <Paragraphs>0</Paragraphs>
  <Slides>12</Slides>
  <Notes>12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3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/>
  <cp:revision>3</cp:revision>
  <dcterms:created xsi:type="dcterms:W3CDTF">2026-09-14T10:08:50Z</dcterms:created>
  <dcterms:modified xsi:type="dcterms:W3CDTF">2026-09-14T15:42:48Z</dcterms:modified>
</cp:coreProperties>
</file>