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54573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896151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12885741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1175691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220726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325654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741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7920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Pembuka: RBSL adalah pengembangan RAK dengan dua arah pengelompokan (baris dan kolom).</a:t>
            </a:r>
            <a:endParaRPr lang="en-US"/>
          </a:p>
        </p:txBody>
      </p:sp>
      <p:sp>
        <p:nvSpPr>
          <p:cNvPr id="363406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65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5229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Capaian pembelajaran Bab 3 sesuai buku ajar.</a:t>
            </a:r>
            <a:endParaRPr lang="en-US"/>
          </a:p>
        </p:txBody>
      </p:sp>
      <p:sp>
        <p:nvSpPr>
          <p:cNvPr id="739831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272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29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Hubungkan dengan RAK pada Bab 2: satu arah pengelompokan menjadi dua arah.</a:t>
            </a:r>
            <a:endParaRPr lang="en-US"/>
          </a:p>
        </p:txBody>
      </p:sp>
      <p:sp>
        <p:nvSpPr>
          <p:cNvPr id="519557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6972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501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Tekankan bahwa verifikasi tata letak dilakukan sebelum ANOVA.</a:t>
            </a:r>
            <a:endParaRPr lang="en-US"/>
          </a:p>
        </p:txBody>
      </p:sp>
      <p:sp>
        <p:nvSpPr>
          <p:cNvPr id="509192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160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3570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Indeks i, j, k tidak bervariasi bebas: perlakuan pada tiap sel ditetapkan oleh tata letak.</a:t>
            </a:r>
            <a:endParaRPr lang="en-US"/>
          </a:p>
        </p:txBody>
      </p:sp>
      <p:sp>
        <p:nvSpPr>
          <p:cNvPr id="1445192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429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3198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Gunakan ilustrasi untuk menunjukkan tiap media muncul sekali per rak dan per waktu.</a:t>
            </a:r>
            <a:endParaRPr lang="en-US"/>
          </a:p>
        </p:txBody>
      </p:sp>
      <p:sp>
        <p:nvSpPr>
          <p:cNvPr id="1544299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205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597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Sesuai subbab 3.1 buku ajar.</a:t>
            </a:r>
            <a:endParaRPr lang="en-US"/>
          </a:p>
        </p:txBody>
      </p:sp>
      <p:sp>
        <p:nvSpPr>
          <p:cNvPr id="1163573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379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31992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Tata letak 4 × 4; geom_tile menghasilkan peta serupa di R.</a:t>
            </a:r>
            <a:endParaRPr lang="en-US"/>
          </a:p>
        </p:txBody>
      </p:sp>
      <p:sp>
        <p:nvSpPr>
          <p:cNvPr id="1875847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576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309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Baris dan kolom yang signifikan menunjukkan pengelompokan dua arah efektif mengurangi galat.</a:t>
            </a:r>
            <a:endParaRPr lang="en-US"/>
          </a:p>
        </p:txBody>
      </p:sp>
      <p:sp>
        <p:nvSpPr>
          <p:cNvPr id="1881112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803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0789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Skrip lengkap: 03_RBSL_LatinSquare_biostatistika.R.</a:t>
            </a:r>
            <a:endParaRPr lang="en-US"/>
          </a:p>
        </p:txBody>
      </p:sp>
      <p:sp>
        <p:nvSpPr>
          <p:cNvPr id="401633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279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808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Rangkuman sesuai buku ajar Bab 3.</a:t>
            </a:r>
            <a:endParaRPr lang="en-US"/>
          </a:p>
        </p:txBody>
      </p:sp>
      <p:sp>
        <p:nvSpPr>
          <p:cNvPr id="836050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9470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Latihan soal sesuai buku ajar Bab 3.</a:t>
            </a:r>
            <a:endParaRPr lang="en-US"/>
          </a:p>
        </p:txBody>
      </p:sp>
      <p:sp>
        <p:nvSpPr>
          <p:cNvPr id="1206419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469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1711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4103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body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872924" name="Title Placeholder 1"/>
          <p:cNvSpPr/>
          <p:nvPr>
            <p:ph type="title"/>
          </p:nvPr>
        </p:nvSpPr>
        <p:spPr bwMode="auto"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4999"/>
              </a:lnSpc>
              <a:buNone/>
              <a:defRPr lang="en-US" sz="3000">
                <a:solidFill>
                  <a:srgbClr val="1F3864"/>
                </a:solidFill>
                <a:latin typeface="Carlito"/>
                <a:ea typeface="Carlito"/>
                <a:cs typeface="Carlito"/>
              </a:defRPr>
            </a:lvl1pPr>
          </a:lstStyle>
          <a:p>
            <a:pPr marL="0" indent="0" algn="l">
              <a:lnSpc>
                <a:spcPct val="114999"/>
              </a:lnSpc>
              <a:buNone/>
              <a:defRPr/>
            </a:pPr>
            <a:endParaRPr lang="en-US" sz="3000"/>
          </a:p>
        </p:txBody>
      </p:sp>
      <p:sp>
        <p:nvSpPr>
          <p:cNvPr id="2097902917" name="Text Placeholder 2"/>
          <p:cNvSpPr/>
          <p:nvPr>
            <p:ph type="body" idx="101"/>
          </p:nvPr>
        </p:nvSpPr>
        <p:spPr bwMode="auto"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1A1A1A"/>
                </a:solidFill>
                <a:latin typeface="Carlito"/>
                <a:ea typeface="Carlito"/>
                <a:cs typeface="Carlito"/>
              </a:defRPr>
            </a:lvl1pPr>
          </a:lstStyle>
          <a:p>
            <a:pPr marL="0" indent="0" algn="l">
              <a:lnSpc>
                <a:spcPct val="140000"/>
              </a:lnSpc>
              <a:buNone/>
              <a:defRPr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958278" name="Title Placeholder 1"/>
          <p:cNvSpPr/>
          <p:nvPr>
            <p:ph type="title"/>
          </p:nvPr>
        </p:nvSpPr>
        <p:spPr bwMode="auto"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4999"/>
              </a:lnSpc>
              <a:buNone/>
              <a:defRPr lang="en-US" sz="3000">
                <a:solidFill>
                  <a:srgbClr val="1F3864"/>
                </a:solidFill>
                <a:latin typeface="Carlito"/>
                <a:ea typeface="Carlito"/>
                <a:cs typeface="Carlito"/>
              </a:defRPr>
            </a:lvl1pPr>
          </a:lstStyle>
          <a:p>
            <a:pPr marL="0" indent="0" algn="l">
              <a:lnSpc>
                <a:spcPct val="114999"/>
              </a:lnSpc>
              <a:buNone/>
              <a:defRPr/>
            </a:pPr>
            <a:endParaRPr lang="en-US" sz="3000"/>
          </a:p>
        </p:txBody>
      </p:sp>
      <p:sp>
        <p:nvSpPr>
          <p:cNvPr id="62367249" name="Text Placeholder 2"/>
          <p:cNvSpPr/>
          <p:nvPr>
            <p:ph type="body" idx="101"/>
          </p:nvPr>
        </p:nvSpPr>
        <p:spPr bwMode="auto"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1A1A1A"/>
                </a:solidFill>
                <a:latin typeface="Carlito"/>
                <a:ea typeface="Carlito"/>
                <a:cs typeface="Carlito"/>
              </a:defRPr>
            </a:lvl1pPr>
          </a:lstStyle>
          <a:p>
            <a:pPr marL="0" indent="0" algn="l">
              <a:lnSpc>
                <a:spcPct val="140000"/>
              </a:lnSpc>
              <a:buNone/>
              <a:defRPr/>
            </a:pP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F386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178742" name="Text 0"/>
          <p:cNvSpPr/>
          <p:nvPr/>
        </p:nvSpPr>
        <p:spPr bwMode="auto">
          <a:xfrm>
            <a:off x="812800" y="248793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9CC3E6"/>
                </a:solidFill>
                <a:latin typeface="Carlito"/>
                <a:ea typeface="Carlito"/>
                <a:cs typeface="Carlito"/>
              </a:rPr>
              <a:t>BAB 3 · BIOSTATISTIKA UNTUK BIOLOGI</a:t>
            </a:r>
            <a:endParaRPr lang="en-US" sz="1600"/>
          </a:p>
        </p:txBody>
      </p:sp>
      <p:sp>
        <p:nvSpPr>
          <p:cNvPr id="927895901" name="Text 1"/>
          <p:cNvSpPr/>
          <p:nvPr>
            <p:ph type="title"/>
          </p:nvPr>
        </p:nvSpPr>
        <p:spPr bwMode="auto">
          <a:xfrm>
            <a:off x="812800" y="297561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  <a:defRPr/>
            </a:pPr>
            <a:r>
              <a:rPr lang="en-US" sz="6000" b="1" i="0">
                <a:solidFill>
                  <a:srgbClr val="F5F8FB"/>
                </a:solidFill>
                <a:latin typeface="Carlito"/>
                <a:ea typeface="Carlito"/>
                <a:cs typeface="Carlito"/>
              </a:rPr>
              <a:t>Rancangan Bujur Sangkar Latin</a:t>
            </a:r>
            <a:endParaRPr lang="en-US" sz="6000"/>
          </a:p>
        </p:txBody>
      </p:sp>
      <p:sp>
        <p:nvSpPr>
          <p:cNvPr id="1405501679" name="Text 2"/>
          <p:cNvSpPr/>
          <p:nvPr/>
        </p:nvSpPr>
        <p:spPr bwMode="auto">
          <a:xfrm>
            <a:off x="812800" y="397891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  <a:defRPr/>
            </a:pPr>
            <a:r>
              <a:rPr lang="en-US" sz="2200">
                <a:solidFill>
                  <a:srgbClr val="D6E4F2"/>
                </a:solidFill>
                <a:latin typeface="Carlito"/>
                <a:ea typeface="Carlito"/>
                <a:cs typeface="Carlito"/>
              </a:rPr>
              <a:t>Mengontrol dua sumber keragaman sekaligus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13575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Capaian Pembelajaran</a:t>
            </a:r>
            <a:endParaRPr lang="en-US" sz="3000"/>
          </a:p>
        </p:txBody>
      </p:sp>
      <p:sp>
        <p:nvSpPr>
          <p:cNvPr id="1667911084" name="Text 1"/>
          <p:cNvSpPr/>
          <p:nvPr/>
        </p:nvSpPr>
        <p:spPr bwMode="auto">
          <a:xfrm>
            <a:off x="812800" y="14605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Setelah mempelajari bab ini, mahasiswa diharapkan mampu:</a:t>
            </a:r>
            <a:endParaRPr lang="en-US" sz="1600"/>
          </a:p>
        </p:txBody>
      </p:sp>
      <p:sp>
        <p:nvSpPr>
          <p:cNvPr id="2036650723" name="Text 2"/>
          <p:cNvSpPr/>
          <p:nvPr/>
        </p:nvSpPr>
        <p:spPr bwMode="auto">
          <a:xfrm>
            <a:off x="869696" y="1973580"/>
            <a:ext cx="10818876" cy="153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104" indent="-197104" algn="l">
              <a:lnSpc>
                <a:spcPts val="2295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Menjelaskan konsep pengelompokan dua arah (baris dan kolom) pada RBSL.</a:t>
            </a:r>
            <a:endParaRPr lang="en-US" sz="1700"/>
          </a:p>
          <a:p>
            <a:pPr marL="197104" indent="-197104" algn="l">
              <a:lnSpc>
                <a:spcPts val="2295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Memverifikasi kesesuaian tata letak data dengan syarat bujur sangkar latin.</a:t>
            </a:r>
            <a:endParaRPr lang="en-US" sz="1700"/>
          </a:p>
          <a:p>
            <a:pPr marL="197104" indent="-197104" algn="l">
              <a:lnSpc>
                <a:spcPts val="2295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Menyusun dan menafsirkan model ANOVA tiga arah tanpa interaksi.</a:t>
            </a:r>
            <a:endParaRPr lang="en-US" sz="1700"/>
          </a:p>
          <a:p>
            <a:pPr marL="197104" indent="-197104" algn="l">
              <a:lnSpc>
                <a:spcPts val="2295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Memvisualisasikan tata letak petak percobaan dalam peta dua dimensi.</a:t>
            </a:r>
            <a:endParaRPr lang="en-US" sz="1700"/>
          </a:p>
          <a:p>
            <a:pPr marL="197104" indent="-197104" algn="l">
              <a:lnSpc>
                <a:spcPts val="2295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Memahami keterbatasan RBSL dalam pengujian interaksi.</a:t>
            </a:r>
            <a:endParaRPr lang="en-US" sz="1700"/>
          </a:p>
        </p:txBody>
      </p:sp>
      <p:sp>
        <p:nvSpPr>
          <p:cNvPr id="1222890305" name="Text 3"/>
          <p:cNvSpPr/>
          <p:nvPr/>
        </p:nvSpPr>
        <p:spPr bwMode="auto"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91770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Pendahuluan</a:t>
            </a:r>
            <a:endParaRPr lang="en-US" sz="3000"/>
          </a:p>
        </p:txBody>
      </p:sp>
      <p:sp>
        <p:nvSpPr>
          <p:cNvPr id="2129928232" name="Text 1"/>
          <p:cNvSpPr/>
          <p:nvPr/>
        </p:nvSpPr>
        <p:spPr bwMode="auto">
          <a:xfrm>
            <a:off x="812800" y="146050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  <a:defRPr/>
            </a:pPr>
            <a:r>
              <a:rPr lang="en-US" sz="18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Rancangan Bujur Sangkar Latin (RBSL) adalah pengembangan RAK dengan </a:t>
            </a:r>
            <a:r>
              <a:rPr lang="en-US" sz="18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dua arah pengelompokan</a:t>
            </a:r>
            <a:r>
              <a:rPr lang="en-US" sz="18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sekaligus, yaitu baris dan kolom (Gomez &amp; Gomez, 1984).</a:t>
            </a:r>
            <a:endParaRPr lang="en-US" sz="1800"/>
          </a:p>
        </p:txBody>
      </p:sp>
      <p:sp>
        <p:nvSpPr>
          <p:cNvPr id="1537462603" name="Text 2"/>
          <p:cNvSpPr/>
          <p:nvPr/>
        </p:nvSpPr>
        <p:spPr bwMode="auto">
          <a:xfrm>
            <a:off x="812800" y="232918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  <a:defRPr/>
            </a:pPr>
            <a:r>
              <a:rPr lang="en-US" sz="18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Setiap perlakuan muncul tepat satu kali pada setiap baris dan tepat satu kali pada setiap kolom, sehingga pengaruh baris dan kolom terpisah dari pengaruh perlakuan.</a:t>
            </a:r>
            <a:endParaRPr lang="en-US" sz="1800"/>
          </a:p>
        </p:txBody>
      </p:sp>
      <p:sp>
        <p:nvSpPr>
          <p:cNvPr id="1491428342" name="Text 3"/>
          <p:cNvSpPr/>
          <p:nvPr/>
        </p:nvSpPr>
        <p:spPr bwMode="auto">
          <a:xfrm>
            <a:off x="812800" y="3197861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  <a:defRPr/>
            </a:pPr>
            <a:r>
              <a:rPr lang="en-US" sz="18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Jumlah ulangan sama dengan jumlah perlakuan (tata letak n × n), sehingga model klasik tidak dapat menguji interaksi (Montgomery, 2017; Steel et al., 1997).</a:t>
            </a:r>
            <a:endParaRPr lang="en-US" sz="1800"/>
          </a:p>
        </p:txBody>
      </p:sp>
      <p:sp>
        <p:nvSpPr>
          <p:cNvPr id="860314581" name="Text 4"/>
          <p:cNvSpPr/>
          <p:nvPr/>
        </p:nvSpPr>
        <p:spPr bwMode="auto"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32227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Konsep Kunci</a:t>
            </a:r>
            <a:endParaRPr lang="en-US" sz="3000"/>
          </a:p>
        </p:txBody>
      </p:sp>
      <p:sp>
        <p:nvSpPr>
          <p:cNvPr id="215750177" name="Shape 1"/>
          <p:cNvSpPr/>
          <p:nvPr/>
        </p:nvSpPr>
        <p:spPr bwMode="auto">
          <a:xfrm>
            <a:off x="812800" y="1460500"/>
            <a:ext cx="10566400" cy="2575560"/>
          </a:xfrm>
          <a:prstGeom prst="roundRect">
            <a:avLst>
              <a:gd name="adj" fmla="val 1972"/>
            </a:avLst>
          </a:prstGeom>
          <a:solidFill>
            <a:srgbClr val="EAF1F8"/>
          </a:solidFill>
          <a:ln/>
        </p:spPr>
      </p:sp>
      <p:sp>
        <p:nvSpPr>
          <p:cNvPr id="1382836565" name="Shape 2"/>
          <p:cNvSpPr/>
          <p:nvPr/>
        </p:nvSpPr>
        <p:spPr bwMode="auto">
          <a:xfrm>
            <a:off x="812800" y="1460500"/>
            <a:ext cx="10566400" cy="2575560"/>
          </a:xfrm>
          <a:custGeom>
            <a:avLst/>
            <a:gdLst/>
            <a:ahLst/>
            <a:cxnLst/>
            <a:rect l="l" t="t" r="r" b="b"/>
            <a:pathLst>
              <a:path w="10566400" h="2575560" fill="norm" stroke="1" extrusionOk="0">
                <a:moveTo>
                  <a:pt x="101600" y="2575560"/>
                </a:moveTo>
                <a:lnTo>
                  <a:pt x="50800" y="25755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101600" y="0"/>
                </a:lnTo>
                <a:lnTo>
                  <a:pt x="101600" y="2575560"/>
                </a:lnTo>
                <a:close/>
              </a:path>
            </a:pathLst>
          </a:custGeom>
          <a:solidFill>
            <a:srgbClr val="2E74B5"/>
          </a:solidFill>
          <a:ln/>
        </p:spPr>
      </p:sp>
      <p:sp>
        <p:nvSpPr>
          <p:cNvPr id="1523421649" name="Text 3"/>
          <p:cNvSpPr/>
          <p:nvPr/>
        </p:nvSpPr>
        <p:spPr bwMode="auto">
          <a:xfrm>
            <a:off x="1270000" y="1765300"/>
            <a:ext cx="1004620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  <a:defRPr/>
            </a:pPr>
            <a:r>
              <a:rPr lang="en-US" sz="2200" b="1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Syarat tata letak bujur sangkar latin</a:t>
            </a:r>
            <a:endParaRPr lang="en-US" sz="2200"/>
          </a:p>
        </p:txBody>
      </p:sp>
      <p:sp>
        <p:nvSpPr>
          <p:cNvPr id="775663079" name="Text 4"/>
          <p:cNvSpPr/>
          <p:nvPr/>
        </p:nvSpPr>
        <p:spPr bwMode="auto">
          <a:xfrm>
            <a:off x="1270000" y="2252980"/>
            <a:ext cx="10046208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0"/>
              </a:lnSpc>
              <a:buNone/>
              <a:defRPr/>
            </a:pPr>
            <a:r>
              <a:rPr lang="en-US" sz="1800" i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Sebelum dianalisis, tata letak wajib diverifikasi: setiap perlakuan harus muncul tepat satu kali pada tiap baris dan tepat satu kali pada tiap kolom.</a:t>
            </a:r>
            <a:endParaRPr lang="en-US" sz="1800"/>
          </a:p>
        </p:txBody>
      </p:sp>
      <p:sp>
        <p:nvSpPr>
          <p:cNvPr id="13585920" name="Text 5"/>
          <p:cNvSpPr/>
          <p:nvPr/>
        </p:nvSpPr>
        <p:spPr bwMode="auto">
          <a:xfrm>
            <a:off x="1270000" y="3068319"/>
            <a:ext cx="10046208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0"/>
              </a:lnSpc>
              <a:buNone/>
              <a:defRPr/>
            </a:pPr>
            <a:r>
              <a:rPr lang="en-US" sz="1800" i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Pelanggaran syarat ini membuat pemisahan pengaruh baris, kolom, dan perlakuan tidak valid secara matematis, sehingga hasil ANOVA tidak dapat dipercaya.</a:t>
            </a:r>
            <a:endParaRPr lang="en-US" sz="1800"/>
          </a:p>
        </p:txBody>
      </p:sp>
      <p:sp>
        <p:nvSpPr>
          <p:cNvPr id="28531434" name="Text 6"/>
          <p:cNvSpPr/>
          <p:nvPr/>
        </p:nvSpPr>
        <p:spPr bwMode="auto"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651664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Dasar Teori</a:t>
            </a:r>
            <a:endParaRPr lang="en-US" sz="3000"/>
          </a:p>
        </p:txBody>
      </p:sp>
      <p:sp>
        <p:nvSpPr>
          <p:cNvPr id="928861972" name="Text 1"/>
          <p:cNvSpPr/>
          <p:nvPr/>
        </p:nvSpPr>
        <p:spPr bwMode="auto">
          <a:xfrm>
            <a:off x="812800" y="1460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Model linear aditif RBSL memuat rataan umum, pengaruh baris, kolom, dan perlakuan (Gomez &amp; Gomez, 1984; Steel et al., 1997):</a:t>
            </a:r>
            <a:endParaRPr lang="en-US" sz="1500"/>
          </a:p>
        </p:txBody>
      </p:sp>
      <p:sp>
        <p:nvSpPr>
          <p:cNvPr id="2115783518" name="Text 2"/>
          <p:cNvSpPr/>
          <p:nvPr/>
        </p:nvSpPr>
        <p:spPr bwMode="auto">
          <a:xfrm>
            <a:off x="812800" y="1955800"/>
            <a:ext cx="10566400" cy="914400"/>
          </a:xfrm>
          <a:prstGeom prst="roundRect">
            <a:avLst>
              <a:gd name="adj" fmla="val 11111"/>
            </a:avLst>
          </a:prstGeom>
          <a:solidFill>
            <a:srgbClr val="1F3864"/>
          </a:solidFill>
          <a:ln/>
        </p:spPr>
        <p:txBody>
          <a:bodyPr wrap="square" lIns="47204" tIns="198841" rIns="47204" bIns="173442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  <a:defRPr/>
            </a:pPr>
            <a:r>
              <a:rPr lang="en-US" sz="30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Yijk = μ + ρi + γj + τk + εijk</a:t>
            </a:r>
            <a:endParaRPr lang="en-US" sz="3000"/>
          </a:p>
        </p:txBody>
      </p:sp>
      <p:sp>
        <p:nvSpPr>
          <p:cNvPr id="1143262027" name="Text 3"/>
          <p:cNvSpPr/>
          <p:nvPr/>
        </p:nvSpPr>
        <p:spPr bwMode="auto">
          <a:xfrm>
            <a:off x="812800" y="3098800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Yijk</a:t>
            </a:r>
            <a:r>
              <a:rPr lang="en-US" sz="14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pengamatan baris i, kolom j, perlakuan k</a:t>
            </a:r>
            <a:endParaRPr lang="en-US" sz="1400"/>
          </a:p>
        </p:txBody>
      </p:sp>
      <p:sp>
        <p:nvSpPr>
          <p:cNvPr id="1187114384" name="Text 4"/>
          <p:cNvSpPr/>
          <p:nvPr/>
        </p:nvSpPr>
        <p:spPr bwMode="auto">
          <a:xfrm>
            <a:off x="812800" y="3389629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μ</a:t>
            </a:r>
            <a:r>
              <a:rPr lang="en-US" sz="14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rataan umum populasi</a:t>
            </a:r>
            <a:endParaRPr lang="en-US" sz="1400"/>
          </a:p>
        </p:txBody>
      </p:sp>
      <p:sp>
        <p:nvSpPr>
          <p:cNvPr id="1292818376" name="Text 5"/>
          <p:cNvSpPr/>
          <p:nvPr/>
        </p:nvSpPr>
        <p:spPr bwMode="auto">
          <a:xfrm>
            <a:off x="812800" y="3680461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ρi</a:t>
            </a:r>
            <a:r>
              <a:rPr lang="en-US" sz="14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pengaruh baris ke-i</a:t>
            </a:r>
            <a:endParaRPr lang="en-US" sz="1400"/>
          </a:p>
        </p:txBody>
      </p:sp>
      <p:sp>
        <p:nvSpPr>
          <p:cNvPr id="2105980060" name="Text 6"/>
          <p:cNvSpPr/>
          <p:nvPr/>
        </p:nvSpPr>
        <p:spPr bwMode="auto">
          <a:xfrm>
            <a:off x="6299200" y="3098800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γj</a:t>
            </a:r>
            <a:r>
              <a:rPr lang="en-US" sz="14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pengaruh kolom ke-j</a:t>
            </a:r>
            <a:endParaRPr lang="en-US" sz="1400"/>
          </a:p>
        </p:txBody>
      </p:sp>
      <p:sp>
        <p:nvSpPr>
          <p:cNvPr id="602403325" name="Text 7"/>
          <p:cNvSpPr/>
          <p:nvPr/>
        </p:nvSpPr>
        <p:spPr bwMode="auto">
          <a:xfrm>
            <a:off x="6299200" y="3389629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τk</a:t>
            </a:r>
            <a:r>
              <a:rPr lang="en-US" sz="14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pengaruh perlakuan ke-k</a:t>
            </a:r>
            <a:endParaRPr lang="en-US" sz="1400"/>
          </a:p>
        </p:txBody>
      </p:sp>
      <p:sp>
        <p:nvSpPr>
          <p:cNvPr id="1153897035" name="Text 8"/>
          <p:cNvSpPr/>
          <p:nvPr/>
        </p:nvSpPr>
        <p:spPr bwMode="auto">
          <a:xfrm>
            <a:off x="6299200" y="3680461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εijk</a:t>
            </a:r>
            <a:r>
              <a:rPr lang="en-US" sz="14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galat, N(0, σ²)</a:t>
            </a:r>
            <a:endParaRPr lang="en-US" sz="1400"/>
          </a:p>
        </p:txBody>
      </p:sp>
      <p:sp>
        <p:nvSpPr>
          <p:cNvPr id="1240412668" name="Text 9"/>
          <p:cNvSpPr/>
          <p:nvPr/>
        </p:nvSpPr>
        <p:spPr bwMode="auto">
          <a:xfrm>
            <a:off x="812800" y="414908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Hanya n² pengamatan (bukan n³), sehingga derajat bebas galat terbatas dan interaksi tidak dapat diduga (Montgomery, 2017).</a:t>
            </a:r>
            <a:endParaRPr lang="en-US" sz="1400"/>
          </a:p>
        </p:txBody>
      </p:sp>
      <p:sp>
        <p:nvSpPr>
          <p:cNvPr id="78757944" name="Text 10"/>
          <p:cNvSpPr/>
          <p:nvPr/>
        </p:nvSpPr>
        <p:spPr bwMode="auto"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538451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Contoh Kasus</a:t>
            </a:r>
            <a:endParaRPr lang="en-US" sz="3000"/>
          </a:p>
        </p:txBody>
      </p:sp>
      <p:sp>
        <p:nvSpPr>
          <p:cNvPr id="981089695" name="Text 1"/>
          <p:cNvSpPr/>
          <p:nvPr/>
        </p:nvSpPr>
        <p:spPr bwMode="auto">
          <a:xfrm>
            <a:off x="812800" y="2419350"/>
            <a:ext cx="668439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Peneliti mikrobiologi membandingkan </a:t>
            </a:r>
            <a:r>
              <a:rPr lang="en-US" sz="15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empat media tumbuh</a:t>
            </a: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(A–D) terhadap diameter koloni </a:t>
            </a:r>
            <a:r>
              <a:rPr lang="en-US" sz="1500" i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Aspergillus niger</a:t>
            </a: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setelah 5 hari inkubasi.</a:t>
            </a:r>
            <a:endParaRPr lang="en-US" sz="1500"/>
          </a:p>
        </p:txBody>
      </p:sp>
      <p:sp>
        <p:nvSpPr>
          <p:cNvPr id="906170304" name="Text 2"/>
          <p:cNvSpPr/>
          <p:nvPr/>
        </p:nvSpPr>
        <p:spPr bwMode="auto">
          <a:xfrm>
            <a:off x="812800" y="3105150"/>
            <a:ext cx="668439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Cawan petri disusun pada </a:t>
            </a:r>
            <a:r>
              <a:rPr lang="en-US" sz="15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4 rak</a:t>
            </a: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(baris) dan </a:t>
            </a:r>
            <a:r>
              <a:rPr lang="en-US" sz="15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4 waktu inokulasi</a:t>
            </a: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(kolom), karena suhu inkubator bervariasi menurut keduanya.</a:t>
            </a:r>
            <a:endParaRPr lang="en-US" sz="1500"/>
          </a:p>
        </p:txBody>
      </p:sp>
      <p:sp>
        <p:nvSpPr>
          <p:cNvPr id="1897247372" name="Text 3"/>
          <p:cNvSpPr/>
          <p:nvPr/>
        </p:nvSpPr>
        <p:spPr bwMode="auto">
          <a:xfrm>
            <a:off x="812800" y="3790949"/>
            <a:ext cx="6845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Dengan tata letak 4 × 4, perbedaan diameter dapat diatribusikan pada jenis media.</a:t>
            </a:r>
            <a:endParaRPr lang="en-US" sz="1500"/>
          </a:p>
        </p:txBody>
      </p:sp>
      <p:pic>
        <p:nvPicPr>
          <p:cNvPr id="722948147" name="Image 0" descr="Tata letak bujur sangkar latin 4×4: media A–D pada rak dan waktu inokulasi"/>
          <p:cNvPicPr>
            <a:picLocks noChangeAspect="1"/>
          </p:cNvPicPr>
          <p:nvPr/>
        </p:nvPicPr>
        <p:blipFill rotWithShape="1">
          <a:blip r:embed="rId3"/>
          <a:srcRect l="0" t="-4" r="0" b="-4"/>
          <a:stretch/>
        </p:blipFill>
        <p:spPr bwMode="auto">
          <a:xfrm>
            <a:off x="7658100" y="1460500"/>
            <a:ext cx="3721100" cy="3556000"/>
          </a:xfrm>
          <a:prstGeom prst="rect">
            <a:avLst/>
          </a:prstGeom>
        </p:spPr>
      </p:pic>
      <p:sp>
        <p:nvSpPr>
          <p:cNvPr id="1589515139" name="Text 4"/>
          <p:cNvSpPr/>
          <p:nvPr/>
        </p:nvSpPr>
        <p:spPr bwMode="auto"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048311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3.1 Menyiapkan dan Memverifikasi Data</a:t>
            </a:r>
            <a:endParaRPr lang="en-US" sz="3000"/>
          </a:p>
        </p:txBody>
      </p:sp>
      <p:sp>
        <p:nvSpPr>
          <p:cNvPr id="236664608" name="Text 1"/>
          <p:cNvSpPr/>
          <p:nvPr/>
        </p:nvSpPr>
        <p:spPr bwMode="auto">
          <a:xfrm>
            <a:off x="812800" y="1460500"/>
            <a:ext cx="1137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Ubah baris, kolom, dan perlakuan menjadi faktor, lalu pastikan setiap perlakuan muncul tepat satu kali per baris dan per kolom.</a:t>
            </a:r>
            <a:endParaRPr lang="en-US" sz="1600"/>
          </a:p>
        </p:txBody>
      </p:sp>
      <p:sp>
        <p:nvSpPr>
          <p:cNvPr id="2052202801" name="Text 2"/>
          <p:cNvSpPr/>
          <p:nvPr/>
        </p:nvSpPr>
        <p:spPr bwMode="auto">
          <a:xfrm>
            <a:off x="812800" y="1973579"/>
            <a:ext cx="10566400" cy="2171700"/>
          </a:xfrm>
          <a:prstGeom prst="roundRect">
            <a:avLst>
              <a:gd name="adj" fmla="val 4678"/>
            </a:avLst>
          </a:prstGeom>
          <a:solidFill>
            <a:srgbClr val="1E1E1E"/>
          </a:solidFill>
          <a:ln/>
        </p:spPr>
        <p:txBody>
          <a:bodyPr wrap="square" lIns="249642" tIns="198841" rIns="0" bIns="173442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data &lt;- data |&gt;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  mutate(baris = factor(baris), kolom = factor(kolom),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    perlakuan = factor(perlakuan))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  <a:defRPr/>
            </a:pPr>
            <a:endParaRPr lang="en-US" sz="1500"/>
          </a:p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table(data$baris, data$perlakuan)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table(data$kolom, data$perlakuan)</a:t>
            </a:r>
            <a:endParaRPr lang="en-US" sz="1500"/>
          </a:p>
        </p:txBody>
      </p:sp>
      <p:sp>
        <p:nvSpPr>
          <p:cNvPr id="1444070169" name="Text 3"/>
          <p:cNvSpPr/>
          <p:nvPr/>
        </p:nvSpPr>
        <p:spPr bwMode="auto">
          <a:xfrm>
            <a:off x="812800" y="437387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Jika tabel bukan berisi angka 1 semua, tata letak belum memenuhi syarat dan model tidak valid.</a:t>
            </a:r>
            <a:endParaRPr lang="en-US" sz="1500"/>
          </a:p>
        </p:txBody>
      </p:sp>
      <p:sp>
        <p:nvSpPr>
          <p:cNvPr id="415561322" name="Text 4"/>
          <p:cNvSpPr/>
          <p:nvPr/>
        </p:nvSpPr>
        <p:spPr bwMode="auto"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926750" name="Text 0"/>
          <p:cNvSpPr/>
          <p:nvPr/>
        </p:nvSpPr>
        <p:spPr bwMode="auto"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  <p:sp>
        <p:nvSpPr>
          <p:cNvPr id="531969453" name="Text 1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3.2 Visualisasi Tata Letak Petak</a:t>
            </a:r>
            <a:endParaRPr lang="en-US" sz="3000"/>
          </a:p>
        </p:txBody>
      </p:sp>
      <p:sp>
        <p:nvSpPr>
          <p:cNvPr id="2117112543" name="Text 2"/>
          <p:cNvSpPr/>
          <p:nvPr/>
        </p:nvSpPr>
        <p:spPr bwMode="auto">
          <a:xfrm>
            <a:off x="787400" y="1551304"/>
            <a:ext cx="1003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Waktu 1</a:t>
            </a:r>
            <a:endParaRPr lang="en-US" sz="1500"/>
          </a:p>
        </p:txBody>
      </p:sp>
      <p:sp>
        <p:nvSpPr>
          <p:cNvPr id="1530469046" name="Text 3"/>
          <p:cNvSpPr/>
          <p:nvPr/>
        </p:nvSpPr>
        <p:spPr bwMode="auto">
          <a:xfrm>
            <a:off x="1790700" y="1551304"/>
            <a:ext cx="8762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Waktu 2</a:t>
            </a:r>
            <a:endParaRPr lang="en-US" sz="1500"/>
          </a:p>
        </p:txBody>
      </p:sp>
      <p:sp>
        <p:nvSpPr>
          <p:cNvPr id="27615892" name="Text 4"/>
          <p:cNvSpPr/>
          <p:nvPr/>
        </p:nvSpPr>
        <p:spPr bwMode="auto">
          <a:xfrm>
            <a:off x="2667000" y="1551304"/>
            <a:ext cx="8762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Waktu 3</a:t>
            </a:r>
            <a:endParaRPr lang="en-US" sz="1500"/>
          </a:p>
        </p:txBody>
      </p:sp>
      <p:sp>
        <p:nvSpPr>
          <p:cNvPr id="1176193973" name="Text 5"/>
          <p:cNvSpPr/>
          <p:nvPr/>
        </p:nvSpPr>
        <p:spPr bwMode="auto">
          <a:xfrm>
            <a:off x="3543300" y="1551304"/>
            <a:ext cx="8762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Waktu 4</a:t>
            </a:r>
            <a:endParaRPr lang="en-US" sz="1500"/>
          </a:p>
        </p:txBody>
      </p:sp>
      <p:sp>
        <p:nvSpPr>
          <p:cNvPr id="611653346" name="Text 6"/>
          <p:cNvSpPr/>
          <p:nvPr/>
        </p:nvSpPr>
        <p:spPr bwMode="auto">
          <a:xfrm>
            <a:off x="4485745" y="2112749"/>
            <a:ext cx="8762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Rak 1</a:t>
            </a:r>
            <a:endParaRPr lang="en-US" sz="1500"/>
          </a:p>
        </p:txBody>
      </p:sp>
      <p:sp>
        <p:nvSpPr>
          <p:cNvPr id="1031458980" name="Text 7"/>
          <p:cNvSpPr/>
          <p:nvPr/>
        </p:nvSpPr>
        <p:spPr bwMode="auto">
          <a:xfrm>
            <a:off x="812800" y="1957704"/>
            <a:ext cx="952500" cy="568960"/>
          </a:xfrm>
          <a:custGeom>
            <a:avLst/>
            <a:gdLst/>
            <a:ahLst/>
            <a:cxnLst/>
            <a:rect l="l" t="t" r="r" b="b"/>
            <a:pathLst>
              <a:path w="952500" h="568960" fill="norm" stroke="1" extrusionOk="0">
                <a:moveTo>
                  <a:pt x="50800" y="0"/>
                </a:moveTo>
                <a:lnTo>
                  <a:pt x="901700" y="0"/>
                </a:lnTo>
                <a:arcTo wR="50800" hR="50800" stAng="16200000" swAng="5400000"/>
                <a:lnTo>
                  <a:pt x="952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2E74B5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A</a:t>
            </a:r>
            <a:endParaRPr lang="en-US" sz="2200"/>
          </a:p>
        </p:txBody>
      </p:sp>
      <p:sp>
        <p:nvSpPr>
          <p:cNvPr id="1898421374" name="Text 8"/>
          <p:cNvSpPr/>
          <p:nvPr/>
        </p:nvSpPr>
        <p:spPr bwMode="auto">
          <a:xfrm>
            <a:off x="1816100" y="1957704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C9651F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B</a:t>
            </a:r>
            <a:endParaRPr lang="en-US" sz="2200"/>
          </a:p>
        </p:txBody>
      </p:sp>
      <p:sp>
        <p:nvSpPr>
          <p:cNvPr id="1806124351" name="Text 9"/>
          <p:cNvSpPr/>
          <p:nvPr/>
        </p:nvSpPr>
        <p:spPr bwMode="auto">
          <a:xfrm>
            <a:off x="2692400" y="1957704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E8E41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C</a:t>
            </a:r>
            <a:endParaRPr lang="en-US" sz="2200"/>
          </a:p>
        </p:txBody>
      </p:sp>
      <p:sp>
        <p:nvSpPr>
          <p:cNvPr id="1786678596" name="Text 10"/>
          <p:cNvSpPr/>
          <p:nvPr/>
        </p:nvSpPr>
        <p:spPr bwMode="auto">
          <a:xfrm>
            <a:off x="3568700" y="1957704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B0372A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D</a:t>
            </a:r>
            <a:endParaRPr lang="en-US" sz="2200"/>
          </a:p>
        </p:txBody>
      </p:sp>
      <p:sp>
        <p:nvSpPr>
          <p:cNvPr id="1357316624" name="Text 11"/>
          <p:cNvSpPr/>
          <p:nvPr/>
        </p:nvSpPr>
        <p:spPr bwMode="auto">
          <a:xfrm>
            <a:off x="4485745" y="2674195"/>
            <a:ext cx="8762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Rak 2</a:t>
            </a:r>
            <a:endParaRPr lang="en-US" sz="1500"/>
          </a:p>
        </p:txBody>
      </p:sp>
      <p:sp>
        <p:nvSpPr>
          <p:cNvPr id="1880669910" name="Text 12"/>
          <p:cNvSpPr/>
          <p:nvPr/>
        </p:nvSpPr>
        <p:spPr bwMode="auto">
          <a:xfrm>
            <a:off x="812800" y="2577464"/>
            <a:ext cx="952500" cy="568960"/>
          </a:xfrm>
          <a:custGeom>
            <a:avLst/>
            <a:gdLst/>
            <a:ahLst/>
            <a:cxnLst/>
            <a:rect l="l" t="t" r="r" b="b"/>
            <a:pathLst>
              <a:path w="952500" h="568960" fill="norm" stroke="1" extrusionOk="0">
                <a:moveTo>
                  <a:pt x="50800" y="0"/>
                </a:moveTo>
                <a:lnTo>
                  <a:pt x="901700" y="0"/>
                </a:lnTo>
                <a:arcTo wR="50800" hR="50800" stAng="16200000" swAng="5400000"/>
                <a:lnTo>
                  <a:pt x="952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C9651F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B</a:t>
            </a:r>
            <a:endParaRPr lang="en-US" sz="2200"/>
          </a:p>
        </p:txBody>
      </p:sp>
      <p:sp>
        <p:nvSpPr>
          <p:cNvPr id="755612199" name="Text 13"/>
          <p:cNvSpPr/>
          <p:nvPr/>
        </p:nvSpPr>
        <p:spPr bwMode="auto">
          <a:xfrm>
            <a:off x="1816100" y="2577464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E8E41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C</a:t>
            </a:r>
            <a:endParaRPr lang="en-US" sz="2200"/>
          </a:p>
        </p:txBody>
      </p:sp>
      <p:sp>
        <p:nvSpPr>
          <p:cNvPr id="1114893648" name="Text 14"/>
          <p:cNvSpPr/>
          <p:nvPr/>
        </p:nvSpPr>
        <p:spPr bwMode="auto">
          <a:xfrm>
            <a:off x="2692400" y="2577464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B0372A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D</a:t>
            </a:r>
            <a:endParaRPr lang="en-US" sz="2200"/>
          </a:p>
        </p:txBody>
      </p:sp>
      <p:sp>
        <p:nvSpPr>
          <p:cNvPr id="2073850211" name="Text 15"/>
          <p:cNvSpPr/>
          <p:nvPr/>
        </p:nvSpPr>
        <p:spPr bwMode="auto">
          <a:xfrm>
            <a:off x="3568700" y="2577464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2E74B5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A</a:t>
            </a:r>
            <a:endParaRPr lang="en-US" sz="2200"/>
          </a:p>
        </p:txBody>
      </p:sp>
      <p:sp>
        <p:nvSpPr>
          <p:cNvPr id="2039007905" name="Text 16"/>
          <p:cNvSpPr/>
          <p:nvPr/>
        </p:nvSpPr>
        <p:spPr bwMode="auto">
          <a:xfrm>
            <a:off x="4485745" y="3293955"/>
            <a:ext cx="8762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Rak 3</a:t>
            </a:r>
            <a:endParaRPr lang="en-US" sz="1500"/>
          </a:p>
        </p:txBody>
      </p:sp>
      <p:sp>
        <p:nvSpPr>
          <p:cNvPr id="1458872999" name="Text 17"/>
          <p:cNvSpPr/>
          <p:nvPr/>
        </p:nvSpPr>
        <p:spPr bwMode="auto">
          <a:xfrm>
            <a:off x="812800" y="3197225"/>
            <a:ext cx="952500" cy="568960"/>
          </a:xfrm>
          <a:custGeom>
            <a:avLst/>
            <a:gdLst/>
            <a:ahLst/>
            <a:cxnLst/>
            <a:rect l="l" t="t" r="r" b="b"/>
            <a:pathLst>
              <a:path w="952500" h="568960" fill="norm" stroke="1" extrusionOk="0">
                <a:moveTo>
                  <a:pt x="50800" y="0"/>
                </a:moveTo>
                <a:lnTo>
                  <a:pt x="901700" y="0"/>
                </a:lnTo>
                <a:arcTo wR="50800" hR="50800" stAng="16200000" swAng="5400000"/>
                <a:lnTo>
                  <a:pt x="952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E8E41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C</a:t>
            </a:r>
            <a:endParaRPr lang="en-US" sz="2200"/>
          </a:p>
        </p:txBody>
      </p:sp>
      <p:sp>
        <p:nvSpPr>
          <p:cNvPr id="790894537" name="Text 18"/>
          <p:cNvSpPr/>
          <p:nvPr/>
        </p:nvSpPr>
        <p:spPr bwMode="auto">
          <a:xfrm>
            <a:off x="1816100" y="3197225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B0372A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D</a:t>
            </a:r>
            <a:endParaRPr lang="en-US" sz="2200"/>
          </a:p>
        </p:txBody>
      </p:sp>
      <p:sp>
        <p:nvSpPr>
          <p:cNvPr id="1137593549" name="Text 19"/>
          <p:cNvSpPr/>
          <p:nvPr/>
        </p:nvSpPr>
        <p:spPr bwMode="auto">
          <a:xfrm>
            <a:off x="2692400" y="3197225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2E74B5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A</a:t>
            </a:r>
            <a:endParaRPr lang="en-US" sz="2200"/>
          </a:p>
        </p:txBody>
      </p:sp>
      <p:sp>
        <p:nvSpPr>
          <p:cNvPr id="1844260048" name="Text 20"/>
          <p:cNvSpPr/>
          <p:nvPr/>
        </p:nvSpPr>
        <p:spPr bwMode="auto">
          <a:xfrm>
            <a:off x="3568700" y="3197225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C9651F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B</a:t>
            </a:r>
            <a:endParaRPr lang="en-US" sz="2200"/>
          </a:p>
        </p:txBody>
      </p:sp>
      <p:sp>
        <p:nvSpPr>
          <p:cNvPr id="1396168775" name="Text 21"/>
          <p:cNvSpPr/>
          <p:nvPr/>
        </p:nvSpPr>
        <p:spPr bwMode="auto">
          <a:xfrm>
            <a:off x="4485745" y="3913716"/>
            <a:ext cx="8762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Rak 4</a:t>
            </a:r>
            <a:endParaRPr lang="en-US" sz="1500"/>
          </a:p>
        </p:txBody>
      </p:sp>
      <p:sp>
        <p:nvSpPr>
          <p:cNvPr id="525249075" name="Text 22"/>
          <p:cNvSpPr/>
          <p:nvPr/>
        </p:nvSpPr>
        <p:spPr bwMode="auto">
          <a:xfrm>
            <a:off x="812800" y="3816986"/>
            <a:ext cx="952500" cy="568960"/>
          </a:xfrm>
          <a:custGeom>
            <a:avLst/>
            <a:gdLst/>
            <a:ahLst/>
            <a:cxnLst/>
            <a:rect l="l" t="t" r="r" b="b"/>
            <a:pathLst>
              <a:path w="952500" h="568960" fill="norm" stroke="1" extrusionOk="0">
                <a:moveTo>
                  <a:pt x="50800" y="0"/>
                </a:moveTo>
                <a:lnTo>
                  <a:pt x="901700" y="0"/>
                </a:lnTo>
                <a:arcTo wR="50800" hR="50800" stAng="16200000" swAng="5400000"/>
                <a:lnTo>
                  <a:pt x="952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B0372A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D</a:t>
            </a:r>
            <a:endParaRPr lang="en-US" sz="2200"/>
          </a:p>
        </p:txBody>
      </p:sp>
      <p:sp>
        <p:nvSpPr>
          <p:cNvPr id="408662381" name="Text 23"/>
          <p:cNvSpPr/>
          <p:nvPr/>
        </p:nvSpPr>
        <p:spPr bwMode="auto">
          <a:xfrm>
            <a:off x="1816100" y="3816986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2E74B5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A</a:t>
            </a:r>
            <a:endParaRPr lang="en-US" sz="2200"/>
          </a:p>
        </p:txBody>
      </p:sp>
      <p:sp>
        <p:nvSpPr>
          <p:cNvPr id="2021852286" name="Text 24"/>
          <p:cNvSpPr/>
          <p:nvPr/>
        </p:nvSpPr>
        <p:spPr bwMode="auto">
          <a:xfrm>
            <a:off x="2692400" y="3816986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C9651F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B</a:t>
            </a:r>
            <a:endParaRPr lang="en-US" sz="2200"/>
          </a:p>
        </p:txBody>
      </p:sp>
      <p:sp>
        <p:nvSpPr>
          <p:cNvPr id="294611328" name="Text 25"/>
          <p:cNvSpPr/>
          <p:nvPr/>
        </p:nvSpPr>
        <p:spPr bwMode="auto">
          <a:xfrm>
            <a:off x="3568700" y="3816986"/>
            <a:ext cx="825500" cy="568960"/>
          </a:xfrm>
          <a:custGeom>
            <a:avLst/>
            <a:gdLst/>
            <a:ahLst/>
            <a:cxnLst/>
            <a:rect l="l" t="t" r="r" b="b"/>
            <a:pathLst>
              <a:path w="825500" h="568960" fill="norm" stroke="1" extrusionOk="0">
                <a:moveTo>
                  <a:pt x="50800" y="0"/>
                </a:moveTo>
                <a:lnTo>
                  <a:pt x="774700" y="0"/>
                </a:lnTo>
                <a:arcTo wR="50800" hR="50800" stAng="16200000" swAng="5400000"/>
                <a:lnTo>
                  <a:pt x="825500" y="518160"/>
                </a:lnTo>
                <a:arcTo wR="50800" hR="50800" stAng="0" swAng="5400000"/>
                <a:lnTo>
                  <a:pt x="50800" y="5689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E8E41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C</a:t>
            </a:r>
            <a:endParaRPr lang="en-US" sz="2200"/>
          </a:p>
        </p:txBody>
      </p:sp>
      <p:sp>
        <p:nvSpPr>
          <p:cNvPr id="1021596612" name="Text 26"/>
          <p:cNvSpPr/>
          <p:nvPr/>
        </p:nvSpPr>
        <p:spPr bwMode="auto">
          <a:xfrm>
            <a:off x="812800" y="4610100"/>
            <a:ext cx="10566400" cy="958850"/>
          </a:xfrm>
          <a:prstGeom prst="roundRect">
            <a:avLst>
              <a:gd name="adj" fmla="val 10596"/>
            </a:avLst>
          </a:prstGeom>
          <a:solidFill>
            <a:srgbClr val="1E1E1E"/>
          </a:solidFill>
          <a:ln/>
        </p:spPr>
        <p:txBody>
          <a:bodyPr wrap="square" lIns="249642" tIns="198841" rIns="0" bIns="179792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3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ggplot(data, aes(factor(kolom), factor(baris), fill = biomassa_g)) +</a:t>
            </a:r>
            <a:endParaRPr lang="en-US" sz="1300"/>
          </a:p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3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  geom_tile() + geom_text(aes(label = perlakuan))</a:t>
            </a:r>
            <a:endParaRPr lang="en-US" sz="1300"/>
          </a:p>
        </p:txBody>
      </p:sp>
      <p:sp>
        <p:nvSpPr>
          <p:cNvPr id="509897584" name="Text 27"/>
          <p:cNvSpPr/>
          <p:nvPr/>
        </p:nvSpPr>
        <p:spPr bwMode="auto">
          <a:xfrm>
            <a:off x="5503333" y="2654300"/>
            <a:ext cx="60521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Peta petak: sumbu-x kolom, sumbu-y baris, warna petak menunjukkan nilai respons, dan label menunjukkan perlakuan.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067056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3.3 Model RBSL: ANOVA Tiga Arah</a:t>
            </a:r>
            <a:endParaRPr lang="en-US" sz="3000"/>
          </a:p>
        </p:txBody>
      </p:sp>
      <p:sp>
        <p:nvSpPr>
          <p:cNvPr id="1541091394" name="Text 1"/>
          <p:cNvSpPr/>
          <p:nvPr/>
        </p:nvSpPr>
        <p:spPr bwMode="auto">
          <a:xfrm>
            <a:off x="812800" y="146050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Model biomassa_g ~ perlakuan + baris + kolom bersifat aditif, tanpa interaksi, sesuai keterbatasan derajat bebas rancangan ini.</a:t>
            </a:r>
            <a:endParaRPr lang="en-US" sz="1700"/>
          </a:p>
        </p:txBody>
      </p:sp>
      <p:sp>
        <p:nvSpPr>
          <p:cNvPr id="1143509313" name="Text 2"/>
          <p:cNvSpPr/>
          <p:nvPr/>
        </p:nvSpPr>
        <p:spPr bwMode="auto">
          <a:xfrm>
            <a:off x="812800" y="2293621"/>
            <a:ext cx="10566400" cy="1885950"/>
          </a:xfrm>
          <a:prstGeom prst="roundRect">
            <a:avLst>
              <a:gd name="adj" fmla="val 5387"/>
            </a:avLst>
          </a:prstGeom>
          <a:solidFill>
            <a:srgbClr val="1E1E1E"/>
          </a:solidFill>
          <a:ln/>
        </p:spPr>
        <p:txBody>
          <a:bodyPr wrap="square" lIns="249642" tIns="198841" rIns="0" bIns="173442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model &lt;- aov(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  biomassa_g ~ perlakuan + factor(baris) + factor(kolom),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  data = data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)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5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summary(model)</a:t>
            </a:r>
            <a:endParaRPr lang="en-US" sz="1500"/>
          </a:p>
        </p:txBody>
      </p:sp>
      <p:sp>
        <p:nvSpPr>
          <p:cNvPr id="41708930" name="Text 3"/>
          <p:cNvSpPr/>
          <p:nvPr/>
        </p:nvSpPr>
        <p:spPr bwMode="auto">
          <a:xfrm>
            <a:off x="812800" y="440817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Tabel ANOVA memuat tiga baris: </a:t>
            </a:r>
            <a:r>
              <a:rPr lang="en-US" sz="16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perlakuan</a:t>
            </a:r>
            <a:r>
              <a:rPr lang="en-US" sz="16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(fokus utama), </a:t>
            </a:r>
            <a:r>
              <a:rPr lang="en-US" sz="16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baris</a:t>
            </a:r>
            <a:r>
              <a:rPr lang="en-US" sz="16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, dan </a:t>
            </a:r>
            <a:r>
              <a:rPr lang="en-US" sz="1600" b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kolom</a:t>
            </a:r>
            <a:r>
              <a:rPr lang="en-US" sz="16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600"/>
          </a:p>
        </p:txBody>
      </p:sp>
      <p:sp>
        <p:nvSpPr>
          <p:cNvPr id="597453837" name="Text 4"/>
          <p:cNvSpPr/>
          <p:nvPr/>
        </p:nvSpPr>
        <p:spPr bwMode="auto"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0748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3.4 Uji Lanjut dan Pemeriksaan Asumsi</a:t>
            </a:r>
            <a:endParaRPr lang="en-US" sz="3000"/>
          </a:p>
        </p:txBody>
      </p:sp>
      <p:sp>
        <p:nvSpPr>
          <p:cNvPr id="1506521370" name="Text 1"/>
          <p:cNvSpPr/>
          <p:nvPr/>
        </p:nvSpPr>
        <p:spPr bwMode="auto">
          <a:xfrm>
            <a:off x="812800" y="146050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Seperti RAK, uji lanjut Tukey HSD hanya untuk faktor perlakuan. Asumsi diperiksa dengan prosedur yang sama seperti bab sebelumnya.</a:t>
            </a:r>
            <a:endParaRPr lang="en-US" sz="1700"/>
          </a:p>
        </p:txBody>
      </p:sp>
      <p:sp>
        <p:nvSpPr>
          <p:cNvPr id="199127317" name="Text 2"/>
          <p:cNvSpPr/>
          <p:nvPr/>
        </p:nvSpPr>
        <p:spPr bwMode="auto">
          <a:xfrm>
            <a:off x="812800" y="2293621"/>
            <a:ext cx="10566400" cy="1981200"/>
          </a:xfrm>
          <a:prstGeom prst="roundRect">
            <a:avLst>
              <a:gd name="adj" fmla="val 5128"/>
            </a:avLst>
          </a:prstGeom>
          <a:solidFill>
            <a:srgbClr val="1E1E1E"/>
          </a:solidFill>
          <a:ln/>
        </p:spPr>
        <p:txBody>
          <a:bodyPr wrap="square" lIns="249642" tIns="198841" rIns="0" bIns="173442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6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TukeyHSD(model, "perlakuan")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  <a:defRPr/>
            </a:pPr>
            <a:endParaRPr lang="en-US" sz="16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6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par(mfrow = c(2, 2))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6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plot(model)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600">
                <a:solidFill>
                  <a:srgbClr val="F0F0F0"/>
                </a:solidFill>
                <a:latin typeface="Courier New"/>
                <a:ea typeface="Courier New"/>
                <a:cs typeface="Courier New"/>
              </a:rPr>
              <a:t>par(mfrow = c(1, 1))</a:t>
            </a:r>
            <a:endParaRPr lang="en-US" sz="1600"/>
          </a:p>
        </p:txBody>
      </p:sp>
      <p:sp>
        <p:nvSpPr>
          <p:cNvPr id="1032483723" name="Text 3"/>
          <p:cNvSpPr/>
          <p:nvPr/>
        </p:nvSpPr>
        <p:spPr bwMode="auto"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1F386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158994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F5F8FB"/>
                </a:solidFill>
                <a:latin typeface="Carlito"/>
                <a:ea typeface="Carlito"/>
                <a:cs typeface="Carlito"/>
              </a:rPr>
              <a:t>Rangkuman</a:t>
            </a:r>
            <a:endParaRPr lang="en-US" sz="3000"/>
          </a:p>
        </p:txBody>
      </p:sp>
      <p:sp>
        <p:nvSpPr>
          <p:cNvPr id="1515259995" name="Text 1"/>
          <p:cNvSpPr/>
          <p:nvPr/>
        </p:nvSpPr>
        <p:spPr bwMode="auto">
          <a:xfrm>
            <a:off x="869696" y="1460500"/>
            <a:ext cx="10818876" cy="1229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104" indent="-197104" algn="l">
              <a:lnSpc>
                <a:spcPts val="2295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F5F8FB"/>
                </a:solidFill>
                <a:latin typeface="Carlito"/>
                <a:ea typeface="Carlito"/>
                <a:cs typeface="Carlito"/>
              </a:rPr>
              <a:t>RBSL mengontrol keragaman pada </a:t>
            </a:r>
            <a:r>
              <a:rPr lang="en-US" sz="1700" b="1">
                <a:solidFill>
                  <a:srgbClr val="F5F8FB"/>
                </a:solidFill>
                <a:latin typeface="Carlito"/>
                <a:ea typeface="Carlito"/>
                <a:cs typeface="Carlito"/>
              </a:rPr>
              <a:t>dua arah</a:t>
            </a:r>
            <a:r>
              <a:rPr lang="en-US" sz="1700">
                <a:solidFill>
                  <a:srgbClr val="F5F8FB"/>
                </a:solidFill>
                <a:latin typeface="Carlito"/>
                <a:ea typeface="Carlito"/>
                <a:cs typeface="Carlito"/>
              </a:rPr>
              <a:t> sekaligus (baris dan kolom), tidak seperti RAK yang hanya satu arah.</a:t>
            </a:r>
            <a:endParaRPr lang="en-US" sz="1700"/>
          </a:p>
          <a:p>
            <a:pPr marL="197104" indent="-197104" algn="l">
              <a:lnSpc>
                <a:spcPts val="2295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F5F8FB"/>
                </a:solidFill>
                <a:latin typeface="Carlito"/>
                <a:ea typeface="Carlito"/>
                <a:cs typeface="Carlito"/>
              </a:rPr>
              <a:t>Setiap perlakuan muncul tepat satu kali per baris dan per kolom, wajib diverifikasi sebelum analisis.</a:t>
            </a:r>
            <a:endParaRPr lang="en-US" sz="1700"/>
          </a:p>
          <a:p>
            <a:pPr marL="197104" indent="-197104" algn="l">
              <a:lnSpc>
                <a:spcPts val="2295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F5F8FB"/>
                </a:solidFill>
                <a:latin typeface="Carlito"/>
                <a:ea typeface="Carlito"/>
                <a:cs typeface="Carlito"/>
              </a:rPr>
              <a:t>Model bersifat aditif dan tidak dapat menguji interaksi karena keterbatasan derajat bebas.</a:t>
            </a:r>
            <a:endParaRPr lang="en-US" sz="1700"/>
          </a:p>
          <a:p>
            <a:pPr marL="197104" indent="-197104" algn="l">
              <a:lnSpc>
                <a:spcPts val="2295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F5F8FB"/>
                </a:solidFill>
                <a:latin typeface="Carlito"/>
                <a:ea typeface="Carlito"/>
                <a:cs typeface="Carlito"/>
              </a:rPr>
              <a:t>Jumlah ulangan selalu sama dengan jumlah perlakuan (struktur n × n).</a:t>
            </a:r>
            <a:endParaRPr lang="en-US" sz="1700"/>
          </a:p>
        </p:txBody>
      </p:sp>
      <p:sp>
        <p:nvSpPr>
          <p:cNvPr id="1737272031" name="Text 2"/>
          <p:cNvSpPr/>
          <p:nvPr/>
        </p:nvSpPr>
        <p:spPr bwMode="auto"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9CC3E6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468240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Latihan Soal</a:t>
            </a:r>
            <a:endParaRPr lang="en-US" sz="3000"/>
          </a:p>
        </p:txBody>
      </p:sp>
      <p:sp>
        <p:nvSpPr>
          <p:cNvPr id="1175575154" name="Text 1"/>
          <p:cNvSpPr/>
          <p:nvPr/>
        </p:nvSpPr>
        <p:spPr bwMode="auto">
          <a:xfrm>
            <a:off x="854075" y="1460500"/>
            <a:ext cx="10834497" cy="1191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2725" indent="-212725" algn="l">
              <a:lnSpc>
                <a:spcPts val="2295"/>
              </a:lnSpc>
              <a:buSzPct val="100000"/>
              <a:buFontTx/>
              <a:buAutoNum type="arabicPeriod" startAt="1"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Mengapa RBSL memerlukan jumlah ulangan yang sama persis dengan jumlah perlakuan?</a:t>
            </a:r>
            <a:endParaRPr lang="en-US" sz="1700"/>
          </a:p>
          <a:p>
            <a:pPr marL="212725" indent="-212725" algn="l">
              <a:lnSpc>
                <a:spcPts val="2295"/>
              </a:lnSpc>
              <a:buSzPct val="100000"/>
              <a:buFontTx/>
              <a:buAutoNum type="arabicPeriod" startAt="1"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Jelaskan konsekuensi apabila tata letak data tidak memenuhi syarat bujur sangkar latin.</a:t>
            </a:r>
            <a:endParaRPr lang="en-US" sz="1700"/>
          </a:p>
          <a:p>
            <a:pPr marL="212725" indent="-212725" algn="l">
              <a:lnSpc>
                <a:spcPts val="2295"/>
              </a:lnSpc>
              <a:buSzPct val="100000"/>
              <a:buFontTx/>
              <a:buAutoNum type="arabicPeriod" startAt="1"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Bandingkan jumlah sumber keragaman yang dikontrol pada RAL, RAK, dan RBSL. Apa pola peningkatannya?</a:t>
            </a:r>
            <a:endParaRPr lang="en-US" sz="1700"/>
          </a:p>
          <a:p>
            <a:pPr marL="212725" indent="-212725" algn="l">
              <a:lnSpc>
                <a:spcPts val="2295"/>
              </a:lnSpc>
              <a:buSzPct val="100000"/>
              <a:buFontTx/>
              <a:buAutoNum type="arabicPeriod" startAt="1"/>
              <a:defRPr/>
            </a:pPr>
            <a:r>
              <a:rPr lang="en-US" sz="17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Mengapa model RBSL klasik tidak dapat menyertakan suku interaksi?</a:t>
            </a:r>
            <a:endParaRPr lang="en-US" sz="1700"/>
          </a:p>
        </p:txBody>
      </p:sp>
      <p:sp>
        <p:nvSpPr>
          <p:cNvPr id="1376118617" name="Text 2"/>
          <p:cNvSpPr/>
          <p:nvPr/>
        </p:nvSpPr>
        <p:spPr bwMode="auto"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5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47169" name="Text 0"/>
          <p:cNvSpPr/>
          <p:nvPr>
            <p:ph type="title"/>
          </p:nvPr>
        </p:nvSpPr>
        <p:spPr bwMode="auto"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 i="0">
                <a:solidFill>
                  <a:srgbClr val="1F3864"/>
                </a:solidFill>
                <a:latin typeface="Carlito"/>
                <a:ea typeface="Carlito"/>
                <a:cs typeface="Carlito"/>
              </a:rPr>
              <a:t>Daftar Pustaka</a:t>
            </a:r>
            <a:endParaRPr lang="en-US" sz="3000"/>
          </a:p>
        </p:txBody>
      </p:sp>
      <p:sp>
        <p:nvSpPr>
          <p:cNvPr id="384284990" name="Text 1"/>
          <p:cNvSpPr/>
          <p:nvPr/>
        </p:nvSpPr>
        <p:spPr bwMode="auto">
          <a:xfrm>
            <a:off x="890270" y="1460500"/>
            <a:ext cx="10798302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025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Gomez, K. A., &amp; Gomez, A. A. (1984). </a:t>
            </a:r>
            <a:r>
              <a:rPr lang="en-US" sz="1500" i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Statistical Procedures for Agricultural Research</a:t>
            </a: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(2nd ed.). John Wiley &amp; Sons.</a:t>
            </a:r>
            <a:endParaRPr lang="en-US" sz="1500"/>
          </a:p>
          <a:p>
            <a:pPr marL="176530" indent="-176530" algn="l">
              <a:lnSpc>
                <a:spcPts val="2025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Montgomery, D. C. (2017). </a:t>
            </a:r>
            <a:r>
              <a:rPr lang="en-US" sz="1500" i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Design and Analysis of Experiments</a:t>
            </a: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(9th ed.). John Wiley &amp; Sons.</a:t>
            </a:r>
            <a:endParaRPr lang="en-US" sz="1500"/>
          </a:p>
          <a:p>
            <a:pPr marL="176530" indent="-176530" algn="l">
              <a:lnSpc>
                <a:spcPts val="2025"/>
              </a:lnSpc>
              <a:buSzPct val="100000"/>
              <a:buChar char="•"/>
              <a:defRPr/>
            </a:pP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Steel, R. G. D., Torrie, J. H., &amp; Dickey, D. A. (1997). </a:t>
            </a:r>
            <a:r>
              <a:rPr lang="en-US" sz="1500" i="1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Principles and Procedures of Statistics: A Biometrical Approach</a:t>
            </a:r>
            <a:r>
              <a:rPr lang="en-US" sz="1500">
                <a:solidFill>
                  <a:srgbClr val="1A1A1A"/>
                </a:solidFill>
                <a:latin typeface="Carlito"/>
                <a:ea typeface="Carlito"/>
                <a:cs typeface="Carlito"/>
              </a:rPr>
              <a:t> (3rd ed.). McGraw-Hill.</a:t>
            </a:r>
            <a:endParaRPr lang="en-US" sz="1500"/>
          </a:p>
        </p:txBody>
      </p:sp>
      <p:sp>
        <p:nvSpPr>
          <p:cNvPr id="1490481771" name="Text 2"/>
          <p:cNvSpPr/>
          <p:nvPr/>
        </p:nvSpPr>
        <p:spPr bwMode="auto"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5C6670"/>
                </a:solidFill>
                <a:latin typeface="Carlito"/>
                <a:ea typeface="Carlito"/>
                <a:cs typeface="Carlito"/>
              </a:rPr>
              <a:t>Biostatistika untuk Biologi · Bab 3 · RBSL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ab 3 — Rancangan Bujur Sangkar Latin (RBSL)">
  <a:themeElements>
    <a:clrScheme name="Bab 3 — Rancangan Bujur Sangkar Latin (RBSL)">
      <a:dk1>
        <a:srgbClr val="1A1A1A"/>
      </a:dk1>
      <a:lt1>
        <a:srgbClr val="F5F8FB"/>
      </a:lt1>
      <a:dk2>
        <a:srgbClr val="515252"/>
      </a:dk2>
      <a:lt2>
        <a:srgbClr val="DFE2E5"/>
      </a:lt2>
      <a:accent1>
        <a:srgbClr val="1F3864"/>
      </a:accent1>
      <a:accent2>
        <a:srgbClr val="2E74B5"/>
      </a:accent2>
      <a:accent3>
        <a:srgbClr val="C9651F"/>
      </a:accent3>
      <a:accent4>
        <a:srgbClr val="3E8E41"/>
      </a:accent4>
      <a:accent5>
        <a:srgbClr val="B0372A"/>
      </a:accent5>
      <a:accent6>
        <a:srgbClr val="9CC3E6"/>
      </a:accent6>
      <a:hlink>
        <a:srgbClr val="0563C1"/>
      </a:hlink>
      <a:folHlink>
        <a:srgbClr val="954F72"/>
      </a:folHlink>
    </a:clrScheme>
    <a:fontScheme name="Bab 3 — Rancangan Bujur Sangkar Latin (RBSL)">
      <a:majorFont>
        <a:latin typeface="Carlito"/>
        <a:ea typeface="Arial"/>
        <a:cs typeface="Arial"/>
      </a:majorFont>
      <a:minorFont>
        <a:latin typeface="Carlito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3 — Rancangan Bujur Sangkar Latin (RBSL)</dc:title>
  <dc:subject/>
  <dc:creator/>
  <cp:lastModifiedBy/>
  <cp:revision>2</cp:revision>
  <dcterms:created xsi:type="dcterms:W3CDTF">2026-10-10T13:41:39Z</dcterms:created>
  <dcterms:modified xsi:type="dcterms:W3CDTF">2026-10-10T13:46:48Z</dcterms:modified>
</cp:coreProperties>
</file>