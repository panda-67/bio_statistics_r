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Bab 4: RAK faktorial dua faktor.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Capaian pembelajaran Bab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Faktorial dikombinasikan dengan struktur blok dari Bab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Interaksi membuat faktorial lebih informatif daripada menguji tiap faktor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Interaksi yang signifikan mengubah cara pengaruh utama dibaca.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Ilustrasi menunjukkan pola interaksi: tinggi Pupuk A melonjak pada cahaya penuh.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4.3: grafik interaksi (interaction plot).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Selalu mulai membaca dari suku interaksi.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4.5.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Subbab 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Rangkuman Bab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soal Bab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4127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CC3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 4 · BIOSTATISTIKA UNTUK BIOLOGI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28950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Rancangan Acak Kelompok Faktorial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92557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D6E4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Pupuk × Cahaya: pengaruh utama dan interaksi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Capaian Pembelajaran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Setelah mempelajari bab ini, mahasiswa diharapkan mampu: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3158" y="1973580"/>
            <a:ext cx="1080541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Menjelaskan konsep rancangan faktorial dan perbedaannya dengan rancangan satu faktor.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Mendefinisikan pengaruh utama (main effect) dan pengaruh interaksi (interaction effect).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Menyusun model ANOVA faktorial dengan blok memakai notasi tanda bintang (*).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Membaca grafik interaksi untuk mendeteksi pola interaksi secara visual.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Menentukan strategi uji lanjut sesuai signifikansi interaksi.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Pendahuluan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Rancangan faktorial menguji </a:t>
            </a:r>
            <a:r>
              <a:rPr lang="en-US" sz="1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atau lebih faktor</a:t>
            </a: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sekaligus dalam satu percobaan, bukan dalam percobaan terpisah (Montgomery, 2017).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32918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Selain menghemat sumber daya, rancangan ini dapat mendeteksi </a:t>
            </a:r>
            <a:r>
              <a:rPr lang="en-US" sz="1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</a:t>
            </a: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pengaruh satu faktor bergantung pada level faktor lainnya (Steel et al., 1997).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19786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Contoh bab ini: jenis pupuk dan kondisi cahaya, dalam Rancangan Acak Kelompok seperti Bab 2.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Konsep Kunci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60500"/>
            <a:ext cx="10566400" cy="2188845"/>
          </a:xfrm>
          <a:prstGeom prst="roundRect">
            <a:avLst>
              <a:gd name="adj" fmla="val 2321"/>
            </a:avLst>
          </a:prstGeom>
          <a:solidFill>
            <a:srgbClr val="EAF1F8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460500"/>
            <a:ext cx="10566400" cy="2188845"/>
          </a:xfrm>
          <a:custGeom>
            <a:avLst/>
            <a:gdLst/>
            <a:ahLst/>
            <a:cxnLst/>
            <a:rect l="l" t="t" r="r" b="b"/>
            <a:pathLst>
              <a:path w="10566400" h="2188845">
                <a:moveTo>
                  <a:pt x="101600" y="2188845"/>
                </a:moveTo>
                <a:lnTo>
                  <a:pt x="50800" y="218884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1600" y="0"/>
                </a:lnTo>
                <a:lnTo>
                  <a:pt x="101600" y="2188845"/>
                </a:lnTo>
                <a:close/>
              </a:path>
            </a:pathLst>
          </a:cu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65300"/>
            <a:ext cx="100462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 itu interaksi?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0000" y="2252980"/>
            <a:ext cx="10046208" cy="338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 terjadi ketika pengaruh satu faktor berbeda tergantung pada level faktor lainnya.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70000" y="2718436"/>
            <a:ext cx="100462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Misalnya pupuk X sangat efektif pada cahaya terang tetapi tidak berpengaruh pada kondisi teduh. Kesimpulan "pupuk X lebih baik" saja bisa menyesatkan tanpa konteks cahaya.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Dasar Teori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linear aditif RAK faktorial memuat pengaruh utama kedua faktor dan interaksinya (Montgomery, 2017; Steel et al., 1997):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1955800"/>
            <a:ext cx="10566400" cy="802640"/>
          </a:xfrm>
          <a:prstGeom prst="roundRect">
            <a:avLst>
              <a:gd name="adj" fmla="val 12658"/>
            </a:avLst>
          </a:prstGeom>
          <a:solidFill>
            <a:srgbClr val="1F3864"/>
          </a:solidFill>
          <a:ln/>
        </p:spPr>
        <p:txBody>
          <a:bodyPr wrap="square" lIns="21042" tIns="173442" rIns="21042" bIns="148042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Yijk = μ + βk + αi + γj + (αγ)ij + εijk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987039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Yijk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pupuk i, cahaya j, blok 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65171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μ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rataan umum populasi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543300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βk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pengaruh blok ke-k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21429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αi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pengaruh utama pupuk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99200" y="2987039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γj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pengaruh utama cahaya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99200" y="3265171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(αγ)ij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interaksi pupuk × cahaya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99200" y="3543300"/>
            <a:ext cx="52324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εijk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galat, N(0, σ²)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29006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Tiga hipotesis nol diuji sekaligus; interaksi selalu ditafsirkan lebih dulu sebelum pengaruh utama.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Contoh Kasus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2116454"/>
            <a:ext cx="633120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Peneliti ingin tahu apakah pengaruh dua pupuk (A dan B) terhadap tinggi cabai (</a:t>
            </a:r>
            <a:r>
              <a:rPr lang="en-US" sz="14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Capsicum annuum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</a:t>
            </a:r>
            <a:r>
              <a:rPr lang="en-US" sz="14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bergantung pada cahaya</a:t>
            </a: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naungan penuh, naungan sebagian, atau cahaya penuh.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002914"/>
            <a:ext cx="633120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Kedua faktor dikombinasikan penuh (2 × 3 = 6 perlakuan) dan ditata dalam blok seperti Bab 2.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640454"/>
            <a:ext cx="633120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Dugaan: Pupuk A hanya efektif pada cahaya penuh, Pupuk B stabil di ketiga kondisi. Dugaan ini diuji sebagai interaksi pupuk × cahaya.</a:t>
            </a:r>
            <a:endParaRPr lang="en-US" sz="1400" dirty="0"/>
          </a:p>
        </p:txBody>
      </p:sp>
      <p:pic>
        <p:nvPicPr>
          <p:cNvPr id="6" name="Image 0" descr="Tinggi cabai hipotetis: Pupuk A melonjak pada cahaya penuh, Pupuk B relatif stabil">    </p:cNvPr>
          <p:cNvPicPr>
            <a:picLocks noChangeAspect="1"/>
          </p:cNvPicPr>
          <p:nvPr/>
        </p:nvPicPr>
        <p:blipFill>
          <a:blip r:embed="rId1"/>
          <a:srcRect l="0" r="0" t="-53" b="-53"/>
          <a:stretch/>
        </p:blipFill>
        <p:spPr>
          <a:xfrm>
            <a:off x="7315200" y="1460500"/>
            <a:ext cx="4064000" cy="3333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4.1 Menyiapkan dan Memeriksa Keseimbangan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Ubah blok, pupuk, dan cahaya menjadi faktor, lalu cek keseimbangan kombinasi perlakuan.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973579"/>
            <a:ext cx="10566400" cy="1885950"/>
          </a:xfrm>
          <a:prstGeom prst="roundRect">
            <a:avLst>
              <a:gd name="adj" fmla="val 5387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 &lt;- data |&gt;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mutate(blok = factor(blok), pupuk = factor(pupuk),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cahaya = factor(cahaya))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table(data$pupuk, data$cahaya)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08812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Tabulasi silang memastikan setiap kombinasi punya jumlah ulangan yang sama.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4.2 Statistik Deskriptif per Kombinasi Perlakuan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Mengelompokkan data menurut kombinasi kedua faktor memberi gambaran awal pola interaksi secara numerik.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973579"/>
            <a:ext cx="10566400" cy="1600200"/>
          </a:xfrm>
          <a:prstGeom prst="roundRect">
            <a:avLst>
              <a:gd name="adj" fmla="val 6349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 |&gt;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group_by(pupuk, cahaya) |&gt;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summarise(n = n(), mean = mean(tinggi_cm),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sd = sd(tinggi_cm), .groups = "drop")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4.3 Visualisasi Pola Interaksi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695450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Garis sejajar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045971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Tidak ada interaksi: pengaruh cahaya konsisten di semua level pupuk.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463675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2550" y="1695450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Garis berpotongan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32550" y="2045971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 interaksi: kemiringan garis berbeda jauh antar level pupuk.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023871"/>
            <a:ext cx="10566400" cy="1447800"/>
          </a:xfrm>
          <a:prstGeom prst="roundRect">
            <a:avLst>
              <a:gd name="adj" fmla="val 7018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ggplot(data, aes(x = cahaya, y = tinggi_cm, group = pupuk,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color = pupuk)) +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stat_summary(fun = mean, geom = "line") +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stat_summary(fun = mean, geom = "point")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4.4 Model Faktorial: ANOVA Dua Faktor dengan Blok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Notasi </a:t>
            </a:r>
            <a:r>
              <a:rPr lang="en-US" sz="16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pupuk * cahaya</a:t>
            </a: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berarti pupuk + cahaya + pupuk:cahaya; blok tetap dimasukkan untuk mengontrol keragaman pengelompokan.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258058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 &lt;- aov(tinggi_cm ~ blok + pupuk * cahaya, data = data)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summary(model)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3480433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3712208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 signifikan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4062729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Fokus pada pola interaksi; pengaruh utama kurang bermakna terpisah.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0775" y="3480433"/>
            <a:ext cx="5175250" cy="1328420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2550" y="3712208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5A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 tidak signifikan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2550" y="4062729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Pengaruh utama pupuk dan cahaya ditafsirkan secara independen.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4.5 Uji Lanjut Sesuai Signifikansi Interaksi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 signifikan: bandingkan rata-rata antarkombinasi pupuk × cahaya.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1991358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 tidak signifikan: uji lanjut terpisah untuk tiap pengaruh utama yang signifikan.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522221"/>
            <a:ext cx="10566400" cy="781050"/>
          </a:xfrm>
          <a:prstGeom prst="roundRect">
            <a:avLst>
              <a:gd name="adj" fmla="val 13008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TukeyHSD(model, "pupuk:cahaya")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4.6 Pemeriksaan Asumsi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Prosedur diagnostik residual sama seperti bab-bab sebelumnya.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1991358"/>
            <a:ext cx="10566400" cy="1371600"/>
          </a:xfrm>
          <a:prstGeom prst="roundRect">
            <a:avLst>
              <a:gd name="adj" fmla="val 7407"/>
            </a:avLst>
          </a:prstGeom>
          <a:solidFill>
            <a:srgbClr val="1E1E1E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par(mfrow = c(2, 2))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plot(model)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par(mfrow = c(1, 1))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Rangkuman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9696" y="1460500"/>
            <a:ext cx="10818876" cy="1229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Rancangan faktorial menguji dua atau lebih faktor sekaligus, termasuk interaksinya.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Notasi "*" pada formula menghasilkan pengaruh utama kedua faktor ditambah interaksinya.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Interpretasi selalu dimulai dari suku interaksi sebelum pengaruh utama.</a:t>
            </a:r>
            <a:endParaRPr lang="en-US" sz="1700" dirty="0"/>
          </a:p>
          <a:p>
            <a:pPr algn="l" marL="197104" indent="-1971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Grafik interaksi (garis sejajar vs. berpotongan) adalah alat bantu visual utama.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C3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Latihan Soal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6563" y="1460500"/>
            <a:ext cx="10822009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0237" indent="-200237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Jelaskan perbedaan antara pengaruh utama dan pengaruh interaksi.</a:t>
            </a:r>
            <a:endParaRPr lang="en-US" sz="1600" dirty="0"/>
          </a:p>
          <a:p>
            <a:pPr algn="l" marL="200237" indent="-200237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Gambarkan sketsa grafik interaksi tanpa interaksi, lalu satu dengan interaksi kuat.</a:t>
            </a:r>
            <a:endParaRPr lang="en-US" sz="1600" dirty="0"/>
          </a:p>
          <a:p>
            <a:pPr algn="l" marL="200237" indent="-200237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Jika interaksi tidak signifikan tetapi kedua pengaruh utama signifikan, bagaimana strategi uji lanjutnya?</a:t>
            </a:r>
            <a:endParaRPr lang="en-US" sz="1600" dirty="0"/>
          </a:p>
          <a:p>
            <a:pPr algn="l" marL="200237" indent="-200237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Mengapa blok tetap dimasukkan ke model faktorial meski bukan fokus penelitian?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Daftar Pustaka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90270" y="1460500"/>
            <a:ext cx="10798302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Montgomery, D. C. (2017). </a:t>
            </a:r>
            <a:r>
              <a:rPr lang="en-US" sz="15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and Analysis of Experiments</a:t>
            </a: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(9th ed.). John Wiley &amp; Sons.</a:t>
            </a:r>
            <a:endParaRPr lang="en-US" sz="1500" dirty="0"/>
          </a:p>
          <a:p>
            <a:pPr algn="l" marL="176530" indent="-1765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Steel, R. G. D., Torrie, J. H., &amp; Dickey, D. A. (1997). </a:t>
            </a:r>
            <a:r>
              <a:rPr lang="en-US" sz="15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and Procedures of Statistics: A Biometrical Approach</a:t>
            </a: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(3rd ed.). McGraw-Hill.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4 · RAK Faktorial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b 4 — Rancangan Acak Kelompok Faktorial">
  <a:themeElements>
    <a:clrScheme name="Bab 4 — Rancangan Acak Kelompok Faktorial">
      <a:dk1>
        <a:srgbClr val="1A1A1A"/>
      </a:dk1>
      <a:lt1>
        <a:srgbClr val="F5F8FB"/>
      </a:lt1>
      <a:dk2>
        <a:srgbClr val="515252"/>
      </a:dk2>
      <a:lt2>
        <a:srgbClr val="DFE2E5"/>
      </a:lt2>
      <a:accent1>
        <a:srgbClr val="1F3864"/>
      </a:accent1>
      <a:accent2>
        <a:srgbClr val="1F5A94"/>
      </a:accent2>
      <a:accent3>
        <a:srgbClr val="9CC3E6"/>
      </a:accent3>
      <a:accent4>
        <a:srgbClr val="5C6670"/>
      </a:accent4>
      <a:accent5>
        <a:srgbClr val="D6E4F2"/>
      </a:accent5>
      <a:accent6>
        <a:srgbClr val="9AA0A6"/>
      </a:accent6>
      <a:hlink>
        <a:srgbClr val="0563C1"/>
      </a:hlink>
      <a:folHlink>
        <a:srgbClr val="954F72"/>
      </a:folHlink>
    </a:clrScheme>
    <a:fontScheme name="Bab 4 — Rancangan Acak Kelompok Faktorial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4 — Rancangan Acak Kelompok Faktorial</dc:title>
  <dc:subject/>
  <dc:creator/>
  <cp:lastModifiedBy/>
  <cp:revision>1</cp:revision>
  <dcterms:created xsi:type="dcterms:W3CDTF">2026-10-21T11:22:03Z</dcterms:created>
  <dcterms:modified xsi:type="dcterms:W3CDTF">2026-10-21T11:22:03Z</dcterms:modified>
</cp:coreProperties>
</file>