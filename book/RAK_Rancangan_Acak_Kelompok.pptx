
<file path=[Content_Types].xml><?xml version="1.0" encoding="utf-8"?>
<Types xmlns="http://schemas.openxmlformats.org/package/2006/content-types">
  <Default Extension="xml" ContentType="application/xml"/>
  <Default Extension="xlsx" ContentType="application/vnd.openxmlformats-officedocument.spreadsheetml.sheet"/>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slides/slide6.xml" ContentType="application/vnd.openxmlformats-officedocument.presentationml.slide+xml"/>
  <Override PartName="/ppt/slides/slide11.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presProps.xml" ContentType="application/vnd.openxmlformats-officedocument.presentationml.presProps+xml"/>
  <Override PartName="/ppt/notesSlides/notesSlide2.xml" ContentType="application/vnd.openxmlformats-officedocument.presentationml.notesSlide+xml"/>
  <Override PartName="/ppt/slides/slide7.xml" ContentType="application/vnd.openxmlformats-officedocument.presentationml.slide+xml"/>
  <Override PartName="/ppt/viewProps.xml" ContentType="application/vnd.openxmlformats-officedocument.presentationml.viewProps+xml"/>
  <Override PartName="/ppt/notesSlides/notesSlide12.xml" ContentType="application/vnd.openxmlformats-officedocument.presentationml.notesSlide+xml"/>
  <Override PartName="/ppt/slides/slide12.xml" ContentType="application/vnd.openxmlformats-officedocument.presentationml.slide+xml"/>
  <Override PartName="/ppt/charts/chart1.xml" ContentType="application/vnd.openxmlformats-officedocument.drawingml.chart+xml"/>
  <Override PartName="/ppt/slideLayouts/slideLayout1.xml" ContentType="application/vnd.openxmlformats-officedocument.presentationml.slideLayout+xml"/>
  <Override PartName="/ppt/slides/slide5.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notesMaster" Target="notesMasters/notesMaster1.xml"/><Relationship Id="rId16" Type="http://schemas.openxmlformats.org/officeDocument/2006/relationships/presProps" Target="presProps.xml" /><Relationship Id="rId17" Type="http://schemas.openxmlformats.org/officeDocument/2006/relationships/tableStyles" Target="tableStyles.xml" /><Relationship Id="rId18" Type="http://schemas.openxmlformats.org/officeDocument/2006/relationships/viewProps" Target="viewProps.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chart1.xml><?xml version="1.0" encoding="utf-8"?>
<c:chartSpace xmlns:c="http://schemas.openxmlformats.org/drawingml/2006/chart" xmlns:a="http://schemas.openxmlformats.org/drawingml/2006/main" xmlns:r="http://schemas.openxmlformats.org/officeDocument/2006/relationships" xmlns:mc="http://schemas.openxmlformats.org/markup-compatibility/2006" xmlns:c15="http://schemas.microsoft.com/office/drawing/2012/chart" xmlns:c14="http://schemas.microsoft.com/office/drawing/2007/8/2/chart" xmlns:c16r2="http://schemas.microsoft.com/office/drawing/2015/06/chart">
  <c:date1904 val="0"/>
  <c:roundedCorners val="1"/>
  <mc:AlternateContent>
    <mc:Choice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Rata-rata tinggi (cm)</c:v>
                </c:pt>
              </c:strCache>
            </c:strRef>
          </c:tx>
          <c:spPr bwMode="auto">
            <a:prstGeom prst="rect">
              <a:avLst/>
            </a:prstGeom>
            <a:solidFill>
              <a:srgbClr val="2D6A4F"/>
            </a:solidFill>
            <a:effectLst/>
          </c:spPr>
          <c:invertIfNegative val="0"/>
          <c:dLbls>
            <c:numFmt formatCode="#,##0" sourceLinked="0"/>
            <c:showBubbleSize val="0"/>
            <c:showCatName val="0"/>
            <c:showLeaderLines val="0"/>
            <c:showLegendKey val="0"/>
            <c:showPercent val="0"/>
            <c:showSerName val="0"/>
            <c:showVal val="1"/>
            <c:txPr>
              <a:bodyPr/>
              <a:lstStyle/>
              <a:p>
                <a:pPr>
                  <a:defRPr sz="1100" b="0" i="0" u="none" strike="noStrike">
                    <a:solidFill>
                      <a:srgbClr val="1B4332"/>
                    </a:solidFill>
                    <a:latin typeface="Arial"/>
                  </a:defRPr>
                </a:pPr>
                <a:endParaRPr/>
              </a:p>
            </c:txPr>
          </c:dLbls>
          <c:cat>
            <c:multiLvlStrRef>
              <c:f>Sheet1!$A$2:$A$4</c:f>
              <c:multiLvlStrCache>
                <c:ptCount val="3"/>
                <c:lvl>
                  <c:pt idx="0">
                    <c:v>Meja 1</c:v>
                  </c:pt>
                  <c:pt idx="1">
                    <c:v>Meja 2</c:v>
                  </c:pt>
                  <c:pt idx="2">
                    <c:v>Meja 3</c:v>
                  </c:pt>
                </c:lvl>
              </c:multiLvlStrCache>
            </c:multiLvlStrRef>
          </c:cat>
          <c:val>
            <c:numRef>
              <c:f>Sheet1!$B$2:$B$4</c:f>
              <c:numCache>
                <c:formatCode>General</c:formatCode>
                <c:ptCount val="3"/>
                <c:pt idx="0">
                  <c:v>28.5</c:v>
                </c:pt>
                <c:pt idx="1">
                  <c:v>25.7</c:v>
                </c:pt>
                <c:pt idx="2">
                  <c:v>23.4</c:v>
                </c:pt>
              </c:numCache>
            </c:numRef>
          </c:val>
        </c:ser>
        <c:dLbls>
          <c:numFmt formatCode="#,##0" sourceLinked="0"/>
          <c:showBubbleSize val="0"/>
          <c:showCatName val="0"/>
          <c:showLeaderLines val="0"/>
          <c:showLegendKey val="0"/>
          <c:showPercent val="0"/>
          <c:showSerName val="0"/>
          <c:showVal val="1"/>
          <c:txPr>
            <a:bodyPr/>
            <a:lstStyle/>
            <a:p>
              <a:pPr>
                <a:defRPr sz="1100" b="0" i="0" u="none" strike="noStrike">
                  <a:solidFill>
                    <a:srgbClr val="1B4332"/>
                  </a:solidFill>
                  <a:latin typeface="Arial"/>
                </a:defRPr>
              </a:pPr>
              <a:endParaRPr/>
            </a:p>
          </c:txPr>
        </c:dLbls>
        <c:gapWidth val="40"/>
        <c:overlap val="0"/>
        <c:axId val="2094734554"/>
        <c:axId val="2094734552"/>
      </c:barChart>
      <c:catAx>
        <c:axId val="2094734554"/>
        <c:scaling>
          <c:orientation val="minMax"/>
        </c:scaling>
        <c:delete val="0"/>
        <c:axPos val="b"/>
        <c:numFmt formatCode="General" sourceLinked="1"/>
        <c:majorTickMark val="out"/>
        <c:minorTickMark val="none"/>
        <c:tickLblPos val="low"/>
        <c:spPr bwMode="auto">
          <a:prstGeom prst="rect">
            <a:avLst/>
          </a:prstGeom>
          <a:ln w="12700" cap="flat">
            <a:solidFill>
              <a:srgbClr val="888888"/>
            </a:solidFill>
            <a:prstDash val="solid"/>
            <a:round/>
          </a:ln>
        </c:spPr>
        <c:txPr>
          <a:bodyPr/>
          <a:lstStyle/>
          <a:p>
            <a:pPr>
              <a:defRPr sz="1100" b="0" i="0" u="none" strike="noStrike">
                <a:solidFill>
                  <a:srgbClr val="1B2A2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bwMode="auto">
            <a:prstGeom prst="rect">
              <a:avLst/>
            </a:prstGeom>
            <a:ln w="9525" cap="flat">
              <a:solidFill>
                <a:srgbClr val="E4E4E4"/>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Tinggi (cm)</a:t>
                </a:r>
                <a:endParaRPr/>
              </a:p>
            </c:rich>
          </c:tx>
          <c:layout/>
          <c:overlay val="0"/>
        </c:title>
        <c:numFmt formatCode="General" sourceLinked="0"/>
        <c:majorTickMark val="out"/>
        <c:minorTickMark val="none"/>
        <c:tickLblPos val="nextTo"/>
        <c:spPr bwMode="auto">
          <a:prstGeom prst="rect">
            <a:avLst/>
          </a:prstGeom>
          <a:ln w="12700" cap="flat">
            <a:solidFill>
              <a:srgbClr val="888888"/>
            </a:solidFill>
            <a:prstDash val="solid"/>
            <a:round/>
          </a:ln>
        </c:spPr>
        <c:txPr>
          <a:bodyPr/>
          <a:lstStyle/>
          <a:p>
            <a:pPr>
              <a:defRPr sz="1000" b="0" i="0" u="none" strike="noStrike">
                <a:solidFill>
                  <a:srgbClr val="5C6B63"/>
                </a:solidFill>
                <a:latin typeface="Arial"/>
              </a:defRPr>
            </a:pPr>
            <a:endParaRPr lang="en-US"/>
          </a:p>
        </c:txPr>
        <c:crossAx val="2094734554"/>
        <c:crosses val="autoZero"/>
        <c:crossBetween val="between"/>
      </c:valAx>
      <c:spPr bwMode="auto">
        <a:prstGeom prst="rect">
          <a:avLst/>
        </a:prstGeom>
        <a:noFill/>
        <a:ln>
          <a:noFill/>
        </a:ln>
        <a:effectLst/>
      </c:spPr>
    </c:plotArea>
    <c:plotVisOnly val="1"/>
    <c:dispBlanksAs val="span"/>
    <c:showDLblsOverMax val="0"/>
  </c:chart>
  <c:spPr bwMode="auto">
    <a:xfrm rot="0">
      <a:off x="6766560" y="2103120"/>
      <a:ext cx="4846320" cy="3291840"/>
    </a:xfrm>
    <a:prstGeom prst="rect">
      <a:avLst/>
    </a:prstGeom>
    <a:noFill/>
    <a:ln>
      <a:noFill/>
    </a:ln>
    <a:effectLst/>
  </c:spPr>
  <c:externalData r:id="rId1">
    <c:autoUpdate val="1"/>
  </c:externalData>
</c:chartSpace>
</file>

<file path=ppt/embeddings/_rels/Microsoft_Excel_Worksheet1.xlsx.rels><?xml version="1.0" encoding="UTF-8" standalone="yes"?><Relationships xmlns="http://schemas.openxmlformats.org/package/2006/relationships"></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692727125"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824254590"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56524865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853455133"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48920895"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359708461"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0878637" name="Slide Image Placeholder 1"/>
          <p:cNvSpPr>
            <a:spLocks noChangeAspect="1" noGrp="1" noRot="1"/>
          </p:cNvSpPr>
          <p:nvPr>
            <p:ph type="sldImg"/>
          </p:nvPr>
        </p:nvSpPr>
        <p:spPr bwMode="auto"/>
      </p:sp>
      <p:sp>
        <p:nvSpPr>
          <p:cNvPr id="1618811009" name="Notes Placeholder 2"/>
          <p:cNvSpPr>
            <a:spLocks noGrp="1"/>
          </p:cNvSpPr>
          <p:nvPr>
            <p:ph type="body" idx="1"/>
          </p:nvPr>
        </p:nvSpPr>
        <p:spPr bwMode="auto"/>
        <p:txBody>
          <a:bodyPr/>
          <a:lstStyle/>
          <a:p>
            <a:pPr>
              <a:defRPr/>
            </a:pPr>
            <a:endParaRPr lang="en-US"/>
          </a:p>
        </p:txBody>
      </p:sp>
      <p:sp>
        <p:nvSpPr>
          <p:cNvPr id="586397071"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961042" name="Slide Image Placeholder 1"/>
          <p:cNvSpPr>
            <a:spLocks noChangeAspect="1" noGrp="1" noRot="1"/>
          </p:cNvSpPr>
          <p:nvPr>
            <p:ph type="sldImg"/>
          </p:nvPr>
        </p:nvSpPr>
        <p:spPr bwMode="auto"/>
      </p:sp>
      <p:sp>
        <p:nvSpPr>
          <p:cNvPr id="1298446717" name="Notes Placeholder 2"/>
          <p:cNvSpPr>
            <a:spLocks noGrp="1"/>
          </p:cNvSpPr>
          <p:nvPr>
            <p:ph type="body" idx="1"/>
          </p:nvPr>
        </p:nvSpPr>
        <p:spPr bwMode="auto"/>
        <p:txBody>
          <a:bodyPr/>
          <a:lstStyle/>
          <a:p>
            <a:pPr>
              <a:defRPr/>
            </a:pPr>
            <a:endParaRPr lang="en-US"/>
          </a:p>
        </p:txBody>
      </p:sp>
      <p:sp>
        <p:nvSpPr>
          <p:cNvPr id="1524321682"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48886446" name="Slide Image Placeholder 1"/>
          <p:cNvSpPr>
            <a:spLocks noChangeAspect="1" noGrp="1" noRot="1"/>
          </p:cNvSpPr>
          <p:nvPr>
            <p:ph type="sldImg"/>
          </p:nvPr>
        </p:nvSpPr>
        <p:spPr bwMode="auto"/>
      </p:sp>
      <p:sp>
        <p:nvSpPr>
          <p:cNvPr id="800959112" name="Notes Placeholder 2"/>
          <p:cNvSpPr>
            <a:spLocks noGrp="1"/>
          </p:cNvSpPr>
          <p:nvPr>
            <p:ph type="body" idx="1"/>
          </p:nvPr>
        </p:nvSpPr>
        <p:spPr bwMode="auto"/>
        <p:txBody>
          <a:bodyPr/>
          <a:lstStyle/>
          <a:p>
            <a:pPr>
              <a:defRPr/>
            </a:pPr>
            <a:endParaRPr lang="en-US"/>
          </a:p>
        </p:txBody>
      </p:sp>
      <p:sp>
        <p:nvSpPr>
          <p:cNvPr id="1745914371"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78386875" name="Slide Image Placeholder 1"/>
          <p:cNvSpPr>
            <a:spLocks noChangeAspect="1" noGrp="1" noRot="1"/>
          </p:cNvSpPr>
          <p:nvPr>
            <p:ph type="sldImg"/>
          </p:nvPr>
        </p:nvSpPr>
        <p:spPr bwMode="auto"/>
      </p:sp>
      <p:sp>
        <p:nvSpPr>
          <p:cNvPr id="95655172" name="Notes Placeholder 2"/>
          <p:cNvSpPr>
            <a:spLocks noGrp="1"/>
          </p:cNvSpPr>
          <p:nvPr>
            <p:ph type="body" idx="1"/>
          </p:nvPr>
        </p:nvSpPr>
        <p:spPr bwMode="auto"/>
        <p:txBody>
          <a:bodyPr/>
          <a:lstStyle/>
          <a:p>
            <a:pPr>
              <a:defRPr/>
            </a:pPr>
            <a:endParaRPr lang="en-US"/>
          </a:p>
        </p:txBody>
      </p:sp>
      <p:sp>
        <p:nvSpPr>
          <p:cNvPr id="867078498"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8393350" name="Slide Image Placeholder 1"/>
          <p:cNvSpPr>
            <a:spLocks noChangeAspect="1" noGrp="1" noRot="1"/>
          </p:cNvSpPr>
          <p:nvPr>
            <p:ph type="sldImg"/>
          </p:nvPr>
        </p:nvSpPr>
        <p:spPr bwMode="auto"/>
      </p:sp>
      <p:sp>
        <p:nvSpPr>
          <p:cNvPr id="1102384152" name="Notes Placeholder 2"/>
          <p:cNvSpPr>
            <a:spLocks noGrp="1"/>
          </p:cNvSpPr>
          <p:nvPr>
            <p:ph type="body" idx="1"/>
          </p:nvPr>
        </p:nvSpPr>
        <p:spPr bwMode="auto"/>
        <p:txBody>
          <a:bodyPr/>
          <a:lstStyle/>
          <a:p>
            <a:pPr>
              <a:defRPr/>
            </a:pPr>
            <a:endParaRPr lang="en-US"/>
          </a:p>
        </p:txBody>
      </p:sp>
      <p:sp>
        <p:nvSpPr>
          <p:cNvPr id="1590126436"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2216136" name="Slide Image Placeholder 1"/>
          <p:cNvSpPr>
            <a:spLocks noChangeAspect="1" noGrp="1" noRot="1"/>
          </p:cNvSpPr>
          <p:nvPr>
            <p:ph type="sldImg"/>
          </p:nvPr>
        </p:nvSpPr>
        <p:spPr bwMode="auto"/>
      </p:sp>
      <p:sp>
        <p:nvSpPr>
          <p:cNvPr id="1411511574" name="Notes Placeholder 2"/>
          <p:cNvSpPr>
            <a:spLocks noGrp="1"/>
          </p:cNvSpPr>
          <p:nvPr>
            <p:ph type="body" idx="1"/>
          </p:nvPr>
        </p:nvSpPr>
        <p:spPr bwMode="auto"/>
        <p:txBody>
          <a:bodyPr/>
          <a:lstStyle/>
          <a:p>
            <a:pPr>
              <a:defRPr/>
            </a:pPr>
            <a:endParaRPr lang="en-US"/>
          </a:p>
        </p:txBody>
      </p:sp>
      <p:sp>
        <p:nvSpPr>
          <p:cNvPr id="2138491322"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8662362" name="Slide Image Placeholder 1"/>
          <p:cNvSpPr>
            <a:spLocks noChangeAspect="1" noGrp="1" noRot="1"/>
          </p:cNvSpPr>
          <p:nvPr>
            <p:ph type="sldImg"/>
          </p:nvPr>
        </p:nvSpPr>
        <p:spPr bwMode="auto"/>
      </p:sp>
      <p:sp>
        <p:nvSpPr>
          <p:cNvPr id="1879851710" name="Notes Placeholder 2"/>
          <p:cNvSpPr>
            <a:spLocks noGrp="1"/>
          </p:cNvSpPr>
          <p:nvPr>
            <p:ph type="body" idx="1"/>
          </p:nvPr>
        </p:nvSpPr>
        <p:spPr bwMode="auto"/>
        <p:txBody>
          <a:bodyPr/>
          <a:lstStyle/>
          <a:p>
            <a:pPr>
              <a:defRPr/>
            </a:pPr>
            <a:endParaRPr lang="en-US"/>
          </a:p>
        </p:txBody>
      </p:sp>
      <p:sp>
        <p:nvSpPr>
          <p:cNvPr id="1333631782"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35016" name="Slide Image Placeholder 1"/>
          <p:cNvSpPr>
            <a:spLocks noChangeAspect="1" noGrp="1" noRot="1"/>
          </p:cNvSpPr>
          <p:nvPr>
            <p:ph type="sldImg"/>
          </p:nvPr>
        </p:nvSpPr>
        <p:spPr bwMode="auto"/>
      </p:sp>
      <p:sp>
        <p:nvSpPr>
          <p:cNvPr id="1250966174" name="Notes Placeholder 2"/>
          <p:cNvSpPr>
            <a:spLocks noGrp="1"/>
          </p:cNvSpPr>
          <p:nvPr>
            <p:ph type="body" idx="1"/>
          </p:nvPr>
        </p:nvSpPr>
        <p:spPr bwMode="auto"/>
        <p:txBody>
          <a:bodyPr/>
          <a:lstStyle/>
          <a:p>
            <a:pPr>
              <a:defRPr/>
            </a:pPr>
            <a:endParaRPr lang="en-US"/>
          </a:p>
        </p:txBody>
      </p:sp>
      <p:sp>
        <p:nvSpPr>
          <p:cNvPr id="1874966457"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1915391" name="Slide Image Placeholder 1"/>
          <p:cNvSpPr>
            <a:spLocks noChangeAspect="1" noGrp="1" noRot="1"/>
          </p:cNvSpPr>
          <p:nvPr>
            <p:ph type="sldImg"/>
          </p:nvPr>
        </p:nvSpPr>
        <p:spPr bwMode="auto"/>
      </p:sp>
      <p:sp>
        <p:nvSpPr>
          <p:cNvPr id="1688110050" name="Notes Placeholder 2"/>
          <p:cNvSpPr>
            <a:spLocks noGrp="1"/>
          </p:cNvSpPr>
          <p:nvPr>
            <p:ph type="body" idx="1"/>
          </p:nvPr>
        </p:nvSpPr>
        <p:spPr bwMode="auto"/>
        <p:txBody>
          <a:bodyPr/>
          <a:lstStyle/>
          <a:p>
            <a:pPr>
              <a:defRPr/>
            </a:pPr>
            <a:endParaRPr lang="en-US"/>
          </a:p>
        </p:txBody>
      </p:sp>
      <p:sp>
        <p:nvSpPr>
          <p:cNvPr id="1327094244"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3624553" name="Slide Image Placeholder 1"/>
          <p:cNvSpPr>
            <a:spLocks noChangeAspect="1" noGrp="1" noRot="1"/>
          </p:cNvSpPr>
          <p:nvPr>
            <p:ph type="sldImg"/>
          </p:nvPr>
        </p:nvSpPr>
        <p:spPr bwMode="auto"/>
      </p:sp>
      <p:sp>
        <p:nvSpPr>
          <p:cNvPr id="1545182913" name="Notes Placeholder 2"/>
          <p:cNvSpPr>
            <a:spLocks noGrp="1"/>
          </p:cNvSpPr>
          <p:nvPr>
            <p:ph type="body" idx="1"/>
          </p:nvPr>
        </p:nvSpPr>
        <p:spPr bwMode="auto"/>
        <p:txBody>
          <a:bodyPr/>
          <a:lstStyle/>
          <a:p>
            <a:pPr>
              <a:defRPr/>
            </a:pPr>
            <a:endParaRPr lang="en-US"/>
          </a:p>
        </p:txBody>
      </p:sp>
      <p:sp>
        <p:nvSpPr>
          <p:cNvPr id="1988337615"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89533340" name="Slide Image Placeholder 1"/>
          <p:cNvSpPr>
            <a:spLocks noChangeAspect="1" noGrp="1" noRot="1"/>
          </p:cNvSpPr>
          <p:nvPr>
            <p:ph type="sldImg"/>
          </p:nvPr>
        </p:nvSpPr>
        <p:spPr bwMode="auto"/>
      </p:sp>
      <p:sp>
        <p:nvSpPr>
          <p:cNvPr id="1757532088" name="Notes Placeholder 2"/>
          <p:cNvSpPr>
            <a:spLocks noGrp="1"/>
          </p:cNvSpPr>
          <p:nvPr>
            <p:ph type="body" idx="1"/>
          </p:nvPr>
        </p:nvSpPr>
        <p:spPr bwMode="auto"/>
        <p:txBody>
          <a:bodyPr/>
          <a:lstStyle/>
          <a:p>
            <a:pPr>
              <a:defRPr/>
            </a:pPr>
            <a:endParaRPr lang="en-US"/>
          </a:p>
        </p:txBody>
      </p:sp>
      <p:sp>
        <p:nvSpPr>
          <p:cNvPr id="1955941663"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9362385" name="Slide Image Placeholder 1"/>
          <p:cNvSpPr>
            <a:spLocks noChangeAspect="1" noGrp="1" noRot="1"/>
          </p:cNvSpPr>
          <p:nvPr>
            <p:ph type="sldImg"/>
          </p:nvPr>
        </p:nvSpPr>
        <p:spPr bwMode="auto"/>
      </p:sp>
      <p:sp>
        <p:nvSpPr>
          <p:cNvPr id="351741311" name="Notes Placeholder 2"/>
          <p:cNvSpPr>
            <a:spLocks noGrp="1"/>
          </p:cNvSpPr>
          <p:nvPr>
            <p:ph type="body" idx="1"/>
          </p:nvPr>
        </p:nvSpPr>
        <p:spPr bwMode="auto"/>
        <p:txBody>
          <a:bodyPr/>
          <a:lstStyle/>
          <a:p>
            <a:pPr>
              <a:defRPr/>
            </a:pPr>
            <a:endParaRPr lang="en-US"/>
          </a:p>
        </p:txBody>
      </p:sp>
      <p:sp>
        <p:nvSpPr>
          <p:cNvPr id="382560489"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 /></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B4332"/>
        </a:solidFill>
      </p:bgPr>
    </p:bg>
    <p:spTree>
      <p:nvGrpSpPr>
        <p:cNvPr id="1" name=""/>
        <p:cNvGrpSpPr/>
        <p:nvPr/>
      </p:nvGrpSpPr>
      <p:grpSpPr bwMode="auto">
        <a:xfrm>
          <a:off x="0" y="0"/>
          <a:ext cx="0" cy="0"/>
          <a:chOff x="0" y="0"/>
          <a:chExt cx="0" cy="0"/>
        </a:xfrm>
      </p:grpSpPr>
      <p:sp>
        <p:nvSpPr>
          <p:cNvPr id="745275500" name="Shape 0"/>
          <p:cNvSpPr/>
          <p:nvPr/>
        </p:nvSpPr>
        <p:spPr bwMode="auto">
          <a:xfrm>
            <a:off x="8778240" y="-1463040"/>
            <a:ext cx="5029200" cy="5029200"/>
          </a:xfrm>
          <a:prstGeom prst="ellipse">
            <a:avLst/>
          </a:prstGeom>
          <a:solidFill>
            <a:srgbClr val="2D6A4F">
              <a:alpha val="45000"/>
            </a:srgbClr>
          </a:solidFill>
          <a:ln/>
        </p:spPr>
      </p:sp>
      <p:sp>
        <p:nvSpPr>
          <p:cNvPr id="115107294" name="Shape 1"/>
          <p:cNvSpPr/>
          <p:nvPr/>
        </p:nvSpPr>
        <p:spPr bwMode="auto">
          <a:xfrm>
            <a:off x="10332720" y="4206240"/>
            <a:ext cx="3291840" cy="3291840"/>
          </a:xfrm>
          <a:prstGeom prst="ellipse">
            <a:avLst/>
          </a:prstGeom>
          <a:solidFill>
            <a:srgbClr val="74C69D">
              <a:alpha val="35000"/>
            </a:srgbClr>
          </a:solidFill>
          <a:ln/>
        </p:spPr>
      </p:sp>
      <p:sp>
        <p:nvSpPr>
          <p:cNvPr id="796369978" name="Shape 2"/>
          <p:cNvSpPr/>
          <p:nvPr/>
        </p:nvSpPr>
        <p:spPr bwMode="auto">
          <a:xfrm>
            <a:off x="640080" y="685800"/>
            <a:ext cx="868680" cy="868680"/>
          </a:xfrm>
          <a:prstGeom prst="ellipse">
            <a:avLst/>
          </a:prstGeom>
          <a:solidFill>
            <a:srgbClr val="2D6A4F"/>
          </a:solidFill>
          <a:ln/>
        </p:spPr>
      </p:sp>
      <p:pic>
        <p:nvPicPr>
          <p:cNvPr id="903522558" name="Image 0" descr="grid.png"/>
          <p:cNvPicPr>
            <a:picLocks noChangeAspect="1"/>
          </p:cNvPicPr>
          <p:nvPr/>
        </p:nvPicPr>
        <p:blipFill rotWithShape="1">
          <a:blip r:embed="rId3"/>
          <a:stretch/>
        </p:blipFill>
        <p:spPr bwMode="auto">
          <a:xfrm>
            <a:off x="753008" y="798728"/>
            <a:ext cx="642823" cy="642823"/>
          </a:xfrm>
          <a:prstGeom prst="rect">
            <a:avLst/>
          </a:prstGeom>
        </p:spPr>
      </p:pic>
      <p:sp>
        <p:nvSpPr>
          <p:cNvPr id="582283428" name="Text 3"/>
          <p:cNvSpPr/>
          <p:nvPr/>
        </p:nvSpPr>
        <p:spPr bwMode="auto">
          <a:xfrm>
            <a:off x="640080" y="2148840"/>
            <a:ext cx="8229600" cy="365760"/>
          </a:xfrm>
          <a:prstGeom prst="rect">
            <a:avLst/>
          </a:prstGeom>
          <a:noFill/>
          <a:ln/>
        </p:spPr>
        <p:txBody>
          <a:bodyPr wrap="square" rtlCol="0" anchor="ctr"/>
          <a:lstStyle/>
          <a:p>
            <a:pPr marL="0" indent="0">
              <a:buNone/>
              <a:defRPr/>
            </a:pPr>
            <a:r>
              <a:rPr lang="en-US" sz="1400" b="1" spc="200">
                <a:solidFill>
                  <a:srgbClr val="74C69D"/>
                </a:solidFill>
                <a:latin typeface="Calibri"/>
                <a:ea typeface="Calibri"/>
                <a:cs typeface="Calibri"/>
              </a:rPr>
              <a:t>BAB 2 · BIOSTATISTIKA UNTUK BIOLOGI</a:t>
            </a:r>
            <a:endParaRPr lang="en-US" sz="1400"/>
          </a:p>
        </p:txBody>
      </p:sp>
      <p:sp>
        <p:nvSpPr>
          <p:cNvPr id="835398057" name="Text 4"/>
          <p:cNvSpPr/>
          <p:nvPr/>
        </p:nvSpPr>
        <p:spPr bwMode="auto">
          <a:xfrm>
            <a:off x="640080" y="2514600"/>
            <a:ext cx="10058400" cy="1005840"/>
          </a:xfrm>
          <a:prstGeom prst="rect">
            <a:avLst/>
          </a:prstGeom>
          <a:noFill/>
          <a:ln/>
        </p:spPr>
        <p:txBody>
          <a:bodyPr wrap="square" rtlCol="0" anchor="ctr"/>
          <a:lstStyle/>
          <a:p>
            <a:pPr marL="0" indent="0">
              <a:lnSpc>
                <a:spcPct val="108000"/>
              </a:lnSpc>
              <a:buNone/>
              <a:defRPr/>
            </a:pPr>
            <a:r>
              <a:rPr lang="en-US" sz="4000" b="1">
                <a:solidFill>
                  <a:srgbClr val="FFFFFF"/>
                </a:solidFill>
                <a:latin typeface="Cambria"/>
                <a:ea typeface="Cambria"/>
                <a:cs typeface="Cambria"/>
              </a:rPr>
              <a:t>Rancangan Acak Kelompok (RAK)</a:t>
            </a:r>
            <a:endParaRPr lang="en-US" sz="4000"/>
          </a:p>
        </p:txBody>
      </p:sp>
      <p:sp>
        <p:nvSpPr>
          <p:cNvPr id="240071635" name="Text 5"/>
          <p:cNvSpPr/>
          <p:nvPr/>
        </p:nvSpPr>
        <p:spPr bwMode="auto">
          <a:xfrm>
            <a:off x="658368" y="3520440"/>
            <a:ext cx="8778240" cy="548640"/>
          </a:xfrm>
          <a:prstGeom prst="rect">
            <a:avLst/>
          </a:prstGeom>
          <a:noFill/>
          <a:ln/>
        </p:spPr>
        <p:txBody>
          <a:bodyPr wrap="square" rtlCol="0" anchor="ctr"/>
          <a:lstStyle/>
          <a:p>
            <a:pPr marL="0" indent="0">
              <a:buNone/>
              <a:defRPr/>
            </a:pPr>
            <a:r>
              <a:rPr lang="en-US" sz="1600" i="1">
                <a:solidFill>
                  <a:srgbClr val="D8F3DC"/>
                </a:solidFill>
                <a:latin typeface="Calibri"/>
                <a:ea typeface="Calibri"/>
                <a:cs typeface="Calibri"/>
              </a:rPr>
              <a:t>Menambahkan satu arah pengelompokan (blok) untuk mengontrol keragaman lingkungan</a:t>
            </a:r>
            <a:endParaRPr lang="en-US" sz="1600"/>
          </a:p>
        </p:txBody>
      </p:sp>
      <p:sp>
        <p:nvSpPr>
          <p:cNvPr id="902593884" name="Shape 6"/>
          <p:cNvSpPr/>
          <p:nvPr/>
        </p:nvSpPr>
        <p:spPr bwMode="auto">
          <a:xfrm>
            <a:off x="658368" y="4251960"/>
            <a:ext cx="2011680" cy="0"/>
          </a:xfrm>
          <a:prstGeom prst="line">
            <a:avLst/>
          </a:prstGeom>
          <a:noFill/>
          <a:ln w="25400">
            <a:solidFill>
              <a:srgbClr val="74C69D"/>
            </a:solidFill>
            <a:prstDash val="solid"/>
          </a:ln>
        </p:spPr>
      </p:sp>
      <p:sp>
        <p:nvSpPr>
          <p:cNvPr id="380073944" name="Text 7"/>
          <p:cNvSpPr/>
          <p:nvPr/>
        </p:nvSpPr>
        <p:spPr bwMode="auto">
          <a:xfrm>
            <a:off x="658368" y="4389120"/>
            <a:ext cx="8229600" cy="365760"/>
          </a:xfrm>
          <a:prstGeom prst="rect">
            <a:avLst/>
          </a:prstGeom>
          <a:noFill/>
          <a:ln/>
        </p:spPr>
        <p:txBody>
          <a:bodyPr wrap="square" rtlCol="0" anchor="ctr"/>
          <a:lstStyle/>
          <a:p>
            <a:pPr marL="0" indent="0">
              <a:buNone/>
              <a:defRPr/>
            </a:pPr>
            <a:r>
              <a:rPr lang="en-US" sz="1100">
                <a:solidFill>
                  <a:srgbClr val="9FC2AE"/>
                </a:solidFill>
                <a:latin typeface="Calibri"/>
                <a:ea typeface="Calibri"/>
                <a:cs typeface="Calibri"/>
              </a:rPr>
              <a:t>Disarikan dari: Samsul Muarrif, S.Si — Buku Ajar Biostatistika untuk Biologi (2026)</a:t>
            </a:r>
            <a:endParaRPr lang="en-US" sz="1100"/>
          </a:p>
        </p:txBody>
      </p:sp>
      <p:sp>
        <p:nvSpPr>
          <p:cNvPr id="1342878227" name="Shape 8"/>
          <p:cNvSpPr/>
          <p:nvPr/>
        </p:nvSpPr>
        <p:spPr bwMode="auto">
          <a:xfrm>
            <a:off x="658368" y="5029200"/>
            <a:ext cx="8778240" cy="1143000"/>
          </a:xfrm>
          <a:prstGeom prst="roundRect">
            <a:avLst>
              <a:gd name="adj" fmla="val 6400"/>
            </a:avLst>
          </a:prstGeom>
          <a:solidFill>
            <a:srgbClr val="163A2C"/>
          </a:solidFill>
          <a:ln w="12700">
            <a:solidFill>
              <a:srgbClr val="74C69D"/>
            </a:solidFill>
            <a:prstDash val="solid"/>
          </a:ln>
        </p:spPr>
      </p:sp>
      <p:sp>
        <p:nvSpPr>
          <p:cNvPr id="1185946232" name="Text 9"/>
          <p:cNvSpPr/>
          <p:nvPr/>
        </p:nvSpPr>
        <p:spPr bwMode="auto">
          <a:xfrm>
            <a:off x="868680" y="5029200"/>
            <a:ext cx="8321039" cy="1143000"/>
          </a:xfrm>
          <a:prstGeom prst="rect">
            <a:avLst/>
          </a:prstGeom>
          <a:noFill/>
          <a:ln/>
        </p:spPr>
        <p:txBody>
          <a:bodyPr wrap="square" rtlCol="0" anchor="ctr"/>
          <a:lstStyle/>
          <a:p>
            <a:pPr marL="0" indent="0">
              <a:lnSpc>
                <a:spcPct val="130000"/>
              </a:lnSpc>
              <a:buNone/>
              <a:defRPr/>
            </a:pPr>
            <a:r>
              <a:rPr lang="en-US" sz="1250" b="1">
                <a:solidFill>
                  <a:srgbClr val="74C69D"/>
                </a:solidFill>
                <a:latin typeface="Calibri"/>
                <a:ea typeface="Calibri"/>
                <a:cs typeface="Calibri"/>
              </a:rPr>
              <a:t>Sebelumnya di Bab 1:  </a:t>
            </a:r>
            <a:r>
              <a:rPr lang="en-US" sz="1250">
                <a:solidFill>
                  <a:srgbClr val="E4F1E9"/>
                </a:solidFill>
                <a:latin typeface="Calibri"/>
                <a:ea typeface="Calibri"/>
                <a:cs typeface="Calibri"/>
              </a:rPr>
              <a:t>RAL digunakan ketika unit percobaan homogen. Bab 2 membahas kondisi ketika unit percobaan memiliki sumber keragaman terkontrol yang diketahui.</a:t>
            </a:r>
            <a:endParaRPr lang="en-US" sz="12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7FAF7"/>
        </a:solidFill>
      </p:bgPr>
    </p:bg>
    <p:spTree>
      <p:nvGrpSpPr>
        <p:cNvPr id="1" name=""/>
        <p:cNvGrpSpPr/>
        <p:nvPr/>
      </p:nvGrpSpPr>
      <p:grpSpPr bwMode="auto">
        <a:xfrm>
          <a:off x="0" y="0"/>
          <a:ext cx="0" cy="0"/>
          <a:chOff x="0" y="0"/>
          <a:chExt cx="0" cy="0"/>
        </a:xfrm>
      </p:grpSpPr>
      <p:sp>
        <p:nvSpPr>
          <p:cNvPr id="1028347527" name="Text 0"/>
          <p:cNvSpPr/>
          <p:nvPr/>
        </p:nvSpPr>
        <p:spPr bwMode="auto">
          <a:xfrm>
            <a:off x="548640" y="384048"/>
            <a:ext cx="9144000" cy="320040"/>
          </a:xfrm>
          <a:prstGeom prst="rect">
            <a:avLst/>
          </a:prstGeom>
          <a:noFill/>
          <a:ln/>
        </p:spPr>
        <p:txBody>
          <a:bodyPr wrap="square" rtlCol="0" anchor="ctr"/>
          <a:lstStyle/>
          <a:p>
            <a:pPr marL="0" indent="0">
              <a:buNone/>
              <a:defRPr/>
            </a:pPr>
            <a:r>
              <a:rPr lang="en-US" sz="1200" b="1" spc="200">
                <a:solidFill>
                  <a:srgbClr val="2D6A4F"/>
                </a:solidFill>
                <a:latin typeface="Calibri"/>
                <a:ea typeface="Calibri"/>
                <a:cs typeface="Calibri"/>
              </a:rPr>
              <a:t>BAB 2 · PENDAHULUAN</a:t>
            </a:r>
            <a:endParaRPr lang="en-US" sz="1200"/>
          </a:p>
        </p:txBody>
      </p:sp>
      <p:sp>
        <p:nvSpPr>
          <p:cNvPr id="347006850" name="Text 1"/>
          <p:cNvSpPr/>
          <p:nvPr/>
        </p:nvSpPr>
        <p:spPr bwMode="auto">
          <a:xfrm>
            <a:off x="548640" y="658368"/>
            <a:ext cx="11064240" cy="822960"/>
          </a:xfrm>
          <a:prstGeom prst="rect">
            <a:avLst/>
          </a:prstGeom>
          <a:noFill/>
          <a:ln/>
        </p:spPr>
        <p:txBody>
          <a:bodyPr wrap="square" rtlCol="0" anchor="ctr"/>
          <a:lstStyle/>
          <a:p>
            <a:pPr marL="0" indent="0">
              <a:buNone/>
              <a:defRPr/>
            </a:pPr>
            <a:r>
              <a:rPr lang="en-US" sz="3000" b="1">
                <a:solidFill>
                  <a:srgbClr val="1B4332"/>
                </a:solidFill>
                <a:latin typeface="Cambria"/>
                <a:ea typeface="Cambria"/>
                <a:cs typeface="Cambria"/>
              </a:rPr>
              <a:t>Capaian Pembelajaran</a:t>
            </a:r>
            <a:endParaRPr lang="en-US" sz="3000"/>
          </a:p>
        </p:txBody>
      </p:sp>
      <p:sp>
        <p:nvSpPr>
          <p:cNvPr id="983965457" name="Shape 2"/>
          <p:cNvSpPr/>
          <p:nvPr/>
        </p:nvSpPr>
        <p:spPr bwMode="auto">
          <a:xfrm>
            <a:off x="640080" y="1828800"/>
            <a:ext cx="566928" cy="566928"/>
          </a:xfrm>
          <a:prstGeom prst="ellipse">
            <a:avLst/>
          </a:prstGeom>
          <a:solidFill>
            <a:srgbClr val="2D6A4F"/>
          </a:solidFill>
          <a:ln/>
        </p:spPr>
      </p:sp>
      <p:pic>
        <p:nvPicPr>
          <p:cNvPr id="34357093" name="Image 0" descr="diagram.png"/>
          <p:cNvPicPr>
            <a:picLocks noChangeAspect="1"/>
          </p:cNvPicPr>
          <p:nvPr/>
        </p:nvPicPr>
        <p:blipFill rotWithShape="1">
          <a:blip r:embed="rId3"/>
          <a:stretch/>
        </p:blipFill>
        <p:spPr bwMode="auto">
          <a:xfrm>
            <a:off x="713781" y="1902501"/>
            <a:ext cx="419527" cy="419527"/>
          </a:xfrm>
          <a:prstGeom prst="rect">
            <a:avLst/>
          </a:prstGeom>
        </p:spPr>
      </p:pic>
      <p:sp>
        <p:nvSpPr>
          <p:cNvPr id="1415290967" name="Text 3"/>
          <p:cNvSpPr/>
          <p:nvPr/>
        </p:nvSpPr>
        <p:spPr bwMode="auto">
          <a:xfrm>
            <a:off x="1417320" y="1801367"/>
            <a:ext cx="3291840" cy="457200"/>
          </a:xfrm>
          <a:prstGeom prst="rect">
            <a:avLst/>
          </a:prstGeom>
          <a:noFill/>
          <a:ln/>
        </p:spPr>
        <p:txBody>
          <a:bodyPr wrap="square" rtlCol="0" anchor="ctr"/>
          <a:lstStyle/>
          <a:p>
            <a:pPr marL="0" indent="0">
              <a:buNone/>
              <a:defRPr/>
            </a:pPr>
            <a:r>
              <a:rPr lang="en-US" sz="1450" b="1">
                <a:solidFill>
                  <a:srgbClr val="1B4332"/>
                </a:solidFill>
                <a:latin typeface="Cambria"/>
                <a:ea typeface="Cambria"/>
                <a:cs typeface="Cambria"/>
              </a:rPr>
              <a:t>RAL vs RAK</a:t>
            </a:r>
            <a:endParaRPr lang="en-US" sz="1450"/>
          </a:p>
        </p:txBody>
      </p:sp>
      <p:sp>
        <p:nvSpPr>
          <p:cNvPr id="279299481" name="Text 4"/>
          <p:cNvSpPr/>
          <p:nvPr/>
        </p:nvSpPr>
        <p:spPr bwMode="auto">
          <a:xfrm>
            <a:off x="4754880" y="1801367"/>
            <a:ext cx="6766560" cy="594360"/>
          </a:xfrm>
          <a:prstGeom prst="rect">
            <a:avLst/>
          </a:prstGeom>
          <a:noFill/>
          <a:ln/>
        </p:spPr>
        <p:txBody>
          <a:bodyPr wrap="square" rtlCol="0" anchor="t"/>
          <a:lstStyle/>
          <a:p>
            <a:pPr marL="0" indent="0">
              <a:buNone/>
              <a:defRPr/>
            </a:pPr>
            <a:r>
              <a:rPr lang="en-US" sz="1250">
                <a:solidFill>
                  <a:srgbClr val="1B2A22"/>
                </a:solidFill>
                <a:latin typeface="Calibri"/>
                <a:ea typeface="Calibri"/>
                <a:cs typeface="Calibri"/>
              </a:rPr>
              <a:t>Menjelaskan perbedaan konseptual antara RAL dan RAK, khususnya peran variabel blok.</a:t>
            </a:r>
            <a:endParaRPr lang="en-US" sz="1250"/>
          </a:p>
        </p:txBody>
      </p:sp>
      <p:sp>
        <p:nvSpPr>
          <p:cNvPr id="1327583558" name="Shape 5"/>
          <p:cNvSpPr/>
          <p:nvPr/>
        </p:nvSpPr>
        <p:spPr bwMode="auto">
          <a:xfrm>
            <a:off x="640080" y="2743200"/>
            <a:ext cx="566928" cy="566928"/>
          </a:xfrm>
          <a:prstGeom prst="ellipse">
            <a:avLst/>
          </a:prstGeom>
          <a:solidFill>
            <a:srgbClr val="2D6A4F"/>
          </a:solidFill>
          <a:ln/>
        </p:spPr>
      </p:sp>
      <p:pic>
        <p:nvPicPr>
          <p:cNvPr id="1063681326" name="Image 1" descr="grid.png"/>
          <p:cNvPicPr>
            <a:picLocks noChangeAspect="1"/>
          </p:cNvPicPr>
          <p:nvPr/>
        </p:nvPicPr>
        <p:blipFill rotWithShape="1">
          <a:blip r:embed="rId4"/>
          <a:stretch/>
        </p:blipFill>
        <p:spPr bwMode="auto">
          <a:xfrm>
            <a:off x="713781" y="2816901"/>
            <a:ext cx="419527" cy="419527"/>
          </a:xfrm>
          <a:prstGeom prst="rect">
            <a:avLst/>
          </a:prstGeom>
        </p:spPr>
      </p:pic>
      <p:sp>
        <p:nvSpPr>
          <p:cNvPr id="103147583" name="Text 6"/>
          <p:cNvSpPr/>
          <p:nvPr/>
        </p:nvSpPr>
        <p:spPr bwMode="auto">
          <a:xfrm>
            <a:off x="1417320" y="2715768"/>
            <a:ext cx="3291840" cy="457200"/>
          </a:xfrm>
          <a:prstGeom prst="rect">
            <a:avLst/>
          </a:prstGeom>
          <a:noFill/>
          <a:ln/>
        </p:spPr>
        <p:txBody>
          <a:bodyPr wrap="square" rtlCol="0" anchor="ctr"/>
          <a:lstStyle/>
          <a:p>
            <a:pPr marL="0" indent="0">
              <a:buNone/>
              <a:defRPr/>
            </a:pPr>
            <a:r>
              <a:rPr lang="en-US" sz="1450" b="1">
                <a:solidFill>
                  <a:srgbClr val="1B4332"/>
                </a:solidFill>
                <a:latin typeface="Cambria"/>
                <a:ea typeface="Cambria"/>
                <a:cs typeface="Cambria"/>
              </a:rPr>
              <a:t>Kapan Blocking Diperlukan</a:t>
            </a:r>
            <a:endParaRPr lang="en-US" sz="1450"/>
          </a:p>
        </p:txBody>
      </p:sp>
      <p:sp>
        <p:nvSpPr>
          <p:cNvPr id="386293978" name="Text 7"/>
          <p:cNvSpPr/>
          <p:nvPr/>
        </p:nvSpPr>
        <p:spPr bwMode="auto">
          <a:xfrm>
            <a:off x="4754880" y="2715768"/>
            <a:ext cx="6766560" cy="594360"/>
          </a:xfrm>
          <a:prstGeom prst="rect">
            <a:avLst/>
          </a:prstGeom>
          <a:noFill/>
          <a:ln/>
        </p:spPr>
        <p:txBody>
          <a:bodyPr wrap="square" rtlCol="0" anchor="t"/>
          <a:lstStyle/>
          <a:p>
            <a:pPr marL="0" indent="0">
              <a:buNone/>
              <a:defRPr/>
            </a:pPr>
            <a:r>
              <a:rPr lang="en-US" sz="1250">
                <a:solidFill>
                  <a:srgbClr val="1B2A22"/>
                </a:solidFill>
                <a:latin typeface="Calibri"/>
                <a:ea typeface="Calibri"/>
                <a:cs typeface="Calibri"/>
              </a:rPr>
              <a:t>Mengidentifikasi situasi eksperimental yang memerlukan pengelompokan (</a:t>
            </a:r>
            <a:r>
              <a:rPr lang="en-US" sz="1250" i="1">
                <a:solidFill>
                  <a:srgbClr val="1B2A22"/>
                </a:solidFill>
                <a:latin typeface="Calibri"/>
                <a:ea typeface="Calibri"/>
                <a:cs typeface="Calibri"/>
              </a:rPr>
              <a:t>blocking</a:t>
            </a:r>
            <a:r>
              <a:rPr lang="en-US" sz="1250">
                <a:solidFill>
                  <a:srgbClr val="1B2A22"/>
                </a:solidFill>
                <a:latin typeface="Calibri"/>
                <a:ea typeface="Calibri"/>
                <a:cs typeface="Calibri"/>
              </a:rPr>
              <a:t>).</a:t>
            </a:r>
            <a:endParaRPr lang="en-US" sz="1250"/>
          </a:p>
        </p:txBody>
      </p:sp>
      <p:sp>
        <p:nvSpPr>
          <p:cNvPr id="2117526094" name="Shape 8"/>
          <p:cNvSpPr/>
          <p:nvPr/>
        </p:nvSpPr>
        <p:spPr bwMode="auto">
          <a:xfrm>
            <a:off x="640080" y="3657600"/>
            <a:ext cx="566928" cy="566928"/>
          </a:xfrm>
          <a:prstGeom prst="ellipse">
            <a:avLst/>
          </a:prstGeom>
          <a:solidFill>
            <a:srgbClr val="2D6A4F"/>
          </a:solidFill>
          <a:ln/>
        </p:spPr>
      </p:sp>
      <p:pic>
        <p:nvPicPr>
          <p:cNvPr id="338520762" name="Image 2" descr="flask.png"/>
          <p:cNvPicPr>
            <a:picLocks noChangeAspect="1"/>
          </p:cNvPicPr>
          <p:nvPr/>
        </p:nvPicPr>
        <p:blipFill rotWithShape="1">
          <a:blip r:embed="rId5"/>
          <a:stretch/>
        </p:blipFill>
        <p:spPr bwMode="auto">
          <a:xfrm>
            <a:off x="713781" y="3731301"/>
            <a:ext cx="419527" cy="419527"/>
          </a:xfrm>
          <a:prstGeom prst="rect">
            <a:avLst/>
          </a:prstGeom>
        </p:spPr>
      </p:pic>
      <p:sp>
        <p:nvSpPr>
          <p:cNvPr id="1463530982" name="Text 9"/>
          <p:cNvSpPr/>
          <p:nvPr/>
        </p:nvSpPr>
        <p:spPr bwMode="auto">
          <a:xfrm>
            <a:off x="1417320" y="3630168"/>
            <a:ext cx="3291840" cy="457200"/>
          </a:xfrm>
          <a:prstGeom prst="rect">
            <a:avLst/>
          </a:prstGeom>
          <a:noFill/>
          <a:ln/>
        </p:spPr>
        <p:txBody>
          <a:bodyPr wrap="square" rtlCol="0" anchor="ctr"/>
          <a:lstStyle/>
          <a:p>
            <a:pPr marL="0" indent="0">
              <a:buNone/>
              <a:defRPr/>
            </a:pPr>
            <a:r>
              <a:rPr lang="en-US" sz="1450" b="1">
                <a:solidFill>
                  <a:srgbClr val="1B4332"/>
                </a:solidFill>
                <a:latin typeface="Cambria"/>
                <a:ea typeface="Cambria"/>
                <a:cs typeface="Cambria"/>
              </a:rPr>
              <a:t>Model ANOVA Dua Arah</a:t>
            </a:r>
            <a:endParaRPr lang="en-US" sz="1450"/>
          </a:p>
        </p:txBody>
      </p:sp>
      <p:sp>
        <p:nvSpPr>
          <p:cNvPr id="1849740200" name="Text 10"/>
          <p:cNvSpPr/>
          <p:nvPr/>
        </p:nvSpPr>
        <p:spPr bwMode="auto">
          <a:xfrm>
            <a:off x="4754880" y="3630168"/>
            <a:ext cx="6766560" cy="594360"/>
          </a:xfrm>
          <a:prstGeom prst="rect">
            <a:avLst/>
          </a:prstGeom>
          <a:noFill/>
          <a:ln/>
        </p:spPr>
        <p:txBody>
          <a:bodyPr wrap="square" rtlCol="0" anchor="t"/>
          <a:lstStyle/>
          <a:p>
            <a:pPr marL="0" indent="0">
              <a:buNone/>
              <a:defRPr/>
            </a:pPr>
            <a:r>
              <a:rPr lang="en-US" sz="1250">
                <a:solidFill>
                  <a:srgbClr val="1B2A22"/>
                </a:solidFill>
                <a:latin typeface="Calibri"/>
                <a:ea typeface="Calibri"/>
                <a:cs typeface="Calibri"/>
              </a:rPr>
              <a:t>Menyusun model ANOVA dua arah tanpa interaksi (model aditif) untuk data RAK.</a:t>
            </a:r>
            <a:endParaRPr lang="en-US" sz="1250"/>
          </a:p>
        </p:txBody>
      </p:sp>
      <p:sp>
        <p:nvSpPr>
          <p:cNvPr id="1044511547" name="Shape 11"/>
          <p:cNvSpPr/>
          <p:nvPr/>
        </p:nvSpPr>
        <p:spPr bwMode="auto">
          <a:xfrm>
            <a:off x="640080" y="4572000"/>
            <a:ext cx="566928" cy="566928"/>
          </a:xfrm>
          <a:prstGeom prst="ellipse">
            <a:avLst/>
          </a:prstGeom>
          <a:solidFill>
            <a:srgbClr val="2D6A4F"/>
          </a:solidFill>
          <a:ln/>
        </p:spPr>
      </p:sp>
      <p:pic>
        <p:nvPicPr>
          <p:cNvPr id="86276471" name="Image 3" descr="chart.png"/>
          <p:cNvPicPr>
            <a:picLocks noChangeAspect="1"/>
          </p:cNvPicPr>
          <p:nvPr/>
        </p:nvPicPr>
        <p:blipFill rotWithShape="1">
          <a:blip r:embed="rId6"/>
          <a:stretch/>
        </p:blipFill>
        <p:spPr bwMode="auto">
          <a:xfrm>
            <a:off x="713781" y="4645701"/>
            <a:ext cx="419527" cy="419527"/>
          </a:xfrm>
          <a:prstGeom prst="rect">
            <a:avLst/>
          </a:prstGeom>
        </p:spPr>
      </p:pic>
      <p:sp>
        <p:nvSpPr>
          <p:cNvPr id="84453565" name="Text 12"/>
          <p:cNvSpPr/>
          <p:nvPr/>
        </p:nvSpPr>
        <p:spPr bwMode="auto">
          <a:xfrm>
            <a:off x="1417320" y="4544568"/>
            <a:ext cx="3291840" cy="457200"/>
          </a:xfrm>
          <a:prstGeom prst="rect">
            <a:avLst/>
          </a:prstGeom>
          <a:noFill/>
          <a:ln/>
        </p:spPr>
        <p:txBody>
          <a:bodyPr wrap="square" rtlCol="0" anchor="ctr"/>
          <a:lstStyle/>
          <a:p>
            <a:pPr marL="0" indent="0">
              <a:buNone/>
              <a:defRPr/>
            </a:pPr>
            <a:r>
              <a:rPr lang="en-US" sz="1450" b="1">
                <a:solidFill>
                  <a:srgbClr val="1B4332"/>
                </a:solidFill>
                <a:latin typeface="Cambria"/>
                <a:ea typeface="Cambria"/>
                <a:cs typeface="Cambria"/>
              </a:rPr>
              <a:t>Kontribusi Blok</a:t>
            </a:r>
            <a:endParaRPr lang="en-US" sz="1450"/>
          </a:p>
        </p:txBody>
      </p:sp>
      <p:sp>
        <p:nvSpPr>
          <p:cNvPr id="1187118716" name="Text 13"/>
          <p:cNvSpPr/>
          <p:nvPr/>
        </p:nvSpPr>
        <p:spPr bwMode="auto">
          <a:xfrm>
            <a:off x="4754880" y="4544568"/>
            <a:ext cx="6766560" cy="594360"/>
          </a:xfrm>
          <a:prstGeom prst="rect">
            <a:avLst/>
          </a:prstGeom>
          <a:noFill/>
          <a:ln/>
        </p:spPr>
        <p:txBody>
          <a:bodyPr wrap="square" rtlCol="0" anchor="t"/>
          <a:lstStyle/>
          <a:p>
            <a:pPr marL="0" indent="0">
              <a:buNone/>
              <a:defRPr/>
            </a:pPr>
            <a:r>
              <a:rPr lang="en-US" sz="1250">
                <a:solidFill>
                  <a:srgbClr val="1B2A22"/>
                </a:solidFill>
                <a:latin typeface="Calibri"/>
                <a:ea typeface="Calibri"/>
                <a:cs typeface="Calibri"/>
              </a:rPr>
              <a:t>Menafsirkan kontribusi blok terhadap total keragaman dalam tabel ANOVA.</a:t>
            </a:r>
            <a:endParaRPr lang="en-US" sz="1250"/>
          </a:p>
        </p:txBody>
      </p:sp>
      <p:sp>
        <p:nvSpPr>
          <p:cNvPr id="222586555" name="Shape 14"/>
          <p:cNvSpPr/>
          <p:nvPr/>
        </p:nvSpPr>
        <p:spPr bwMode="auto">
          <a:xfrm>
            <a:off x="640080" y="5486400"/>
            <a:ext cx="566928" cy="566928"/>
          </a:xfrm>
          <a:prstGeom prst="ellipse">
            <a:avLst/>
          </a:prstGeom>
          <a:solidFill>
            <a:srgbClr val="2D6A4F"/>
          </a:solidFill>
          <a:ln/>
        </p:spPr>
      </p:sp>
      <p:pic>
        <p:nvPicPr>
          <p:cNvPr id="457169522" name="Image 4" descr="scale.png"/>
          <p:cNvPicPr>
            <a:picLocks noChangeAspect="1"/>
          </p:cNvPicPr>
          <p:nvPr/>
        </p:nvPicPr>
        <p:blipFill rotWithShape="1">
          <a:blip r:embed="rId7"/>
          <a:stretch/>
        </p:blipFill>
        <p:spPr bwMode="auto">
          <a:xfrm>
            <a:off x="713781" y="5560101"/>
            <a:ext cx="419527" cy="419527"/>
          </a:xfrm>
          <a:prstGeom prst="rect">
            <a:avLst/>
          </a:prstGeom>
        </p:spPr>
      </p:pic>
      <p:sp>
        <p:nvSpPr>
          <p:cNvPr id="274843213" name="Text 15"/>
          <p:cNvSpPr/>
          <p:nvPr/>
        </p:nvSpPr>
        <p:spPr bwMode="auto">
          <a:xfrm>
            <a:off x="1417320" y="5458968"/>
            <a:ext cx="3291840" cy="457200"/>
          </a:xfrm>
          <a:prstGeom prst="rect">
            <a:avLst/>
          </a:prstGeom>
          <a:noFill/>
          <a:ln/>
        </p:spPr>
        <p:txBody>
          <a:bodyPr wrap="square" rtlCol="0" anchor="ctr"/>
          <a:lstStyle/>
          <a:p>
            <a:pPr marL="0" indent="0">
              <a:buNone/>
              <a:defRPr/>
            </a:pPr>
            <a:r>
              <a:rPr lang="en-US" sz="1450" b="1">
                <a:solidFill>
                  <a:srgbClr val="1B4332"/>
                </a:solidFill>
                <a:latin typeface="Cambria"/>
                <a:ea typeface="Cambria"/>
                <a:cs typeface="Cambria"/>
              </a:rPr>
              <a:t>Uji Lanjut Terbatas</a:t>
            </a:r>
            <a:endParaRPr lang="en-US" sz="1450"/>
          </a:p>
        </p:txBody>
      </p:sp>
      <p:sp>
        <p:nvSpPr>
          <p:cNvPr id="786882272" name="Text 16"/>
          <p:cNvSpPr/>
          <p:nvPr/>
        </p:nvSpPr>
        <p:spPr bwMode="auto">
          <a:xfrm>
            <a:off x="4754880" y="5458968"/>
            <a:ext cx="6766560" cy="594360"/>
          </a:xfrm>
          <a:prstGeom prst="rect">
            <a:avLst/>
          </a:prstGeom>
          <a:noFill/>
          <a:ln/>
        </p:spPr>
        <p:txBody>
          <a:bodyPr wrap="square" rtlCol="0" anchor="t"/>
          <a:lstStyle/>
          <a:p>
            <a:pPr marL="0" indent="0">
              <a:buNone/>
              <a:defRPr/>
            </a:pPr>
            <a:r>
              <a:rPr lang="en-US" sz="1250">
                <a:solidFill>
                  <a:srgbClr val="1B2A22"/>
                </a:solidFill>
                <a:latin typeface="Calibri"/>
                <a:ea typeface="Calibri"/>
                <a:cs typeface="Calibri"/>
              </a:rPr>
              <a:t>Melakukan &amp; menafsirkan uji lanjut Tukey HSD yang dibatasi pada faktor perlakuan.</a:t>
            </a:r>
            <a:endParaRPr lang="en-US" sz="1250"/>
          </a:p>
        </p:txBody>
      </p:sp>
      <p:sp>
        <p:nvSpPr>
          <p:cNvPr id="1468410482" name="Text 17"/>
          <p:cNvSpPr/>
          <p:nvPr/>
        </p:nvSpPr>
        <p:spPr bwMode="auto">
          <a:xfrm>
            <a:off x="457200" y="6473952"/>
            <a:ext cx="7315200" cy="274320"/>
          </a:xfrm>
          <a:prstGeom prst="rect">
            <a:avLst/>
          </a:prstGeom>
          <a:noFill/>
          <a:ln/>
        </p:spPr>
        <p:txBody>
          <a:bodyPr wrap="square" rtlCol="0" anchor="ctr"/>
          <a:lstStyle/>
          <a:p>
            <a:pPr marL="0" indent="0" algn="l">
              <a:buNone/>
              <a:defRPr/>
            </a:pPr>
            <a:r>
              <a:rPr lang="en-US" sz="900">
                <a:solidFill>
                  <a:srgbClr val="5C6B63"/>
                </a:solidFill>
                <a:latin typeface="Calibri"/>
                <a:ea typeface="Calibri"/>
                <a:cs typeface="Calibri"/>
              </a:rPr>
              <a:t>RAK — Biostatistika untuk Biologi</a:t>
            </a:r>
            <a:endParaRPr lang="en-US" sz="900"/>
          </a:p>
        </p:txBody>
      </p:sp>
      <p:sp>
        <p:nvSpPr>
          <p:cNvPr id="496361709" name="Text 18"/>
          <p:cNvSpPr/>
          <p:nvPr/>
        </p:nvSpPr>
        <p:spPr bwMode="auto">
          <a:xfrm>
            <a:off x="11274552" y="6473952"/>
            <a:ext cx="457200" cy="274320"/>
          </a:xfrm>
          <a:prstGeom prst="rect">
            <a:avLst/>
          </a:prstGeom>
          <a:noFill/>
          <a:ln/>
        </p:spPr>
        <p:txBody>
          <a:bodyPr wrap="square" rtlCol="0" anchor="ctr"/>
          <a:lstStyle/>
          <a:p>
            <a:pPr marL="0" indent="0" algn="r">
              <a:buNone/>
              <a:defRPr/>
            </a:pPr>
            <a:r>
              <a:rPr lang="en-US" sz="900">
                <a:solidFill>
                  <a:srgbClr val="5C6B63"/>
                </a:solidFill>
                <a:latin typeface="Calibri"/>
                <a:ea typeface="Calibri"/>
                <a:cs typeface="Calibri"/>
              </a:rPr>
              <a:t>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7FAF7"/>
        </a:solidFill>
      </p:bgPr>
    </p:bg>
    <p:spTree>
      <p:nvGrpSpPr>
        <p:cNvPr id="1" name=""/>
        <p:cNvGrpSpPr/>
        <p:nvPr/>
      </p:nvGrpSpPr>
      <p:grpSpPr bwMode="auto">
        <a:xfrm>
          <a:off x="0" y="0"/>
          <a:ext cx="0" cy="0"/>
          <a:chOff x="0" y="0"/>
          <a:chExt cx="0" cy="0"/>
        </a:xfrm>
      </p:grpSpPr>
      <p:sp>
        <p:nvSpPr>
          <p:cNvPr id="285180619" name="Text 0"/>
          <p:cNvSpPr/>
          <p:nvPr/>
        </p:nvSpPr>
        <p:spPr bwMode="auto">
          <a:xfrm>
            <a:off x="548640" y="384048"/>
            <a:ext cx="9144000" cy="320040"/>
          </a:xfrm>
          <a:prstGeom prst="rect">
            <a:avLst/>
          </a:prstGeom>
          <a:noFill/>
          <a:ln/>
        </p:spPr>
        <p:txBody>
          <a:bodyPr wrap="square" rtlCol="0" anchor="ctr"/>
          <a:lstStyle/>
          <a:p>
            <a:pPr marL="0" indent="0">
              <a:buNone/>
              <a:defRPr/>
            </a:pPr>
            <a:r>
              <a:rPr lang="en-US" sz="1200" b="1" spc="200">
                <a:solidFill>
                  <a:srgbClr val="2D6A4F"/>
                </a:solidFill>
                <a:latin typeface="Calibri"/>
                <a:ea typeface="Calibri"/>
                <a:cs typeface="Calibri"/>
              </a:rPr>
              <a:t>2.2 · PENDAHULUAN</a:t>
            </a:r>
            <a:endParaRPr lang="en-US" sz="1200"/>
          </a:p>
        </p:txBody>
      </p:sp>
      <p:sp>
        <p:nvSpPr>
          <p:cNvPr id="351186924" name="Text 1"/>
          <p:cNvSpPr/>
          <p:nvPr/>
        </p:nvSpPr>
        <p:spPr bwMode="auto">
          <a:xfrm>
            <a:off x="548640" y="658368"/>
            <a:ext cx="11064240" cy="822960"/>
          </a:xfrm>
          <a:prstGeom prst="rect">
            <a:avLst/>
          </a:prstGeom>
          <a:noFill/>
          <a:ln/>
        </p:spPr>
        <p:txBody>
          <a:bodyPr wrap="square" rtlCol="0" anchor="ctr"/>
          <a:lstStyle/>
          <a:p>
            <a:pPr marL="0" indent="0">
              <a:buNone/>
              <a:defRPr/>
            </a:pPr>
            <a:r>
              <a:rPr lang="en-US" sz="3000" b="1">
                <a:solidFill>
                  <a:srgbClr val="1B4332"/>
                </a:solidFill>
                <a:latin typeface="Cambria"/>
                <a:ea typeface="Cambria"/>
                <a:cs typeface="Cambria"/>
              </a:rPr>
              <a:t>Dari RAL Menuju RAK</a:t>
            </a:r>
            <a:endParaRPr lang="en-US" sz="3000"/>
          </a:p>
        </p:txBody>
      </p:sp>
      <p:sp>
        <p:nvSpPr>
          <p:cNvPr id="539004002" name="Text 2"/>
          <p:cNvSpPr/>
          <p:nvPr/>
        </p:nvSpPr>
        <p:spPr bwMode="auto">
          <a:xfrm>
            <a:off x="548640" y="1691640"/>
            <a:ext cx="11064240" cy="914400"/>
          </a:xfrm>
          <a:prstGeom prst="rect">
            <a:avLst/>
          </a:prstGeom>
          <a:noFill/>
          <a:ln/>
        </p:spPr>
        <p:txBody>
          <a:bodyPr wrap="square" rtlCol="0" anchor="ctr"/>
          <a:lstStyle/>
          <a:p>
            <a:pPr marL="0" indent="0">
              <a:lnSpc>
                <a:spcPct val="130000"/>
              </a:lnSpc>
              <a:buNone/>
              <a:defRPr/>
            </a:pPr>
            <a:r>
              <a:rPr lang="en-US" sz="1400">
                <a:solidFill>
                  <a:srgbClr val="1B2A22"/>
                </a:solidFill>
                <a:latin typeface="Calibri"/>
                <a:ea typeface="Calibri"/>
                <a:cs typeface="Calibri"/>
              </a:rPr>
              <a:t>Pada RAL, unit percobaan diasumsikan homogen. Namun, dalam banyak percobaan biologi, unit percobaan sering memiliki sumber keragaman lain yang diketahui — misalnya perbedaan lokasi petak, waktu tanam, atau kondisi lingkungan mikro.</a:t>
            </a:r>
            <a:endParaRPr lang="en-US" sz="1400"/>
          </a:p>
        </p:txBody>
      </p:sp>
      <p:sp>
        <p:nvSpPr>
          <p:cNvPr id="620249796" name="Text 3"/>
          <p:cNvSpPr/>
          <p:nvPr/>
        </p:nvSpPr>
        <p:spPr bwMode="auto">
          <a:xfrm>
            <a:off x="548640" y="2514600"/>
            <a:ext cx="11064240" cy="822960"/>
          </a:xfrm>
          <a:prstGeom prst="rect">
            <a:avLst/>
          </a:prstGeom>
          <a:noFill/>
          <a:ln/>
        </p:spPr>
        <p:txBody>
          <a:bodyPr wrap="square" rtlCol="0" anchor="ctr"/>
          <a:lstStyle/>
          <a:p>
            <a:pPr marL="0" indent="0">
              <a:lnSpc>
                <a:spcPct val="130000"/>
              </a:lnSpc>
              <a:buNone/>
              <a:defRPr/>
            </a:pPr>
            <a:r>
              <a:rPr lang="en-US" sz="1400" b="1">
                <a:solidFill>
                  <a:srgbClr val="1B4332"/>
                </a:solidFill>
                <a:latin typeface="Calibri"/>
                <a:ea typeface="Calibri"/>
                <a:cs typeface="Calibri"/>
              </a:rPr>
              <a:t>Rancangan Acak Kelompok (RAK / RCBD) </a:t>
            </a:r>
            <a:r>
              <a:rPr lang="en-US" sz="1400">
                <a:solidFill>
                  <a:srgbClr val="1B2A22"/>
                </a:solidFill>
                <a:latin typeface="Calibri"/>
                <a:ea typeface="Calibri"/>
                <a:cs typeface="Calibri"/>
              </a:rPr>
              <a:t>mengatasi hal ini dengan mengelompokkan unit percobaan yang relatif seragam ke dalam blok, lalu mengacak perlakuan di dalam tiap blok (Gomez &amp; Gomez, 1984).</a:t>
            </a:r>
            <a:endParaRPr lang="en-US" sz="1400"/>
          </a:p>
        </p:txBody>
      </p:sp>
      <p:sp>
        <p:nvSpPr>
          <p:cNvPr id="1116171511" name="Shape 4"/>
          <p:cNvSpPr/>
          <p:nvPr/>
        </p:nvSpPr>
        <p:spPr bwMode="auto">
          <a:xfrm>
            <a:off x="548640" y="3520440"/>
            <a:ext cx="5349240" cy="1874520"/>
          </a:xfrm>
          <a:prstGeom prst="roundRect">
            <a:avLst>
              <a:gd name="adj" fmla="val 4878"/>
            </a:avLst>
          </a:prstGeom>
          <a:solidFill>
            <a:srgbClr val="FFFFFF"/>
          </a:solidFill>
          <a:ln w="12700">
            <a:solidFill>
              <a:srgbClr val="DDEEE3"/>
            </a:solidFill>
            <a:prstDash val="solid"/>
          </a:ln>
        </p:spPr>
      </p:sp>
      <p:sp>
        <p:nvSpPr>
          <p:cNvPr id="1327003348" name="Text 5"/>
          <p:cNvSpPr/>
          <p:nvPr/>
        </p:nvSpPr>
        <p:spPr bwMode="auto">
          <a:xfrm>
            <a:off x="822960" y="3703320"/>
            <a:ext cx="3657600" cy="365760"/>
          </a:xfrm>
          <a:prstGeom prst="rect">
            <a:avLst/>
          </a:prstGeom>
          <a:noFill/>
          <a:ln/>
        </p:spPr>
        <p:txBody>
          <a:bodyPr wrap="square" rtlCol="0" anchor="ctr"/>
          <a:lstStyle/>
          <a:p>
            <a:pPr marL="0" indent="0">
              <a:buNone/>
              <a:defRPr/>
            </a:pPr>
            <a:r>
              <a:rPr lang="en-US" sz="1600" b="1">
                <a:solidFill>
                  <a:srgbClr val="5C6B63"/>
                </a:solidFill>
                <a:latin typeface="Cambria"/>
                <a:ea typeface="Cambria"/>
                <a:cs typeface="Cambria"/>
              </a:rPr>
              <a:t>RAL</a:t>
            </a:r>
            <a:endParaRPr lang="en-US" sz="1600"/>
          </a:p>
        </p:txBody>
      </p:sp>
      <p:sp>
        <p:nvSpPr>
          <p:cNvPr id="967355890" name="Text 6"/>
          <p:cNvSpPr/>
          <p:nvPr/>
        </p:nvSpPr>
        <p:spPr bwMode="auto">
          <a:xfrm>
            <a:off x="822960" y="4114800"/>
            <a:ext cx="4800600" cy="1097280"/>
          </a:xfrm>
          <a:prstGeom prst="rect">
            <a:avLst/>
          </a:prstGeom>
          <a:noFill/>
          <a:ln/>
        </p:spPr>
        <p:txBody>
          <a:bodyPr wrap="square" rtlCol="0" anchor="ctr"/>
          <a:lstStyle/>
          <a:p>
            <a:pPr marL="0" indent="0">
              <a:lnSpc>
                <a:spcPct val="135000"/>
              </a:lnSpc>
              <a:buNone/>
              <a:defRPr/>
            </a:pPr>
            <a:r>
              <a:rPr lang="en-US" sz="1250">
                <a:solidFill>
                  <a:srgbClr val="1B2A22"/>
                </a:solidFill>
                <a:latin typeface="Calibri"/>
                <a:ea typeface="Calibri"/>
                <a:cs typeface="Calibri"/>
              </a:rPr>
              <a:t>Unit percobaan homogen → 1 sumber keragaman: perlakuan.</a:t>
            </a:r>
            <a:endParaRPr lang="en-US" sz="1250"/>
          </a:p>
          <a:p>
            <a:pPr marL="0" indent="0">
              <a:lnSpc>
                <a:spcPct val="135000"/>
              </a:lnSpc>
              <a:buNone/>
              <a:defRPr/>
            </a:pPr>
            <a:r>
              <a:rPr lang="en-US" sz="1250">
                <a:solidFill>
                  <a:srgbClr val="1B2A22"/>
                </a:solidFill>
                <a:latin typeface="Calibri"/>
                <a:ea typeface="Calibri"/>
                <a:cs typeface="Calibri"/>
              </a:rPr>
              <a:t>Model: Yᵢⱼ = μ + τᵢ + εᵢⱼ</a:t>
            </a:r>
            <a:endParaRPr lang="en-US" sz="1250"/>
          </a:p>
        </p:txBody>
      </p:sp>
      <p:sp>
        <p:nvSpPr>
          <p:cNvPr id="1968663008" name="Shape 7"/>
          <p:cNvSpPr/>
          <p:nvPr/>
        </p:nvSpPr>
        <p:spPr bwMode="auto">
          <a:xfrm>
            <a:off x="6291072" y="3520440"/>
            <a:ext cx="5349240" cy="1874520"/>
          </a:xfrm>
          <a:prstGeom prst="roundRect">
            <a:avLst>
              <a:gd name="adj" fmla="val 4878"/>
            </a:avLst>
          </a:prstGeom>
          <a:solidFill>
            <a:srgbClr val="1B4332"/>
          </a:solidFill>
          <a:ln/>
        </p:spPr>
      </p:sp>
      <p:sp>
        <p:nvSpPr>
          <p:cNvPr id="2048004539" name="Text 8"/>
          <p:cNvSpPr/>
          <p:nvPr/>
        </p:nvSpPr>
        <p:spPr bwMode="auto">
          <a:xfrm>
            <a:off x="6565392" y="3703320"/>
            <a:ext cx="3657600" cy="365760"/>
          </a:xfrm>
          <a:prstGeom prst="rect">
            <a:avLst/>
          </a:prstGeom>
          <a:noFill/>
          <a:ln/>
        </p:spPr>
        <p:txBody>
          <a:bodyPr wrap="square" rtlCol="0" anchor="ctr"/>
          <a:lstStyle/>
          <a:p>
            <a:pPr marL="0" indent="0">
              <a:buNone/>
              <a:defRPr/>
            </a:pPr>
            <a:r>
              <a:rPr lang="en-US" sz="1600" b="1">
                <a:solidFill>
                  <a:srgbClr val="74C69D"/>
                </a:solidFill>
                <a:latin typeface="Cambria"/>
                <a:ea typeface="Cambria"/>
                <a:cs typeface="Cambria"/>
              </a:rPr>
              <a:t>RAK</a:t>
            </a:r>
            <a:endParaRPr lang="en-US" sz="1600"/>
          </a:p>
        </p:txBody>
      </p:sp>
      <p:sp>
        <p:nvSpPr>
          <p:cNvPr id="1092333760" name="Text 9"/>
          <p:cNvSpPr/>
          <p:nvPr/>
        </p:nvSpPr>
        <p:spPr bwMode="auto">
          <a:xfrm>
            <a:off x="6565392" y="4114800"/>
            <a:ext cx="4800600" cy="1097280"/>
          </a:xfrm>
          <a:prstGeom prst="rect">
            <a:avLst/>
          </a:prstGeom>
          <a:noFill/>
          <a:ln/>
        </p:spPr>
        <p:txBody>
          <a:bodyPr wrap="square" rtlCol="0" anchor="ctr"/>
          <a:lstStyle/>
          <a:p>
            <a:pPr marL="0" indent="0">
              <a:lnSpc>
                <a:spcPct val="135000"/>
              </a:lnSpc>
              <a:buNone/>
              <a:defRPr/>
            </a:pPr>
            <a:r>
              <a:rPr lang="en-US" sz="1250">
                <a:solidFill>
                  <a:srgbClr val="E4F1E9"/>
                </a:solidFill>
                <a:latin typeface="Calibri"/>
                <a:ea typeface="Calibri"/>
                <a:cs typeface="Calibri"/>
              </a:rPr>
              <a:t>Unit percobaan berblok → 2 sumber keragaman: perlakuan + blok.</a:t>
            </a:r>
            <a:endParaRPr lang="en-US" sz="1250"/>
          </a:p>
          <a:p>
            <a:pPr marL="0" indent="0">
              <a:lnSpc>
                <a:spcPct val="135000"/>
              </a:lnSpc>
              <a:buNone/>
              <a:defRPr/>
            </a:pPr>
            <a:r>
              <a:rPr lang="en-US" sz="1250">
                <a:solidFill>
                  <a:srgbClr val="E4F1E9"/>
                </a:solidFill>
                <a:latin typeface="Calibri"/>
                <a:ea typeface="Calibri"/>
                <a:cs typeface="Calibri"/>
              </a:rPr>
              <a:t>Model: Yᵢⱼ = μ + τᵢ + βⱼ + εᵢⱼ</a:t>
            </a:r>
            <a:endParaRPr lang="en-US" sz="1250"/>
          </a:p>
        </p:txBody>
      </p:sp>
      <p:sp>
        <p:nvSpPr>
          <p:cNvPr id="1972445453" name="Text 10"/>
          <p:cNvSpPr/>
          <p:nvPr/>
        </p:nvSpPr>
        <p:spPr bwMode="auto">
          <a:xfrm>
            <a:off x="548640" y="5623560"/>
            <a:ext cx="11064240" cy="548640"/>
          </a:xfrm>
          <a:prstGeom prst="rect">
            <a:avLst/>
          </a:prstGeom>
          <a:noFill/>
          <a:ln/>
        </p:spPr>
        <p:txBody>
          <a:bodyPr wrap="square" rtlCol="0" anchor="ctr"/>
          <a:lstStyle/>
          <a:p>
            <a:pPr marL="0" indent="0">
              <a:buNone/>
              <a:defRPr/>
            </a:pPr>
            <a:r>
              <a:rPr lang="en-US" sz="1250" i="1">
                <a:solidFill>
                  <a:srgbClr val="5C6B63"/>
                </a:solidFill>
                <a:latin typeface="Calibri"/>
                <a:ea typeface="Calibri"/>
                <a:cs typeface="Calibri"/>
              </a:rPr>
              <a:t>Dengan memasukkan blok ke dalam model, keragaman akibat blok dipisahkan dari galat — uji terhadap perlakuan menjadi lebih sensitif (Montgomery, 2017).</a:t>
            </a:r>
            <a:endParaRPr lang="en-US" sz="1250"/>
          </a:p>
        </p:txBody>
      </p:sp>
      <p:sp>
        <p:nvSpPr>
          <p:cNvPr id="967170612" name="Text 11"/>
          <p:cNvSpPr/>
          <p:nvPr/>
        </p:nvSpPr>
        <p:spPr bwMode="auto">
          <a:xfrm>
            <a:off x="457200" y="6473952"/>
            <a:ext cx="7315200" cy="274320"/>
          </a:xfrm>
          <a:prstGeom prst="rect">
            <a:avLst/>
          </a:prstGeom>
          <a:noFill/>
          <a:ln/>
        </p:spPr>
        <p:txBody>
          <a:bodyPr wrap="square" rtlCol="0" anchor="ctr"/>
          <a:lstStyle/>
          <a:p>
            <a:pPr marL="0" indent="0" algn="l">
              <a:buNone/>
              <a:defRPr/>
            </a:pPr>
            <a:r>
              <a:rPr lang="en-US" sz="900">
                <a:solidFill>
                  <a:srgbClr val="5C6B63"/>
                </a:solidFill>
                <a:latin typeface="Calibri"/>
                <a:ea typeface="Calibri"/>
                <a:cs typeface="Calibri"/>
              </a:rPr>
              <a:t>RAK — Biostatistika untuk Biologi</a:t>
            </a:r>
            <a:endParaRPr lang="en-US" sz="900"/>
          </a:p>
        </p:txBody>
      </p:sp>
      <p:sp>
        <p:nvSpPr>
          <p:cNvPr id="129151438" name="Text 12"/>
          <p:cNvSpPr/>
          <p:nvPr/>
        </p:nvSpPr>
        <p:spPr bwMode="auto">
          <a:xfrm>
            <a:off x="11274552" y="6473952"/>
            <a:ext cx="457200" cy="274320"/>
          </a:xfrm>
          <a:prstGeom prst="rect">
            <a:avLst/>
          </a:prstGeom>
          <a:noFill/>
          <a:ln/>
        </p:spPr>
        <p:txBody>
          <a:bodyPr wrap="square" rtlCol="0" anchor="ctr"/>
          <a:lstStyle/>
          <a:p>
            <a:pPr marL="0" indent="0" algn="r">
              <a:buNone/>
              <a:defRPr/>
            </a:pPr>
            <a:r>
              <a:rPr lang="en-US" sz="900">
                <a:solidFill>
                  <a:srgbClr val="5C6B63"/>
                </a:solidFill>
                <a:latin typeface="Calibri"/>
                <a:ea typeface="Calibri"/>
                <a:cs typeface="Calibri"/>
              </a:rPr>
              <a:t>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1B4332"/>
        </a:solidFill>
      </p:bgPr>
    </p:bg>
    <p:spTree>
      <p:nvGrpSpPr>
        <p:cNvPr id="1" name=""/>
        <p:cNvGrpSpPr/>
        <p:nvPr/>
      </p:nvGrpSpPr>
      <p:grpSpPr bwMode="auto">
        <a:xfrm>
          <a:off x="0" y="0"/>
          <a:ext cx="0" cy="0"/>
          <a:chOff x="0" y="0"/>
          <a:chExt cx="0" cy="0"/>
        </a:xfrm>
      </p:grpSpPr>
      <p:sp>
        <p:nvSpPr>
          <p:cNvPr id="1577996733" name="Shape 0"/>
          <p:cNvSpPr/>
          <p:nvPr/>
        </p:nvSpPr>
        <p:spPr bwMode="auto">
          <a:xfrm>
            <a:off x="-2011680" y="4114800"/>
            <a:ext cx="5486400" cy="5486400"/>
          </a:xfrm>
          <a:prstGeom prst="ellipse">
            <a:avLst/>
          </a:prstGeom>
          <a:solidFill>
            <a:srgbClr val="2D6A4F">
              <a:alpha val="40000"/>
            </a:srgbClr>
          </a:solidFill>
          <a:ln/>
        </p:spPr>
      </p:sp>
      <p:sp>
        <p:nvSpPr>
          <p:cNvPr id="1736234332" name="Text 1"/>
          <p:cNvSpPr/>
          <p:nvPr/>
        </p:nvSpPr>
        <p:spPr bwMode="auto">
          <a:xfrm>
            <a:off x="640080" y="548640"/>
            <a:ext cx="5486400" cy="365760"/>
          </a:xfrm>
          <a:prstGeom prst="rect">
            <a:avLst/>
          </a:prstGeom>
          <a:noFill/>
          <a:ln/>
        </p:spPr>
        <p:txBody>
          <a:bodyPr wrap="square" rtlCol="0" anchor="ctr"/>
          <a:lstStyle/>
          <a:p>
            <a:pPr marL="0" indent="0">
              <a:buNone/>
              <a:defRPr/>
            </a:pPr>
            <a:r>
              <a:rPr lang="en-US" sz="1300" b="1" spc="200">
                <a:solidFill>
                  <a:srgbClr val="74C69D"/>
                </a:solidFill>
                <a:latin typeface="Calibri"/>
                <a:ea typeface="Calibri"/>
                <a:cs typeface="Calibri"/>
              </a:rPr>
              <a:t>KONSEP KUNCI</a:t>
            </a:r>
            <a:endParaRPr lang="en-US" sz="1300"/>
          </a:p>
        </p:txBody>
      </p:sp>
      <p:sp>
        <p:nvSpPr>
          <p:cNvPr id="539470462" name="Text 2"/>
          <p:cNvSpPr/>
          <p:nvPr/>
        </p:nvSpPr>
        <p:spPr bwMode="auto">
          <a:xfrm>
            <a:off x="640080" y="914400"/>
            <a:ext cx="10515600" cy="731520"/>
          </a:xfrm>
          <a:prstGeom prst="rect">
            <a:avLst/>
          </a:prstGeom>
          <a:noFill/>
          <a:ln/>
        </p:spPr>
        <p:txBody>
          <a:bodyPr wrap="square" rtlCol="0" anchor="ctr"/>
          <a:lstStyle/>
          <a:p>
            <a:pPr marL="0" indent="0">
              <a:buNone/>
              <a:defRPr/>
            </a:pPr>
            <a:r>
              <a:rPr lang="en-US" sz="3000" b="1">
                <a:solidFill>
                  <a:srgbClr val="FFFFFF"/>
                </a:solidFill>
                <a:latin typeface="Cambria"/>
                <a:ea typeface="Cambria"/>
                <a:cs typeface="Cambria"/>
              </a:rPr>
              <a:t>Kapan Blocking Diperlukan?</a:t>
            </a:r>
            <a:endParaRPr lang="en-US" sz="3000"/>
          </a:p>
        </p:txBody>
      </p:sp>
      <p:sp>
        <p:nvSpPr>
          <p:cNvPr id="514471673" name="Text 3"/>
          <p:cNvSpPr/>
          <p:nvPr/>
        </p:nvSpPr>
        <p:spPr bwMode="auto">
          <a:xfrm>
            <a:off x="640080" y="1874520"/>
            <a:ext cx="10515600" cy="777240"/>
          </a:xfrm>
          <a:prstGeom prst="rect">
            <a:avLst/>
          </a:prstGeom>
          <a:noFill/>
          <a:ln/>
        </p:spPr>
        <p:txBody>
          <a:bodyPr wrap="square" rtlCol="0" anchor="ctr"/>
          <a:lstStyle/>
          <a:p>
            <a:pPr marL="0" indent="0">
              <a:lnSpc>
                <a:spcPct val="130000"/>
              </a:lnSpc>
              <a:buNone/>
              <a:defRPr/>
            </a:pPr>
            <a:r>
              <a:rPr lang="en-US" sz="1500">
                <a:solidFill>
                  <a:srgbClr val="E4F1E9"/>
                </a:solidFill>
                <a:latin typeface="Calibri"/>
                <a:ea typeface="Calibri"/>
                <a:cs typeface="Calibri"/>
              </a:rPr>
              <a:t>Sebagai aturan praktis, pengelompokan (</a:t>
            </a:r>
            <a:r>
              <a:rPr lang="en-US" sz="1500" i="1">
                <a:solidFill>
                  <a:srgbClr val="E4F1E9"/>
                </a:solidFill>
                <a:latin typeface="Calibri"/>
                <a:ea typeface="Calibri"/>
                <a:cs typeface="Calibri"/>
              </a:rPr>
              <a:t>blocking</a:t>
            </a:r>
            <a:r>
              <a:rPr lang="en-US" sz="1500">
                <a:solidFill>
                  <a:srgbClr val="E4F1E9"/>
                </a:solidFill>
                <a:latin typeface="Calibri"/>
                <a:ea typeface="Calibri"/>
                <a:cs typeface="Calibri"/>
              </a:rPr>
              <a:t>) layak dipertimbangkan setiap kali unit percobaan memiliki sumber keragaman yang diketahui dan dapat diidentifikasi SEBELUM percobaan dimulai.</a:t>
            </a:r>
            <a:endParaRPr lang="en-US" sz="1500"/>
          </a:p>
        </p:txBody>
      </p:sp>
      <p:sp>
        <p:nvSpPr>
          <p:cNvPr id="282185576" name="Shape 4"/>
          <p:cNvSpPr/>
          <p:nvPr/>
        </p:nvSpPr>
        <p:spPr bwMode="auto">
          <a:xfrm>
            <a:off x="640080" y="2880360"/>
            <a:ext cx="5212080" cy="1417320"/>
          </a:xfrm>
          <a:prstGeom prst="roundRect">
            <a:avLst>
              <a:gd name="adj" fmla="val 6452"/>
            </a:avLst>
          </a:prstGeom>
          <a:solidFill>
            <a:srgbClr val="2D6A4F"/>
          </a:solidFill>
          <a:ln/>
        </p:spPr>
      </p:sp>
      <p:sp>
        <p:nvSpPr>
          <p:cNvPr id="251445543" name="Shape 5"/>
          <p:cNvSpPr/>
          <p:nvPr/>
        </p:nvSpPr>
        <p:spPr bwMode="auto">
          <a:xfrm>
            <a:off x="914400" y="3264408"/>
            <a:ext cx="640080" cy="640080"/>
          </a:xfrm>
          <a:prstGeom prst="ellipse">
            <a:avLst/>
          </a:prstGeom>
          <a:solidFill>
            <a:srgbClr val="163A2C"/>
          </a:solidFill>
          <a:ln/>
        </p:spPr>
      </p:sp>
      <p:pic>
        <p:nvPicPr>
          <p:cNvPr id="371544478" name="Image 0" descr="sun.png"/>
          <p:cNvPicPr>
            <a:picLocks noChangeAspect="1"/>
          </p:cNvPicPr>
          <p:nvPr/>
        </p:nvPicPr>
        <p:blipFill rotWithShape="1">
          <a:blip r:embed="rId3"/>
          <a:stretch/>
        </p:blipFill>
        <p:spPr bwMode="auto">
          <a:xfrm>
            <a:off x="997610" y="3347618"/>
            <a:ext cx="473659" cy="473659"/>
          </a:xfrm>
          <a:prstGeom prst="rect">
            <a:avLst/>
          </a:prstGeom>
        </p:spPr>
      </p:pic>
      <p:sp>
        <p:nvSpPr>
          <p:cNvPr id="1323993450" name="Text 6"/>
          <p:cNvSpPr/>
          <p:nvPr/>
        </p:nvSpPr>
        <p:spPr bwMode="auto">
          <a:xfrm>
            <a:off x="1783080" y="3063240"/>
            <a:ext cx="3840480" cy="1051560"/>
          </a:xfrm>
          <a:prstGeom prst="rect">
            <a:avLst/>
          </a:prstGeom>
          <a:noFill/>
          <a:ln/>
        </p:spPr>
        <p:txBody>
          <a:bodyPr wrap="square" rtlCol="0" anchor="ctr"/>
          <a:lstStyle/>
          <a:p>
            <a:pPr marL="0" indent="0">
              <a:lnSpc>
                <a:spcPct val="125000"/>
              </a:lnSpc>
              <a:buNone/>
              <a:defRPr/>
            </a:pPr>
            <a:r>
              <a:rPr lang="en-US" sz="1300">
                <a:solidFill>
                  <a:srgbClr val="FFFFFF"/>
                </a:solidFill>
                <a:latin typeface="Calibri"/>
                <a:ea typeface="Calibri"/>
                <a:cs typeface="Calibri"/>
              </a:rPr>
              <a:t>Baris pada rumah kaca yang menerima intensitas cahaya berbeda</a:t>
            </a:r>
            <a:endParaRPr lang="en-US" sz="1300"/>
          </a:p>
        </p:txBody>
      </p:sp>
      <p:sp>
        <p:nvSpPr>
          <p:cNvPr id="90429048" name="Shape 7"/>
          <p:cNvSpPr/>
          <p:nvPr/>
        </p:nvSpPr>
        <p:spPr bwMode="auto">
          <a:xfrm>
            <a:off x="6309360" y="2880360"/>
            <a:ext cx="5212080" cy="1417320"/>
          </a:xfrm>
          <a:prstGeom prst="roundRect">
            <a:avLst>
              <a:gd name="adj" fmla="val 6452"/>
            </a:avLst>
          </a:prstGeom>
          <a:solidFill>
            <a:srgbClr val="2D6A4F"/>
          </a:solidFill>
          <a:ln/>
        </p:spPr>
      </p:sp>
      <p:sp>
        <p:nvSpPr>
          <p:cNvPr id="578340313" name="Shape 8"/>
          <p:cNvSpPr/>
          <p:nvPr/>
        </p:nvSpPr>
        <p:spPr bwMode="auto">
          <a:xfrm>
            <a:off x="6583680" y="3264408"/>
            <a:ext cx="640080" cy="640080"/>
          </a:xfrm>
          <a:prstGeom prst="ellipse">
            <a:avLst/>
          </a:prstGeom>
          <a:solidFill>
            <a:srgbClr val="163A2C"/>
          </a:solidFill>
          <a:ln/>
        </p:spPr>
      </p:sp>
      <p:pic>
        <p:nvPicPr>
          <p:cNvPr id="1865455587" name="Image 1" descr="layers.png"/>
          <p:cNvPicPr>
            <a:picLocks noChangeAspect="1"/>
          </p:cNvPicPr>
          <p:nvPr/>
        </p:nvPicPr>
        <p:blipFill rotWithShape="1">
          <a:blip r:embed="rId4"/>
          <a:stretch/>
        </p:blipFill>
        <p:spPr bwMode="auto">
          <a:xfrm>
            <a:off x="6666890" y="3347618"/>
            <a:ext cx="473659" cy="473659"/>
          </a:xfrm>
          <a:prstGeom prst="rect">
            <a:avLst/>
          </a:prstGeom>
        </p:spPr>
      </p:pic>
      <p:sp>
        <p:nvSpPr>
          <p:cNvPr id="2040932131" name="Text 9"/>
          <p:cNvSpPr/>
          <p:nvPr/>
        </p:nvSpPr>
        <p:spPr bwMode="auto">
          <a:xfrm>
            <a:off x="7452360" y="3063240"/>
            <a:ext cx="3840480" cy="1051560"/>
          </a:xfrm>
          <a:prstGeom prst="rect">
            <a:avLst/>
          </a:prstGeom>
          <a:noFill/>
          <a:ln/>
        </p:spPr>
        <p:txBody>
          <a:bodyPr wrap="square" rtlCol="0" anchor="ctr"/>
          <a:lstStyle/>
          <a:p>
            <a:pPr marL="0" indent="0">
              <a:lnSpc>
                <a:spcPct val="125000"/>
              </a:lnSpc>
              <a:buNone/>
              <a:defRPr/>
            </a:pPr>
            <a:r>
              <a:rPr lang="en-US" sz="1300">
                <a:solidFill>
                  <a:srgbClr val="FFFFFF"/>
                </a:solidFill>
                <a:latin typeface="Calibri"/>
                <a:ea typeface="Calibri"/>
                <a:cs typeface="Calibri"/>
              </a:rPr>
              <a:t>Ulangan percobaan yang dilakukan pada waktu berbeda</a:t>
            </a:r>
            <a:endParaRPr lang="en-US" sz="1300"/>
          </a:p>
        </p:txBody>
      </p:sp>
      <p:sp>
        <p:nvSpPr>
          <p:cNvPr id="743927932" name="Text 10"/>
          <p:cNvSpPr/>
          <p:nvPr/>
        </p:nvSpPr>
        <p:spPr bwMode="auto">
          <a:xfrm>
            <a:off x="640080" y="4617720"/>
            <a:ext cx="10515600" cy="640080"/>
          </a:xfrm>
          <a:prstGeom prst="rect">
            <a:avLst/>
          </a:prstGeom>
          <a:noFill/>
          <a:ln/>
        </p:spPr>
        <p:txBody>
          <a:bodyPr wrap="square" rtlCol="0" anchor="ctr"/>
          <a:lstStyle/>
          <a:p>
            <a:pPr marL="0" indent="0">
              <a:lnSpc>
                <a:spcPct val="130000"/>
              </a:lnSpc>
              <a:buNone/>
              <a:defRPr/>
            </a:pPr>
            <a:r>
              <a:rPr lang="en-US" sz="1400" i="1">
                <a:solidFill>
                  <a:srgbClr val="74C69D"/>
                </a:solidFill>
                <a:latin typeface="Calibri"/>
                <a:ea typeface="Calibri"/>
                <a:cs typeface="Calibri"/>
              </a:rPr>
              <a:t>Jika sumber keragaman tersebut diabaikan, ia akan “tersembunyi” di dalam galat percobaan, membuat uji terhadap perlakuan menjadi kurang peka.</a:t>
            </a:r>
            <a:endParaRPr lang="en-US" sz="1400"/>
          </a:p>
        </p:txBody>
      </p:sp>
      <p:sp>
        <p:nvSpPr>
          <p:cNvPr id="1938790363" name="Text 11"/>
          <p:cNvSpPr/>
          <p:nvPr/>
        </p:nvSpPr>
        <p:spPr bwMode="auto">
          <a:xfrm>
            <a:off x="457200" y="6473952"/>
            <a:ext cx="7315200" cy="274320"/>
          </a:xfrm>
          <a:prstGeom prst="rect">
            <a:avLst/>
          </a:prstGeom>
          <a:noFill/>
          <a:ln/>
        </p:spPr>
        <p:txBody>
          <a:bodyPr wrap="square" rtlCol="0" anchor="ctr"/>
          <a:lstStyle/>
          <a:p>
            <a:pPr marL="0" indent="0" algn="l">
              <a:buNone/>
              <a:defRPr/>
            </a:pPr>
            <a:r>
              <a:rPr lang="en-US" sz="900">
                <a:solidFill>
                  <a:srgbClr val="B7CFC2"/>
                </a:solidFill>
                <a:latin typeface="Calibri"/>
                <a:ea typeface="Calibri"/>
                <a:cs typeface="Calibri"/>
              </a:rPr>
              <a:t>RAK — Biostatistika untuk Biologi</a:t>
            </a:r>
            <a:endParaRPr lang="en-US" sz="900"/>
          </a:p>
        </p:txBody>
      </p:sp>
      <p:sp>
        <p:nvSpPr>
          <p:cNvPr id="440845018" name="Text 12"/>
          <p:cNvSpPr/>
          <p:nvPr/>
        </p:nvSpPr>
        <p:spPr bwMode="auto">
          <a:xfrm>
            <a:off x="11274552" y="6473952"/>
            <a:ext cx="457200" cy="274320"/>
          </a:xfrm>
          <a:prstGeom prst="rect">
            <a:avLst/>
          </a:prstGeom>
          <a:noFill/>
          <a:ln/>
        </p:spPr>
        <p:txBody>
          <a:bodyPr wrap="square" rtlCol="0" anchor="ctr"/>
          <a:lstStyle/>
          <a:p>
            <a:pPr marL="0" indent="0" algn="r">
              <a:buNone/>
              <a:defRPr/>
            </a:pPr>
            <a:r>
              <a:rPr lang="en-US" sz="900">
                <a:solidFill>
                  <a:srgbClr val="B7CFC2"/>
                </a:solidFill>
                <a:latin typeface="Calibri"/>
                <a:ea typeface="Calibri"/>
                <a:cs typeface="Calibri"/>
              </a:rPr>
              <a:t>4</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7FAF7"/>
        </a:solidFill>
      </p:bgPr>
    </p:bg>
    <p:spTree>
      <p:nvGrpSpPr>
        <p:cNvPr id="1" name=""/>
        <p:cNvGrpSpPr/>
        <p:nvPr/>
      </p:nvGrpSpPr>
      <p:grpSpPr bwMode="auto">
        <a:xfrm>
          <a:off x="0" y="0"/>
          <a:ext cx="0" cy="0"/>
          <a:chOff x="0" y="0"/>
          <a:chExt cx="0" cy="0"/>
        </a:xfrm>
      </p:grpSpPr>
      <p:sp>
        <p:nvSpPr>
          <p:cNvPr id="2114998506" name="Text 0"/>
          <p:cNvSpPr/>
          <p:nvPr/>
        </p:nvSpPr>
        <p:spPr bwMode="auto">
          <a:xfrm>
            <a:off x="548640" y="384048"/>
            <a:ext cx="9144000" cy="320040"/>
          </a:xfrm>
          <a:prstGeom prst="rect">
            <a:avLst/>
          </a:prstGeom>
          <a:noFill/>
          <a:ln/>
        </p:spPr>
        <p:txBody>
          <a:bodyPr wrap="square" rtlCol="0" anchor="ctr"/>
          <a:lstStyle/>
          <a:p>
            <a:pPr marL="0" indent="0">
              <a:buNone/>
              <a:defRPr/>
            </a:pPr>
            <a:r>
              <a:rPr lang="en-US" sz="1200" b="1" spc="200">
                <a:solidFill>
                  <a:srgbClr val="2D6A4F"/>
                </a:solidFill>
                <a:latin typeface="Calibri"/>
                <a:ea typeface="Calibri"/>
                <a:cs typeface="Calibri"/>
              </a:rPr>
              <a:t>2.3 · DASAR TEORI</a:t>
            </a:r>
            <a:endParaRPr lang="en-US" sz="1200"/>
          </a:p>
        </p:txBody>
      </p:sp>
      <p:sp>
        <p:nvSpPr>
          <p:cNvPr id="584134431" name="Text 1"/>
          <p:cNvSpPr/>
          <p:nvPr/>
        </p:nvSpPr>
        <p:spPr bwMode="auto">
          <a:xfrm>
            <a:off x="548640" y="658368"/>
            <a:ext cx="11064240" cy="822960"/>
          </a:xfrm>
          <a:prstGeom prst="rect">
            <a:avLst/>
          </a:prstGeom>
          <a:noFill/>
          <a:ln/>
        </p:spPr>
        <p:txBody>
          <a:bodyPr wrap="square" rtlCol="0" anchor="ctr"/>
          <a:lstStyle/>
          <a:p>
            <a:pPr marL="0" indent="0">
              <a:buNone/>
              <a:defRPr/>
            </a:pPr>
            <a:r>
              <a:rPr lang="en-US" sz="3000" b="1">
                <a:solidFill>
                  <a:srgbClr val="1B4332"/>
                </a:solidFill>
                <a:latin typeface="Cambria"/>
                <a:ea typeface="Cambria"/>
                <a:cs typeface="Cambria"/>
              </a:rPr>
              <a:t>Model Linear Aditif RAK</a:t>
            </a:r>
            <a:endParaRPr lang="en-US" sz="3000"/>
          </a:p>
        </p:txBody>
      </p:sp>
      <p:sp>
        <p:nvSpPr>
          <p:cNvPr id="1403723908" name="Shape 2"/>
          <p:cNvSpPr/>
          <p:nvPr/>
        </p:nvSpPr>
        <p:spPr bwMode="auto">
          <a:xfrm>
            <a:off x="548640" y="1737360"/>
            <a:ext cx="11064240" cy="1143000"/>
          </a:xfrm>
          <a:prstGeom prst="roundRect">
            <a:avLst>
              <a:gd name="adj" fmla="val 6400"/>
            </a:avLst>
          </a:prstGeom>
          <a:solidFill>
            <a:srgbClr val="1B4332"/>
          </a:solidFill>
          <a:ln/>
        </p:spPr>
      </p:sp>
      <p:sp>
        <p:nvSpPr>
          <p:cNvPr id="1618710559" name="Text 3"/>
          <p:cNvSpPr/>
          <p:nvPr/>
        </p:nvSpPr>
        <p:spPr bwMode="auto">
          <a:xfrm>
            <a:off x="822960" y="1737360"/>
            <a:ext cx="6583680" cy="1143000"/>
          </a:xfrm>
          <a:prstGeom prst="rect">
            <a:avLst/>
          </a:prstGeom>
          <a:noFill/>
          <a:ln/>
        </p:spPr>
        <p:txBody>
          <a:bodyPr wrap="square" rtlCol="0" anchor="ctr"/>
          <a:lstStyle/>
          <a:p>
            <a:pPr marL="0" indent="0">
              <a:buNone/>
              <a:defRPr/>
            </a:pPr>
            <a:r>
              <a:rPr lang="en-US" sz="3000" b="1" i="1">
                <a:solidFill>
                  <a:srgbClr val="FFFFFF"/>
                </a:solidFill>
                <a:latin typeface="Cambria"/>
                <a:ea typeface="Cambria"/>
                <a:cs typeface="Cambria"/>
              </a:rPr>
              <a:t>Y</a:t>
            </a:r>
            <a:r>
              <a:rPr lang="en-US" sz="3000" b="1" i="1" baseline="-25000">
                <a:solidFill>
                  <a:srgbClr val="FFFFFF"/>
                </a:solidFill>
                <a:latin typeface="Cambria"/>
                <a:ea typeface="Cambria"/>
                <a:cs typeface="Cambria"/>
              </a:rPr>
              <a:t>ij</a:t>
            </a:r>
            <a:r>
              <a:rPr lang="en-US" sz="3000" b="1" i="1">
                <a:solidFill>
                  <a:srgbClr val="FFFFFF"/>
                </a:solidFill>
                <a:latin typeface="Cambria"/>
                <a:ea typeface="Cambria"/>
                <a:cs typeface="Cambria"/>
              </a:rPr>
              <a:t>  =  μ  +  τ</a:t>
            </a:r>
            <a:r>
              <a:rPr lang="en-US" sz="3000" b="1" i="1" baseline="-25000">
                <a:solidFill>
                  <a:srgbClr val="FFFFFF"/>
                </a:solidFill>
                <a:latin typeface="Cambria"/>
                <a:ea typeface="Cambria"/>
                <a:cs typeface="Cambria"/>
              </a:rPr>
              <a:t>i</a:t>
            </a:r>
            <a:r>
              <a:rPr lang="en-US" sz="3000" b="1" i="1">
                <a:solidFill>
                  <a:srgbClr val="FFFFFF"/>
                </a:solidFill>
                <a:latin typeface="Cambria"/>
                <a:ea typeface="Cambria"/>
                <a:cs typeface="Cambria"/>
              </a:rPr>
              <a:t>  +  β</a:t>
            </a:r>
            <a:r>
              <a:rPr lang="en-US" sz="3000" b="1" i="1" baseline="-25000">
                <a:solidFill>
                  <a:srgbClr val="FFFFFF"/>
                </a:solidFill>
                <a:latin typeface="Cambria"/>
                <a:ea typeface="Cambria"/>
                <a:cs typeface="Cambria"/>
              </a:rPr>
              <a:t>j</a:t>
            </a:r>
            <a:r>
              <a:rPr lang="en-US" sz="3000" b="1" i="1">
                <a:solidFill>
                  <a:srgbClr val="FFFFFF"/>
                </a:solidFill>
                <a:latin typeface="Cambria"/>
                <a:ea typeface="Cambria"/>
                <a:cs typeface="Cambria"/>
              </a:rPr>
              <a:t>  +  ε</a:t>
            </a:r>
            <a:r>
              <a:rPr lang="en-US" sz="3000" b="1" i="1" baseline="-25000">
                <a:solidFill>
                  <a:srgbClr val="FFFFFF"/>
                </a:solidFill>
                <a:latin typeface="Cambria"/>
                <a:ea typeface="Cambria"/>
                <a:cs typeface="Cambria"/>
              </a:rPr>
              <a:t>ij</a:t>
            </a:r>
            <a:endParaRPr lang="en-US" sz="3000"/>
          </a:p>
        </p:txBody>
      </p:sp>
      <p:sp>
        <p:nvSpPr>
          <p:cNvPr id="784044674" name="Text 4"/>
          <p:cNvSpPr/>
          <p:nvPr/>
        </p:nvSpPr>
        <p:spPr bwMode="auto">
          <a:xfrm>
            <a:off x="7589520" y="1737360"/>
            <a:ext cx="3840480" cy="1143000"/>
          </a:xfrm>
          <a:prstGeom prst="rect">
            <a:avLst/>
          </a:prstGeom>
          <a:noFill/>
          <a:ln/>
        </p:spPr>
        <p:txBody>
          <a:bodyPr wrap="square" rtlCol="0" anchor="ctr"/>
          <a:lstStyle/>
          <a:p>
            <a:pPr marL="0" indent="0">
              <a:buNone/>
              <a:defRPr/>
            </a:pPr>
            <a:r>
              <a:rPr lang="en-US" sz="1250" i="1">
                <a:solidFill>
                  <a:srgbClr val="D8F3DC"/>
                </a:solidFill>
                <a:latin typeface="Calibri"/>
                <a:ea typeface="Calibri"/>
                <a:cs typeface="Calibri"/>
              </a:rPr>
              <a:t>Model RAK menambahkan SATU suku dibanding RAL: pengaruh blok βⱼ</a:t>
            </a:r>
            <a:endParaRPr lang="en-US" sz="1250"/>
          </a:p>
        </p:txBody>
      </p:sp>
      <p:sp>
        <p:nvSpPr>
          <p:cNvPr id="1858772757" name="Shape 5"/>
          <p:cNvSpPr/>
          <p:nvPr/>
        </p:nvSpPr>
        <p:spPr bwMode="auto">
          <a:xfrm>
            <a:off x="548640" y="3200400"/>
            <a:ext cx="5349240" cy="621792"/>
          </a:xfrm>
          <a:prstGeom prst="roundRect">
            <a:avLst>
              <a:gd name="adj" fmla="val 8824"/>
            </a:avLst>
          </a:prstGeom>
          <a:solidFill>
            <a:srgbClr val="D8F3DC"/>
          </a:solidFill>
          <a:ln/>
        </p:spPr>
      </p:sp>
      <p:sp>
        <p:nvSpPr>
          <p:cNvPr id="263783061" name="Text 6"/>
          <p:cNvSpPr/>
          <p:nvPr/>
        </p:nvSpPr>
        <p:spPr bwMode="auto">
          <a:xfrm>
            <a:off x="685800" y="3200400"/>
            <a:ext cx="914400" cy="621792"/>
          </a:xfrm>
          <a:prstGeom prst="rect">
            <a:avLst/>
          </a:prstGeom>
          <a:noFill/>
          <a:ln/>
        </p:spPr>
        <p:txBody>
          <a:bodyPr wrap="square" rtlCol="0" anchor="ctr"/>
          <a:lstStyle/>
          <a:p>
            <a:pPr marL="0" indent="0" algn="ctr">
              <a:buNone/>
              <a:defRPr/>
            </a:pPr>
            <a:r>
              <a:rPr lang="en-US" sz="1600" b="1" i="1">
                <a:solidFill>
                  <a:srgbClr val="1B4332"/>
                </a:solidFill>
                <a:latin typeface="Cambria"/>
                <a:ea typeface="Cambria"/>
                <a:cs typeface="Cambria"/>
              </a:rPr>
              <a:t>Yᵢⱼ</a:t>
            </a:r>
            <a:endParaRPr lang="en-US" sz="1600"/>
          </a:p>
        </p:txBody>
      </p:sp>
      <p:sp>
        <p:nvSpPr>
          <p:cNvPr id="608585316" name="Text 7"/>
          <p:cNvSpPr/>
          <p:nvPr/>
        </p:nvSpPr>
        <p:spPr bwMode="auto">
          <a:xfrm>
            <a:off x="1645920" y="3200400"/>
            <a:ext cx="4114800" cy="621792"/>
          </a:xfrm>
          <a:prstGeom prst="rect">
            <a:avLst/>
          </a:prstGeom>
          <a:noFill/>
          <a:ln/>
        </p:spPr>
        <p:txBody>
          <a:bodyPr wrap="square" rtlCol="0" anchor="ctr"/>
          <a:lstStyle/>
          <a:p>
            <a:pPr marL="0" indent="0">
              <a:buNone/>
              <a:defRPr/>
            </a:pPr>
            <a:r>
              <a:rPr lang="en-US" sz="1150">
                <a:solidFill>
                  <a:srgbClr val="1B2A22"/>
                </a:solidFill>
                <a:latin typeface="Calibri"/>
                <a:ea typeface="Calibri"/>
                <a:cs typeface="Calibri"/>
              </a:rPr>
              <a:t>Nilai pengamatan pada perlakuan ke-i, blok ke-j</a:t>
            </a:r>
            <a:endParaRPr lang="en-US" sz="1150"/>
          </a:p>
        </p:txBody>
      </p:sp>
      <p:sp>
        <p:nvSpPr>
          <p:cNvPr id="816803756" name="Shape 8"/>
          <p:cNvSpPr/>
          <p:nvPr/>
        </p:nvSpPr>
        <p:spPr bwMode="auto">
          <a:xfrm>
            <a:off x="6172200" y="3200400"/>
            <a:ext cx="5349240" cy="621792"/>
          </a:xfrm>
          <a:prstGeom prst="roundRect">
            <a:avLst>
              <a:gd name="adj" fmla="val 8824"/>
            </a:avLst>
          </a:prstGeom>
          <a:solidFill>
            <a:srgbClr val="D8F3DC"/>
          </a:solidFill>
          <a:ln/>
        </p:spPr>
      </p:sp>
      <p:sp>
        <p:nvSpPr>
          <p:cNvPr id="151700866" name="Text 9"/>
          <p:cNvSpPr/>
          <p:nvPr/>
        </p:nvSpPr>
        <p:spPr bwMode="auto">
          <a:xfrm>
            <a:off x="6309360" y="3200400"/>
            <a:ext cx="914400" cy="621792"/>
          </a:xfrm>
          <a:prstGeom prst="rect">
            <a:avLst/>
          </a:prstGeom>
          <a:noFill/>
          <a:ln/>
        </p:spPr>
        <p:txBody>
          <a:bodyPr wrap="square" rtlCol="0" anchor="ctr"/>
          <a:lstStyle/>
          <a:p>
            <a:pPr marL="0" indent="0" algn="ctr">
              <a:buNone/>
              <a:defRPr/>
            </a:pPr>
            <a:r>
              <a:rPr lang="en-US" sz="1600" b="1" i="1">
                <a:solidFill>
                  <a:srgbClr val="1B4332"/>
                </a:solidFill>
                <a:latin typeface="Cambria"/>
                <a:ea typeface="Cambria"/>
                <a:cs typeface="Cambria"/>
              </a:rPr>
              <a:t>μ</a:t>
            </a:r>
            <a:endParaRPr lang="en-US" sz="1600"/>
          </a:p>
        </p:txBody>
      </p:sp>
      <p:sp>
        <p:nvSpPr>
          <p:cNvPr id="1169983734" name="Text 10"/>
          <p:cNvSpPr/>
          <p:nvPr/>
        </p:nvSpPr>
        <p:spPr bwMode="auto">
          <a:xfrm>
            <a:off x="7269480" y="3200400"/>
            <a:ext cx="4114800" cy="621792"/>
          </a:xfrm>
          <a:prstGeom prst="rect">
            <a:avLst/>
          </a:prstGeom>
          <a:noFill/>
          <a:ln/>
        </p:spPr>
        <p:txBody>
          <a:bodyPr wrap="square" rtlCol="0" anchor="ctr"/>
          <a:lstStyle/>
          <a:p>
            <a:pPr marL="0" indent="0">
              <a:buNone/>
              <a:defRPr/>
            </a:pPr>
            <a:r>
              <a:rPr lang="en-US" sz="1150">
                <a:solidFill>
                  <a:srgbClr val="1B2A22"/>
                </a:solidFill>
                <a:latin typeface="Calibri"/>
                <a:ea typeface="Calibri"/>
                <a:cs typeface="Calibri"/>
              </a:rPr>
              <a:t>Rataan umum populasi</a:t>
            </a:r>
            <a:endParaRPr lang="en-US" sz="1150"/>
          </a:p>
        </p:txBody>
      </p:sp>
      <p:sp>
        <p:nvSpPr>
          <p:cNvPr id="1806186201" name="Shape 11"/>
          <p:cNvSpPr/>
          <p:nvPr/>
        </p:nvSpPr>
        <p:spPr bwMode="auto">
          <a:xfrm>
            <a:off x="548640" y="3977640"/>
            <a:ext cx="5349240" cy="621792"/>
          </a:xfrm>
          <a:prstGeom prst="roundRect">
            <a:avLst>
              <a:gd name="adj" fmla="val 8824"/>
            </a:avLst>
          </a:prstGeom>
          <a:solidFill>
            <a:srgbClr val="D8F3DC"/>
          </a:solidFill>
          <a:ln/>
        </p:spPr>
      </p:sp>
      <p:sp>
        <p:nvSpPr>
          <p:cNvPr id="964346227" name="Text 12"/>
          <p:cNvSpPr/>
          <p:nvPr/>
        </p:nvSpPr>
        <p:spPr bwMode="auto">
          <a:xfrm>
            <a:off x="685800" y="3977640"/>
            <a:ext cx="914400" cy="621792"/>
          </a:xfrm>
          <a:prstGeom prst="rect">
            <a:avLst/>
          </a:prstGeom>
          <a:noFill/>
          <a:ln/>
        </p:spPr>
        <p:txBody>
          <a:bodyPr wrap="square" rtlCol="0" anchor="ctr"/>
          <a:lstStyle/>
          <a:p>
            <a:pPr marL="0" indent="0" algn="ctr">
              <a:buNone/>
              <a:defRPr/>
            </a:pPr>
            <a:r>
              <a:rPr lang="en-US" sz="1600" b="1" i="1">
                <a:solidFill>
                  <a:srgbClr val="1B4332"/>
                </a:solidFill>
                <a:latin typeface="Cambria"/>
                <a:ea typeface="Cambria"/>
                <a:cs typeface="Cambria"/>
              </a:rPr>
              <a:t>τᵢ</a:t>
            </a:r>
            <a:endParaRPr lang="en-US" sz="1600"/>
          </a:p>
        </p:txBody>
      </p:sp>
      <p:sp>
        <p:nvSpPr>
          <p:cNvPr id="1971355517" name="Text 13"/>
          <p:cNvSpPr/>
          <p:nvPr/>
        </p:nvSpPr>
        <p:spPr bwMode="auto">
          <a:xfrm>
            <a:off x="1645920" y="3977640"/>
            <a:ext cx="4114800" cy="621792"/>
          </a:xfrm>
          <a:prstGeom prst="rect">
            <a:avLst/>
          </a:prstGeom>
          <a:noFill/>
          <a:ln/>
        </p:spPr>
        <p:txBody>
          <a:bodyPr wrap="square" rtlCol="0" anchor="ctr"/>
          <a:lstStyle/>
          <a:p>
            <a:pPr marL="0" indent="0">
              <a:buNone/>
              <a:defRPr/>
            </a:pPr>
            <a:r>
              <a:rPr lang="en-US" sz="1150">
                <a:solidFill>
                  <a:srgbClr val="1B2A22"/>
                </a:solidFill>
                <a:latin typeface="Calibri"/>
                <a:ea typeface="Calibri"/>
                <a:cs typeface="Calibri"/>
              </a:rPr>
              <a:t>Pengaruh perlakuan ke-i</a:t>
            </a:r>
            <a:endParaRPr lang="en-US" sz="1150"/>
          </a:p>
        </p:txBody>
      </p:sp>
      <p:sp>
        <p:nvSpPr>
          <p:cNvPr id="1845695105" name="Shape 14"/>
          <p:cNvSpPr/>
          <p:nvPr/>
        </p:nvSpPr>
        <p:spPr bwMode="auto">
          <a:xfrm>
            <a:off x="6172200" y="3977640"/>
            <a:ext cx="5349240" cy="621792"/>
          </a:xfrm>
          <a:prstGeom prst="roundRect">
            <a:avLst>
              <a:gd name="adj" fmla="val 8824"/>
            </a:avLst>
          </a:prstGeom>
          <a:solidFill>
            <a:srgbClr val="D8F3DC"/>
          </a:solidFill>
          <a:ln/>
        </p:spPr>
      </p:sp>
      <p:sp>
        <p:nvSpPr>
          <p:cNvPr id="374947097" name="Text 15"/>
          <p:cNvSpPr/>
          <p:nvPr/>
        </p:nvSpPr>
        <p:spPr bwMode="auto">
          <a:xfrm>
            <a:off x="6309360" y="3977640"/>
            <a:ext cx="914400" cy="621792"/>
          </a:xfrm>
          <a:prstGeom prst="rect">
            <a:avLst/>
          </a:prstGeom>
          <a:noFill/>
          <a:ln/>
        </p:spPr>
        <p:txBody>
          <a:bodyPr wrap="square" rtlCol="0" anchor="ctr"/>
          <a:lstStyle/>
          <a:p>
            <a:pPr marL="0" indent="0" algn="ctr">
              <a:buNone/>
              <a:defRPr/>
            </a:pPr>
            <a:r>
              <a:rPr lang="en-US" sz="1600" b="1" i="1">
                <a:solidFill>
                  <a:srgbClr val="1B4332"/>
                </a:solidFill>
                <a:latin typeface="Cambria"/>
                <a:ea typeface="Cambria"/>
                <a:cs typeface="Cambria"/>
              </a:rPr>
              <a:t>βⱼ</a:t>
            </a:r>
            <a:endParaRPr lang="en-US" sz="1600"/>
          </a:p>
        </p:txBody>
      </p:sp>
      <p:sp>
        <p:nvSpPr>
          <p:cNvPr id="1598178656" name="Text 16"/>
          <p:cNvSpPr/>
          <p:nvPr/>
        </p:nvSpPr>
        <p:spPr bwMode="auto">
          <a:xfrm>
            <a:off x="7269480" y="3977640"/>
            <a:ext cx="4114800" cy="621792"/>
          </a:xfrm>
          <a:prstGeom prst="rect">
            <a:avLst/>
          </a:prstGeom>
          <a:noFill/>
          <a:ln/>
        </p:spPr>
        <p:txBody>
          <a:bodyPr wrap="square" rtlCol="0" anchor="ctr"/>
          <a:lstStyle/>
          <a:p>
            <a:pPr marL="0" indent="0">
              <a:buNone/>
              <a:defRPr/>
            </a:pPr>
            <a:r>
              <a:rPr lang="en-US" sz="1150">
                <a:solidFill>
                  <a:srgbClr val="1B2A22"/>
                </a:solidFill>
                <a:latin typeface="Calibri"/>
                <a:ea typeface="Calibri"/>
                <a:cs typeface="Calibri"/>
              </a:rPr>
              <a:t>Pengaruh blok ke-j (j = 1, 2, ..., r)</a:t>
            </a:r>
            <a:endParaRPr lang="en-US" sz="1150"/>
          </a:p>
        </p:txBody>
      </p:sp>
      <p:sp>
        <p:nvSpPr>
          <p:cNvPr id="927600538" name="Text 17"/>
          <p:cNvSpPr/>
          <p:nvPr/>
        </p:nvSpPr>
        <p:spPr bwMode="auto">
          <a:xfrm>
            <a:off x="548640" y="4892039"/>
            <a:ext cx="4572000" cy="320040"/>
          </a:xfrm>
          <a:prstGeom prst="rect">
            <a:avLst/>
          </a:prstGeom>
          <a:noFill/>
          <a:ln/>
        </p:spPr>
        <p:txBody>
          <a:bodyPr wrap="square" rtlCol="0" anchor="ctr"/>
          <a:lstStyle/>
          <a:p>
            <a:pPr marL="0" indent="0">
              <a:buNone/>
              <a:defRPr/>
            </a:pPr>
            <a:r>
              <a:rPr lang="en-US" sz="1450" b="1">
                <a:solidFill>
                  <a:srgbClr val="1B4332"/>
                </a:solidFill>
                <a:latin typeface="Cambria"/>
                <a:ea typeface="Cambria"/>
                <a:cs typeface="Cambria"/>
              </a:rPr>
              <a:t>Efisiensi Relatif RAK</a:t>
            </a:r>
            <a:endParaRPr lang="en-US" sz="1450"/>
          </a:p>
        </p:txBody>
      </p:sp>
      <p:sp>
        <p:nvSpPr>
          <p:cNvPr id="825061401" name="Text 18"/>
          <p:cNvSpPr/>
          <p:nvPr/>
        </p:nvSpPr>
        <p:spPr bwMode="auto">
          <a:xfrm>
            <a:off x="548640" y="5212080"/>
            <a:ext cx="11064240" cy="777240"/>
          </a:xfrm>
          <a:prstGeom prst="rect">
            <a:avLst/>
          </a:prstGeom>
          <a:noFill/>
          <a:ln/>
        </p:spPr>
        <p:txBody>
          <a:bodyPr wrap="square" rtlCol="0" anchor="ctr"/>
          <a:lstStyle/>
          <a:p>
            <a:pPr marL="0" indent="0">
              <a:lnSpc>
                <a:spcPct val="130000"/>
              </a:lnSpc>
              <a:buNone/>
              <a:defRPr/>
            </a:pPr>
            <a:r>
              <a:rPr lang="en-US" sz="1250">
                <a:solidFill>
                  <a:srgbClr val="1B2A22"/>
                </a:solidFill>
                <a:latin typeface="Calibri"/>
                <a:ea typeface="Calibri"/>
                <a:cs typeface="Calibri"/>
              </a:rPr>
              <a:t>Karena blok bersifat aditif, JK total terurai menjadi JK perlakuan, JK blok, dan JK galat. Semakin besar kontribusi JK blok dalam mengurangi JK galat, semakin efisien RAK dibandingkan RAL (Montgomery, 2017).</a:t>
            </a:r>
            <a:endParaRPr lang="en-US" sz="1250"/>
          </a:p>
        </p:txBody>
      </p:sp>
      <p:sp>
        <p:nvSpPr>
          <p:cNvPr id="593962835" name="Text 19"/>
          <p:cNvSpPr/>
          <p:nvPr/>
        </p:nvSpPr>
        <p:spPr bwMode="auto">
          <a:xfrm>
            <a:off x="457200" y="6473952"/>
            <a:ext cx="7315200" cy="274320"/>
          </a:xfrm>
          <a:prstGeom prst="rect">
            <a:avLst/>
          </a:prstGeom>
          <a:noFill/>
          <a:ln/>
        </p:spPr>
        <p:txBody>
          <a:bodyPr wrap="square" rtlCol="0" anchor="ctr"/>
          <a:lstStyle/>
          <a:p>
            <a:pPr marL="0" indent="0" algn="l">
              <a:buNone/>
              <a:defRPr/>
            </a:pPr>
            <a:r>
              <a:rPr lang="en-US" sz="900">
                <a:solidFill>
                  <a:srgbClr val="5C6B63"/>
                </a:solidFill>
                <a:latin typeface="Calibri"/>
                <a:ea typeface="Calibri"/>
                <a:cs typeface="Calibri"/>
              </a:rPr>
              <a:t>RAK — Biostatistika untuk Biologi</a:t>
            </a:r>
            <a:endParaRPr lang="en-US" sz="900"/>
          </a:p>
        </p:txBody>
      </p:sp>
      <p:sp>
        <p:nvSpPr>
          <p:cNvPr id="2089272482" name="Text 20"/>
          <p:cNvSpPr/>
          <p:nvPr/>
        </p:nvSpPr>
        <p:spPr bwMode="auto">
          <a:xfrm>
            <a:off x="11274552" y="6473952"/>
            <a:ext cx="457200" cy="274320"/>
          </a:xfrm>
          <a:prstGeom prst="rect">
            <a:avLst/>
          </a:prstGeom>
          <a:noFill/>
          <a:ln/>
        </p:spPr>
        <p:txBody>
          <a:bodyPr wrap="square" rtlCol="0" anchor="ctr"/>
          <a:lstStyle/>
          <a:p>
            <a:pPr marL="0" indent="0" algn="r">
              <a:buNone/>
              <a:defRPr/>
            </a:pPr>
            <a:r>
              <a:rPr lang="en-US" sz="900">
                <a:solidFill>
                  <a:srgbClr val="5C6B63"/>
                </a:solidFill>
                <a:latin typeface="Calibri"/>
                <a:ea typeface="Calibri"/>
                <a:cs typeface="Calibri"/>
              </a:rPr>
              <a:t>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7FAF7"/>
        </a:solidFill>
      </p:bgPr>
    </p:bg>
    <p:spTree>
      <p:nvGrpSpPr>
        <p:cNvPr id="1" name=""/>
        <p:cNvGrpSpPr/>
        <p:nvPr/>
      </p:nvGrpSpPr>
      <p:grpSpPr bwMode="auto">
        <a:xfrm>
          <a:off x="0" y="0"/>
          <a:ext cx="0" cy="0"/>
          <a:chOff x="0" y="0"/>
          <a:chExt cx="0" cy="0"/>
        </a:xfrm>
      </p:grpSpPr>
      <p:sp>
        <p:nvSpPr>
          <p:cNvPr id="529412440" name="Text 0"/>
          <p:cNvSpPr/>
          <p:nvPr/>
        </p:nvSpPr>
        <p:spPr bwMode="auto">
          <a:xfrm>
            <a:off x="548640" y="384048"/>
            <a:ext cx="9144000" cy="320040"/>
          </a:xfrm>
          <a:prstGeom prst="rect">
            <a:avLst/>
          </a:prstGeom>
          <a:noFill/>
          <a:ln/>
        </p:spPr>
        <p:txBody>
          <a:bodyPr wrap="square" rtlCol="0" anchor="ctr"/>
          <a:lstStyle/>
          <a:p>
            <a:pPr marL="0" indent="0">
              <a:buNone/>
              <a:defRPr/>
            </a:pPr>
            <a:r>
              <a:rPr lang="en-US" sz="1200" b="1" spc="200">
                <a:solidFill>
                  <a:srgbClr val="2D6A4F"/>
                </a:solidFill>
                <a:latin typeface="Calibri"/>
                <a:ea typeface="Calibri"/>
                <a:cs typeface="Calibri"/>
              </a:rPr>
              <a:t>2.4 · CONTOH KASUS</a:t>
            </a:r>
            <a:endParaRPr lang="en-US" sz="1200"/>
          </a:p>
        </p:txBody>
      </p:sp>
      <p:sp>
        <p:nvSpPr>
          <p:cNvPr id="726256844" name="Text 1"/>
          <p:cNvSpPr/>
          <p:nvPr/>
        </p:nvSpPr>
        <p:spPr bwMode="auto">
          <a:xfrm>
            <a:off x="548640" y="658368"/>
            <a:ext cx="11064240" cy="822960"/>
          </a:xfrm>
          <a:prstGeom prst="rect">
            <a:avLst/>
          </a:prstGeom>
          <a:noFill/>
          <a:ln/>
        </p:spPr>
        <p:txBody>
          <a:bodyPr wrap="square" rtlCol="0" anchor="ctr"/>
          <a:lstStyle/>
          <a:p>
            <a:pPr marL="0" indent="0">
              <a:buNone/>
              <a:defRPr/>
            </a:pPr>
            <a:r>
              <a:rPr lang="en-US" sz="3000" b="1">
                <a:solidFill>
                  <a:srgbClr val="1B4332"/>
                </a:solidFill>
                <a:latin typeface="Cambria"/>
                <a:ea typeface="Cambria"/>
                <a:cs typeface="Cambria"/>
              </a:rPr>
              <a:t>Dosis Pupuk Nitrogen pada Tanaman Selada</a:t>
            </a:r>
            <a:endParaRPr lang="en-US" sz="3000"/>
          </a:p>
        </p:txBody>
      </p:sp>
      <p:sp>
        <p:nvSpPr>
          <p:cNvPr id="1566056560" name="Shape 2"/>
          <p:cNvSpPr/>
          <p:nvPr/>
        </p:nvSpPr>
        <p:spPr bwMode="auto">
          <a:xfrm>
            <a:off x="548640" y="1783080"/>
            <a:ext cx="777240" cy="777240"/>
          </a:xfrm>
          <a:prstGeom prst="ellipse">
            <a:avLst/>
          </a:prstGeom>
          <a:solidFill>
            <a:srgbClr val="2D6A4F"/>
          </a:solidFill>
          <a:ln/>
        </p:spPr>
      </p:sp>
      <p:pic>
        <p:nvPicPr>
          <p:cNvPr id="1610013730" name="Image 0" descr="leaf.png"/>
          <p:cNvPicPr>
            <a:picLocks noChangeAspect="1"/>
          </p:cNvPicPr>
          <p:nvPr/>
        </p:nvPicPr>
        <p:blipFill rotWithShape="1">
          <a:blip r:embed="rId3"/>
          <a:stretch/>
        </p:blipFill>
        <p:spPr bwMode="auto">
          <a:xfrm>
            <a:off x="649681" y="1884121"/>
            <a:ext cx="575158" cy="575158"/>
          </a:xfrm>
          <a:prstGeom prst="rect">
            <a:avLst/>
          </a:prstGeom>
        </p:spPr>
      </p:pic>
      <p:sp>
        <p:nvSpPr>
          <p:cNvPr id="903269743" name="Text 3"/>
          <p:cNvSpPr/>
          <p:nvPr/>
        </p:nvSpPr>
        <p:spPr bwMode="auto">
          <a:xfrm>
            <a:off x="1600200" y="1783080"/>
            <a:ext cx="9966960" cy="914400"/>
          </a:xfrm>
          <a:prstGeom prst="rect">
            <a:avLst/>
          </a:prstGeom>
          <a:noFill/>
          <a:ln/>
        </p:spPr>
        <p:txBody>
          <a:bodyPr wrap="square" rtlCol="0" anchor="ctr"/>
          <a:lstStyle/>
          <a:p>
            <a:pPr marL="0" indent="0">
              <a:lnSpc>
                <a:spcPct val="130000"/>
              </a:lnSpc>
              <a:buNone/>
              <a:defRPr/>
            </a:pPr>
            <a:r>
              <a:rPr lang="en-US" sz="1500">
                <a:solidFill>
                  <a:srgbClr val="1B2A22"/>
                </a:solidFill>
                <a:latin typeface="Calibri"/>
                <a:ea typeface="Calibri"/>
                <a:cs typeface="Calibri"/>
              </a:rPr>
              <a:t>Seorang peneliti ingin menguji pengaruh </a:t>
            </a:r>
            <a:r>
              <a:rPr lang="en-US" sz="1500" b="1">
                <a:solidFill>
                  <a:srgbClr val="1B4332"/>
                </a:solidFill>
                <a:latin typeface="Calibri"/>
                <a:ea typeface="Calibri"/>
                <a:cs typeface="Calibri"/>
              </a:rPr>
              <a:t>empat dosis pupuk nitrogen</a:t>
            </a:r>
            <a:r>
              <a:rPr lang="en-US" sz="1500">
                <a:solidFill>
                  <a:srgbClr val="1B2A22"/>
                </a:solidFill>
                <a:latin typeface="Calibri"/>
                <a:ea typeface="Calibri"/>
                <a:cs typeface="Calibri"/>
              </a:rPr>
              <a:t> terhadap tinggi tanaman </a:t>
            </a:r>
            <a:r>
              <a:rPr lang="en-US" sz="1500" b="1">
                <a:solidFill>
                  <a:srgbClr val="1B4332"/>
                </a:solidFill>
                <a:latin typeface="Calibri"/>
                <a:ea typeface="Calibri"/>
                <a:cs typeface="Calibri"/>
              </a:rPr>
              <a:t>selada</a:t>
            </a:r>
            <a:r>
              <a:rPr lang="en-US" sz="1500">
                <a:solidFill>
                  <a:srgbClr val="1B2A22"/>
                </a:solidFill>
                <a:latin typeface="Calibri"/>
                <a:ea typeface="Calibri"/>
                <a:cs typeface="Calibri"/>
              </a:rPr>
              <a:t> (</a:t>
            </a:r>
            <a:r>
              <a:rPr lang="en-US" sz="1500" i="1">
                <a:solidFill>
                  <a:srgbClr val="1B2A22"/>
                </a:solidFill>
                <a:latin typeface="Calibri"/>
                <a:ea typeface="Calibri"/>
                <a:cs typeface="Calibri"/>
              </a:rPr>
              <a:t>Lactuca </a:t>
            </a:r>
            <a:r>
              <a:rPr lang="en-US" sz="1500" i="1">
                <a:solidFill>
                  <a:srgbClr val="1B2A22"/>
                </a:solidFill>
                <a:latin typeface="Calibri"/>
                <a:ea typeface="Calibri"/>
                <a:cs typeface="Calibri"/>
              </a:rPr>
              <a:t>sativa</a:t>
            </a:r>
            <a:r>
              <a:rPr lang="en-US" sz="1500">
                <a:solidFill>
                  <a:srgbClr val="1B2A22"/>
                </a:solidFill>
                <a:latin typeface="Calibri"/>
                <a:ea typeface="Calibri"/>
                <a:cs typeface="Calibri"/>
              </a:rPr>
              <a:t>) di rumah kaca.</a:t>
            </a:r>
            <a:endParaRPr lang="en-US" sz="1500"/>
          </a:p>
        </p:txBody>
      </p:sp>
      <p:sp>
        <p:nvSpPr>
          <p:cNvPr id="1880444230" name="Text 4"/>
          <p:cNvSpPr/>
          <p:nvPr/>
        </p:nvSpPr>
        <p:spPr bwMode="auto">
          <a:xfrm>
            <a:off x="548640" y="2788920"/>
            <a:ext cx="6400800" cy="1645920"/>
          </a:xfrm>
          <a:prstGeom prst="rect">
            <a:avLst/>
          </a:prstGeom>
          <a:noFill/>
          <a:ln/>
        </p:spPr>
        <p:txBody>
          <a:bodyPr wrap="square" rtlCol="0" anchor="ctr"/>
          <a:lstStyle/>
          <a:p>
            <a:pPr marL="0" indent="0">
              <a:lnSpc>
                <a:spcPct val="135000"/>
              </a:lnSpc>
              <a:buNone/>
              <a:defRPr/>
            </a:pPr>
            <a:r>
              <a:rPr lang="en-US" sz="1300">
                <a:solidFill>
                  <a:srgbClr val="1B2A22"/>
                </a:solidFill>
                <a:latin typeface="Calibri"/>
                <a:ea typeface="Calibri"/>
                <a:cs typeface="Calibri"/>
              </a:rPr>
              <a:t>Rumah kaca memiliki tiga meja tanam berjajar; meja yang paling dekat jendela menerima cahaya matahari lebih tinggi dibanding meja yang lebih jauh. Karena posisi meja sudah diketahui sebelum percobaan, setiap meja diperlakukan sebagai satu blok — keempat dosis pupuk diacak di dalam tiap blok.</a:t>
            </a:r>
            <a:endParaRPr lang="en-US" sz="1300"/>
          </a:p>
        </p:txBody>
      </p:sp>
      <p:sp>
        <p:nvSpPr>
          <p:cNvPr id="533879511" name="Shape 5"/>
          <p:cNvSpPr/>
          <p:nvPr/>
        </p:nvSpPr>
        <p:spPr bwMode="auto">
          <a:xfrm>
            <a:off x="548640" y="4617720"/>
            <a:ext cx="2011680" cy="1234440"/>
          </a:xfrm>
          <a:prstGeom prst="roundRect">
            <a:avLst>
              <a:gd name="adj" fmla="val 5926"/>
            </a:avLst>
          </a:prstGeom>
          <a:solidFill>
            <a:srgbClr val="1B4332"/>
          </a:solidFill>
          <a:ln/>
        </p:spPr>
      </p:sp>
      <p:sp>
        <p:nvSpPr>
          <p:cNvPr id="1093656597" name="Text 6"/>
          <p:cNvSpPr/>
          <p:nvPr/>
        </p:nvSpPr>
        <p:spPr bwMode="auto">
          <a:xfrm>
            <a:off x="548640" y="4681728"/>
            <a:ext cx="2011680" cy="640080"/>
          </a:xfrm>
          <a:prstGeom prst="rect">
            <a:avLst/>
          </a:prstGeom>
          <a:noFill/>
          <a:ln/>
        </p:spPr>
        <p:txBody>
          <a:bodyPr wrap="square" rtlCol="0" anchor="ctr"/>
          <a:lstStyle/>
          <a:p>
            <a:pPr marL="0" indent="0" algn="ctr">
              <a:buNone/>
              <a:defRPr/>
            </a:pPr>
            <a:r>
              <a:rPr lang="en-US" sz="3400" b="1">
                <a:solidFill>
                  <a:srgbClr val="74C69D"/>
                </a:solidFill>
                <a:latin typeface="Cambria"/>
                <a:ea typeface="Cambria"/>
                <a:cs typeface="Cambria"/>
              </a:rPr>
              <a:t>4</a:t>
            </a:r>
            <a:endParaRPr lang="en-US" sz="3400"/>
          </a:p>
        </p:txBody>
      </p:sp>
      <p:sp>
        <p:nvSpPr>
          <p:cNvPr id="518738821" name="Text 7"/>
          <p:cNvSpPr/>
          <p:nvPr/>
        </p:nvSpPr>
        <p:spPr bwMode="auto">
          <a:xfrm>
            <a:off x="640080" y="5349240"/>
            <a:ext cx="1828800" cy="457200"/>
          </a:xfrm>
          <a:prstGeom prst="rect">
            <a:avLst/>
          </a:prstGeom>
          <a:noFill/>
          <a:ln/>
        </p:spPr>
        <p:txBody>
          <a:bodyPr wrap="square" rtlCol="0" anchor="ctr"/>
          <a:lstStyle/>
          <a:p>
            <a:pPr marL="0" indent="0" algn="ctr">
              <a:buNone/>
              <a:defRPr/>
            </a:pPr>
            <a:r>
              <a:rPr lang="en-US" sz="1050">
                <a:solidFill>
                  <a:srgbClr val="FFFFFF"/>
                </a:solidFill>
                <a:latin typeface="Calibri"/>
                <a:ea typeface="Calibri"/>
                <a:cs typeface="Calibri"/>
              </a:rPr>
              <a:t>Dosis pupuk (perlakuan)</a:t>
            </a:r>
            <a:endParaRPr lang="en-US" sz="1050"/>
          </a:p>
        </p:txBody>
      </p:sp>
      <p:sp>
        <p:nvSpPr>
          <p:cNvPr id="1507301157" name="Shape 8"/>
          <p:cNvSpPr/>
          <p:nvPr/>
        </p:nvSpPr>
        <p:spPr bwMode="auto">
          <a:xfrm>
            <a:off x="2788920" y="4617720"/>
            <a:ext cx="2011680" cy="1234440"/>
          </a:xfrm>
          <a:prstGeom prst="roundRect">
            <a:avLst>
              <a:gd name="adj" fmla="val 5926"/>
            </a:avLst>
          </a:prstGeom>
          <a:solidFill>
            <a:srgbClr val="1B4332"/>
          </a:solidFill>
          <a:ln/>
        </p:spPr>
      </p:sp>
      <p:sp>
        <p:nvSpPr>
          <p:cNvPr id="533795022" name="Text 9"/>
          <p:cNvSpPr/>
          <p:nvPr/>
        </p:nvSpPr>
        <p:spPr bwMode="auto">
          <a:xfrm>
            <a:off x="2788920" y="4681728"/>
            <a:ext cx="2011680" cy="640080"/>
          </a:xfrm>
          <a:prstGeom prst="rect">
            <a:avLst/>
          </a:prstGeom>
          <a:noFill/>
          <a:ln/>
        </p:spPr>
        <p:txBody>
          <a:bodyPr wrap="square" rtlCol="0" anchor="ctr"/>
          <a:lstStyle/>
          <a:p>
            <a:pPr marL="0" indent="0" algn="ctr">
              <a:buNone/>
              <a:defRPr/>
            </a:pPr>
            <a:r>
              <a:rPr lang="en-US" sz="3400" b="1">
                <a:solidFill>
                  <a:srgbClr val="74C69D"/>
                </a:solidFill>
                <a:latin typeface="Cambria"/>
                <a:ea typeface="Cambria"/>
                <a:cs typeface="Cambria"/>
              </a:rPr>
              <a:t>3</a:t>
            </a:r>
            <a:endParaRPr lang="en-US" sz="3400"/>
          </a:p>
        </p:txBody>
      </p:sp>
      <p:sp>
        <p:nvSpPr>
          <p:cNvPr id="2081684313" name="Text 10"/>
          <p:cNvSpPr/>
          <p:nvPr/>
        </p:nvSpPr>
        <p:spPr bwMode="auto">
          <a:xfrm>
            <a:off x="2880360" y="5349240"/>
            <a:ext cx="1828800" cy="457200"/>
          </a:xfrm>
          <a:prstGeom prst="rect">
            <a:avLst/>
          </a:prstGeom>
          <a:noFill/>
          <a:ln/>
        </p:spPr>
        <p:txBody>
          <a:bodyPr wrap="square" rtlCol="0" anchor="ctr"/>
          <a:lstStyle/>
          <a:p>
            <a:pPr marL="0" indent="0" algn="ctr">
              <a:buNone/>
              <a:defRPr/>
            </a:pPr>
            <a:r>
              <a:rPr lang="en-US" sz="1050">
                <a:solidFill>
                  <a:srgbClr val="FFFFFF"/>
                </a:solidFill>
                <a:latin typeface="Calibri"/>
                <a:ea typeface="Calibri"/>
                <a:cs typeface="Calibri"/>
              </a:rPr>
              <a:t>Meja tanam (blok)</a:t>
            </a:r>
            <a:endParaRPr lang="en-US" sz="1050"/>
          </a:p>
        </p:txBody>
      </p:sp>
      <p:sp>
        <p:nvSpPr>
          <p:cNvPr id="252102505" name="Shape 11"/>
          <p:cNvSpPr/>
          <p:nvPr/>
        </p:nvSpPr>
        <p:spPr bwMode="auto">
          <a:xfrm>
            <a:off x="5029200" y="4617720"/>
            <a:ext cx="2011680" cy="1234440"/>
          </a:xfrm>
          <a:prstGeom prst="roundRect">
            <a:avLst>
              <a:gd name="adj" fmla="val 5926"/>
            </a:avLst>
          </a:prstGeom>
          <a:solidFill>
            <a:srgbClr val="1B4332"/>
          </a:solidFill>
          <a:ln/>
        </p:spPr>
      </p:sp>
      <p:sp>
        <p:nvSpPr>
          <p:cNvPr id="437167901" name="Text 12"/>
          <p:cNvSpPr/>
          <p:nvPr/>
        </p:nvSpPr>
        <p:spPr bwMode="auto">
          <a:xfrm>
            <a:off x="5029200" y="4681728"/>
            <a:ext cx="2011680" cy="640080"/>
          </a:xfrm>
          <a:prstGeom prst="rect">
            <a:avLst/>
          </a:prstGeom>
          <a:noFill/>
          <a:ln/>
        </p:spPr>
        <p:txBody>
          <a:bodyPr wrap="square" rtlCol="0" anchor="ctr"/>
          <a:lstStyle/>
          <a:p>
            <a:pPr marL="0" indent="0" algn="ctr">
              <a:buNone/>
              <a:defRPr/>
            </a:pPr>
            <a:r>
              <a:rPr lang="en-US" sz="3400" b="1">
                <a:solidFill>
                  <a:srgbClr val="74C69D"/>
                </a:solidFill>
                <a:latin typeface="Cambria"/>
                <a:ea typeface="Cambria"/>
                <a:cs typeface="Cambria"/>
              </a:rPr>
              <a:t>12</a:t>
            </a:r>
            <a:endParaRPr lang="en-US" sz="3400"/>
          </a:p>
        </p:txBody>
      </p:sp>
      <p:sp>
        <p:nvSpPr>
          <p:cNvPr id="624002328" name="Text 13"/>
          <p:cNvSpPr/>
          <p:nvPr/>
        </p:nvSpPr>
        <p:spPr bwMode="auto">
          <a:xfrm>
            <a:off x="5120640" y="5349240"/>
            <a:ext cx="1828800" cy="457200"/>
          </a:xfrm>
          <a:prstGeom prst="rect">
            <a:avLst/>
          </a:prstGeom>
          <a:noFill/>
          <a:ln/>
        </p:spPr>
        <p:txBody>
          <a:bodyPr wrap="square" rtlCol="0" anchor="ctr"/>
          <a:lstStyle/>
          <a:p>
            <a:pPr marL="0" indent="0" algn="ctr">
              <a:buNone/>
              <a:defRPr/>
            </a:pPr>
            <a:r>
              <a:rPr lang="en-US" sz="1050">
                <a:solidFill>
                  <a:srgbClr val="FFFFFF"/>
                </a:solidFill>
                <a:latin typeface="Calibri"/>
                <a:ea typeface="Calibri"/>
                <a:cs typeface="Calibri"/>
              </a:rPr>
              <a:t>Total unit percobaan</a:t>
            </a:r>
            <a:endParaRPr lang="en-US" sz="1050"/>
          </a:p>
        </p:txBody>
      </p:sp>
      <p:sp>
        <p:nvSpPr>
          <p:cNvPr id="1174256563" name="Shape 14"/>
          <p:cNvSpPr/>
          <p:nvPr/>
        </p:nvSpPr>
        <p:spPr bwMode="auto">
          <a:xfrm>
            <a:off x="7223760" y="2788920"/>
            <a:ext cx="4434840" cy="3063240"/>
          </a:xfrm>
          <a:prstGeom prst="roundRect">
            <a:avLst>
              <a:gd name="adj" fmla="val 2985"/>
            </a:avLst>
          </a:prstGeom>
          <a:solidFill>
            <a:srgbClr val="D8F3DC"/>
          </a:solidFill>
          <a:ln/>
        </p:spPr>
      </p:sp>
      <p:sp>
        <p:nvSpPr>
          <p:cNvPr id="1018296449" name="Text 15"/>
          <p:cNvSpPr/>
          <p:nvPr/>
        </p:nvSpPr>
        <p:spPr bwMode="auto">
          <a:xfrm>
            <a:off x="7498080" y="3017519"/>
            <a:ext cx="3931920" cy="365760"/>
          </a:xfrm>
          <a:prstGeom prst="rect">
            <a:avLst/>
          </a:prstGeom>
          <a:noFill/>
          <a:ln/>
        </p:spPr>
        <p:txBody>
          <a:bodyPr wrap="square" rtlCol="0" anchor="ctr"/>
          <a:lstStyle/>
          <a:p>
            <a:pPr marL="0" indent="0">
              <a:buNone/>
              <a:defRPr/>
            </a:pPr>
            <a:r>
              <a:rPr lang="en-US" sz="1200" b="1" spc="100">
                <a:solidFill>
                  <a:srgbClr val="2D6A4F"/>
                </a:solidFill>
                <a:latin typeface="Calibri"/>
                <a:ea typeface="Calibri"/>
                <a:cs typeface="Calibri"/>
              </a:rPr>
              <a:t>Mengapa Perlu Blok?</a:t>
            </a:r>
            <a:endParaRPr lang="en-US" sz="1200"/>
          </a:p>
        </p:txBody>
      </p:sp>
      <p:sp>
        <p:nvSpPr>
          <p:cNvPr id="2096725159" name="Text 16"/>
          <p:cNvSpPr/>
          <p:nvPr/>
        </p:nvSpPr>
        <p:spPr bwMode="auto">
          <a:xfrm>
            <a:off x="7498080" y="3429000"/>
            <a:ext cx="3931920" cy="1005840"/>
          </a:xfrm>
          <a:prstGeom prst="rect">
            <a:avLst/>
          </a:prstGeom>
          <a:noFill/>
          <a:ln/>
        </p:spPr>
        <p:txBody>
          <a:bodyPr wrap="square" rtlCol="0" anchor="ctr"/>
          <a:lstStyle/>
          <a:p>
            <a:pPr marL="0" indent="0">
              <a:lnSpc>
                <a:spcPct val="125000"/>
              </a:lnSpc>
              <a:buNone/>
              <a:defRPr/>
            </a:pPr>
            <a:r>
              <a:rPr lang="en-US" sz="1450" b="1" i="1">
                <a:solidFill>
                  <a:srgbClr val="1B4332"/>
                </a:solidFill>
                <a:latin typeface="Cambria"/>
                <a:ea typeface="Cambria"/>
                <a:cs typeface="Cambria"/>
              </a:rPr>
              <a:t>Tanpa blok, perbedaan tinggi tanaman akibat posisi meja akan tercampur dengan perbedaan akibat dosis pupuk.</a:t>
            </a:r>
            <a:endParaRPr lang="en-US" sz="1450"/>
          </a:p>
        </p:txBody>
      </p:sp>
      <p:sp>
        <p:nvSpPr>
          <p:cNvPr id="1444809810" name="Text 17"/>
          <p:cNvSpPr/>
          <p:nvPr/>
        </p:nvSpPr>
        <p:spPr bwMode="auto">
          <a:xfrm>
            <a:off x="7498080" y="4709160"/>
            <a:ext cx="3931920" cy="822960"/>
          </a:xfrm>
          <a:prstGeom prst="rect">
            <a:avLst/>
          </a:prstGeom>
          <a:noFill/>
          <a:ln/>
        </p:spPr>
        <p:txBody>
          <a:bodyPr wrap="square" rtlCol="0" anchor="ctr"/>
          <a:lstStyle/>
          <a:p>
            <a:pPr marL="0" indent="0">
              <a:lnSpc>
                <a:spcPct val="130000"/>
              </a:lnSpc>
              <a:buNone/>
              <a:defRPr/>
            </a:pPr>
            <a:r>
              <a:rPr lang="en-US" sz="1150" i="1">
                <a:solidFill>
                  <a:srgbClr val="5C6B63"/>
                </a:solidFill>
                <a:latin typeface="Calibri"/>
                <a:ea typeface="Calibri"/>
                <a:cs typeface="Calibri"/>
              </a:rPr>
              <a:t>Dengan blok, kedua sumber keragaman dipisahkan secara eksplisit dalam ANOVA dua arah.</a:t>
            </a:r>
            <a:endParaRPr lang="en-US" sz="1150"/>
          </a:p>
        </p:txBody>
      </p:sp>
      <p:sp>
        <p:nvSpPr>
          <p:cNvPr id="629420728" name="Text 18"/>
          <p:cNvSpPr/>
          <p:nvPr/>
        </p:nvSpPr>
        <p:spPr bwMode="auto">
          <a:xfrm>
            <a:off x="457200" y="6473952"/>
            <a:ext cx="7315200" cy="274320"/>
          </a:xfrm>
          <a:prstGeom prst="rect">
            <a:avLst/>
          </a:prstGeom>
          <a:noFill/>
          <a:ln/>
        </p:spPr>
        <p:txBody>
          <a:bodyPr wrap="square" rtlCol="0" anchor="ctr"/>
          <a:lstStyle/>
          <a:p>
            <a:pPr marL="0" indent="0" algn="l">
              <a:buNone/>
              <a:defRPr/>
            </a:pPr>
            <a:r>
              <a:rPr lang="en-US" sz="900">
                <a:solidFill>
                  <a:srgbClr val="5C6B63"/>
                </a:solidFill>
                <a:latin typeface="Calibri"/>
                <a:ea typeface="Calibri"/>
                <a:cs typeface="Calibri"/>
              </a:rPr>
              <a:t>RAK — Biostatistika untuk Biologi</a:t>
            </a:r>
            <a:endParaRPr lang="en-US" sz="900"/>
          </a:p>
        </p:txBody>
      </p:sp>
      <p:sp>
        <p:nvSpPr>
          <p:cNvPr id="962997669" name="Text 19"/>
          <p:cNvSpPr/>
          <p:nvPr/>
        </p:nvSpPr>
        <p:spPr bwMode="auto">
          <a:xfrm>
            <a:off x="11274552" y="6473952"/>
            <a:ext cx="457200" cy="274320"/>
          </a:xfrm>
          <a:prstGeom prst="rect">
            <a:avLst/>
          </a:prstGeom>
          <a:noFill/>
          <a:ln/>
        </p:spPr>
        <p:txBody>
          <a:bodyPr wrap="square" rtlCol="0" anchor="ctr"/>
          <a:lstStyle/>
          <a:p>
            <a:pPr marL="0" indent="0" algn="r">
              <a:buNone/>
              <a:defRPr/>
            </a:pPr>
            <a:r>
              <a:rPr lang="en-US" sz="900">
                <a:solidFill>
                  <a:srgbClr val="5C6B63"/>
                </a:solidFill>
                <a:latin typeface="Calibri"/>
                <a:ea typeface="Calibri"/>
                <a:cs typeface="Calibri"/>
              </a:rPr>
              <a:t>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7FAF7"/>
        </a:solidFill>
      </p:bgPr>
    </p:bg>
    <p:spTree>
      <p:nvGrpSpPr>
        <p:cNvPr id="1" name=""/>
        <p:cNvGrpSpPr/>
        <p:nvPr/>
      </p:nvGrpSpPr>
      <p:grpSpPr bwMode="auto">
        <a:xfrm>
          <a:off x="0" y="0"/>
          <a:ext cx="0" cy="0"/>
          <a:chOff x="0" y="0"/>
          <a:chExt cx="0" cy="0"/>
        </a:xfrm>
      </p:grpSpPr>
      <p:sp>
        <p:nvSpPr>
          <p:cNvPr id="1558303274" name="Text 0"/>
          <p:cNvSpPr/>
          <p:nvPr/>
        </p:nvSpPr>
        <p:spPr bwMode="auto">
          <a:xfrm>
            <a:off x="548640" y="384048"/>
            <a:ext cx="9144000" cy="320040"/>
          </a:xfrm>
          <a:prstGeom prst="rect">
            <a:avLst/>
          </a:prstGeom>
          <a:noFill/>
          <a:ln/>
        </p:spPr>
        <p:txBody>
          <a:bodyPr wrap="square" rtlCol="0" anchor="ctr"/>
          <a:lstStyle/>
          <a:p>
            <a:pPr marL="0" indent="0">
              <a:buNone/>
              <a:defRPr/>
            </a:pPr>
            <a:r>
              <a:rPr lang="en-US" sz="1200" b="1" spc="200">
                <a:solidFill>
                  <a:srgbClr val="2D6A4F"/>
                </a:solidFill>
                <a:latin typeface="Calibri"/>
                <a:ea typeface="Calibri"/>
                <a:cs typeface="Calibri"/>
              </a:rPr>
              <a:t>2.4 · LANGKAH KERJA DI R</a:t>
            </a:r>
            <a:endParaRPr lang="en-US" sz="1200"/>
          </a:p>
        </p:txBody>
      </p:sp>
      <p:sp>
        <p:nvSpPr>
          <p:cNvPr id="610087145" name="Text 1"/>
          <p:cNvSpPr/>
          <p:nvPr/>
        </p:nvSpPr>
        <p:spPr bwMode="auto">
          <a:xfrm>
            <a:off x="548640" y="658368"/>
            <a:ext cx="11064240" cy="822960"/>
          </a:xfrm>
          <a:prstGeom prst="rect">
            <a:avLst/>
          </a:prstGeom>
          <a:noFill/>
          <a:ln/>
        </p:spPr>
        <p:txBody>
          <a:bodyPr wrap="square" rtlCol="0" anchor="ctr"/>
          <a:lstStyle/>
          <a:p>
            <a:pPr marL="0" indent="0">
              <a:buNone/>
              <a:defRPr/>
            </a:pPr>
            <a:r>
              <a:rPr lang="en-US" sz="3000" b="1">
                <a:solidFill>
                  <a:srgbClr val="1B4332"/>
                </a:solidFill>
                <a:latin typeface="Cambria"/>
                <a:ea typeface="Cambria"/>
                <a:cs typeface="Cambria"/>
              </a:rPr>
              <a:t>Dari Data ke Kesimpulan: 5 Langkah</a:t>
            </a:r>
            <a:endParaRPr lang="en-US" sz="3000"/>
          </a:p>
        </p:txBody>
      </p:sp>
      <p:sp>
        <p:nvSpPr>
          <p:cNvPr id="748725759" name="Shape 2"/>
          <p:cNvSpPr/>
          <p:nvPr/>
        </p:nvSpPr>
        <p:spPr bwMode="auto">
          <a:xfrm>
            <a:off x="548640" y="1965960"/>
            <a:ext cx="2084832" cy="3566160"/>
          </a:xfrm>
          <a:prstGeom prst="roundRect">
            <a:avLst>
              <a:gd name="adj" fmla="val 3947"/>
            </a:avLst>
          </a:prstGeom>
          <a:solidFill>
            <a:srgbClr val="2D6A4F"/>
          </a:solidFill>
          <a:ln/>
        </p:spPr>
      </p:sp>
      <p:sp>
        <p:nvSpPr>
          <p:cNvPr id="870487104" name="Shape 3"/>
          <p:cNvSpPr/>
          <p:nvPr/>
        </p:nvSpPr>
        <p:spPr bwMode="auto">
          <a:xfrm>
            <a:off x="1298448" y="2221992"/>
            <a:ext cx="585216" cy="585216"/>
          </a:xfrm>
          <a:prstGeom prst="ellipse">
            <a:avLst/>
          </a:prstGeom>
          <a:solidFill>
            <a:srgbClr val="FFFFFF"/>
          </a:solidFill>
          <a:ln/>
        </p:spPr>
      </p:sp>
      <p:sp>
        <p:nvSpPr>
          <p:cNvPr id="853322680" name="Text 4"/>
          <p:cNvSpPr/>
          <p:nvPr/>
        </p:nvSpPr>
        <p:spPr bwMode="auto">
          <a:xfrm>
            <a:off x="1298448" y="2221992"/>
            <a:ext cx="585216" cy="585216"/>
          </a:xfrm>
          <a:prstGeom prst="rect">
            <a:avLst/>
          </a:prstGeom>
          <a:noFill/>
          <a:ln/>
        </p:spPr>
        <p:txBody>
          <a:bodyPr wrap="square" rtlCol="0" anchor="ctr"/>
          <a:lstStyle/>
          <a:p>
            <a:pPr marL="0" indent="0" algn="ctr">
              <a:buNone/>
              <a:defRPr/>
            </a:pPr>
            <a:r>
              <a:rPr lang="en-US" sz="2200" b="1">
                <a:solidFill>
                  <a:srgbClr val="1B4332"/>
                </a:solidFill>
                <a:latin typeface="Cambria"/>
                <a:ea typeface="Cambria"/>
                <a:cs typeface="Cambria"/>
              </a:rPr>
              <a:t>1</a:t>
            </a:r>
            <a:endParaRPr lang="en-US" sz="2200"/>
          </a:p>
        </p:txBody>
      </p:sp>
      <p:sp>
        <p:nvSpPr>
          <p:cNvPr id="218906608" name="Text 5"/>
          <p:cNvSpPr/>
          <p:nvPr/>
        </p:nvSpPr>
        <p:spPr bwMode="auto">
          <a:xfrm>
            <a:off x="658368" y="2971800"/>
            <a:ext cx="1865376" cy="594360"/>
          </a:xfrm>
          <a:prstGeom prst="rect">
            <a:avLst/>
          </a:prstGeom>
          <a:noFill/>
          <a:ln/>
        </p:spPr>
        <p:txBody>
          <a:bodyPr wrap="square" rtlCol="0" anchor="ctr"/>
          <a:lstStyle/>
          <a:p>
            <a:pPr marL="0" indent="0" algn="ctr">
              <a:buNone/>
              <a:defRPr/>
            </a:pPr>
            <a:r>
              <a:rPr lang="en-US" sz="1350" b="1">
                <a:solidFill>
                  <a:srgbClr val="FFFFFF"/>
                </a:solidFill>
                <a:latin typeface="Cambria"/>
                <a:ea typeface="Cambria"/>
                <a:cs typeface="Cambria"/>
              </a:rPr>
              <a:t>Siapkan Data</a:t>
            </a:r>
            <a:endParaRPr lang="en-US" sz="1350"/>
          </a:p>
        </p:txBody>
      </p:sp>
      <p:sp>
        <p:nvSpPr>
          <p:cNvPr id="2100487540" name="Text 6"/>
          <p:cNvSpPr/>
          <p:nvPr/>
        </p:nvSpPr>
        <p:spPr bwMode="auto">
          <a:xfrm>
            <a:off x="685800" y="3566160"/>
            <a:ext cx="1810512" cy="1828800"/>
          </a:xfrm>
          <a:prstGeom prst="rect">
            <a:avLst/>
          </a:prstGeom>
          <a:noFill/>
          <a:ln/>
        </p:spPr>
        <p:txBody>
          <a:bodyPr wrap="square" rtlCol="0" anchor="ctr"/>
          <a:lstStyle/>
          <a:p>
            <a:pPr marL="0" indent="0" algn="ctr">
              <a:lnSpc>
                <a:spcPct val="125000"/>
              </a:lnSpc>
              <a:buNone/>
              <a:defRPr/>
            </a:pPr>
            <a:r>
              <a:rPr lang="en-US" sz="1050">
                <a:solidFill>
                  <a:srgbClr val="E4F1E9"/>
                </a:solidFill>
                <a:latin typeface="Calibri"/>
                <a:ea typeface="Calibri"/>
                <a:cs typeface="Calibri"/>
              </a:rPr>
              <a:t>Ubah perlakuan &amp; blok menjadi factor()</a:t>
            </a:r>
            <a:endParaRPr lang="en-US" sz="1050"/>
          </a:p>
        </p:txBody>
      </p:sp>
      <p:sp>
        <p:nvSpPr>
          <p:cNvPr id="394865456" name="Text 7"/>
          <p:cNvSpPr/>
          <p:nvPr/>
        </p:nvSpPr>
        <p:spPr bwMode="auto">
          <a:xfrm>
            <a:off x="2638044" y="3474720"/>
            <a:ext cx="128016" cy="548640"/>
          </a:xfrm>
          <a:prstGeom prst="rect">
            <a:avLst/>
          </a:prstGeom>
          <a:noFill/>
          <a:ln/>
        </p:spPr>
        <p:txBody>
          <a:bodyPr wrap="square" rtlCol="0" anchor="ctr"/>
          <a:lstStyle/>
          <a:p>
            <a:pPr marL="0" indent="0" algn="ctr">
              <a:buNone/>
              <a:defRPr/>
            </a:pPr>
            <a:r>
              <a:rPr lang="en-US" sz="2200" b="1">
                <a:solidFill>
                  <a:srgbClr val="5C6B63"/>
                </a:solidFill>
                <a:latin typeface="Calibri"/>
                <a:ea typeface="Calibri"/>
                <a:cs typeface="Calibri"/>
              </a:rPr>
              <a:t>›</a:t>
            </a:r>
            <a:endParaRPr lang="en-US" sz="2200"/>
          </a:p>
        </p:txBody>
      </p:sp>
      <p:sp>
        <p:nvSpPr>
          <p:cNvPr id="162697263" name="Shape 8"/>
          <p:cNvSpPr/>
          <p:nvPr/>
        </p:nvSpPr>
        <p:spPr bwMode="auto">
          <a:xfrm>
            <a:off x="2770632" y="1965960"/>
            <a:ext cx="2084832" cy="3566160"/>
          </a:xfrm>
          <a:prstGeom prst="roundRect">
            <a:avLst>
              <a:gd name="adj" fmla="val 3947"/>
            </a:avLst>
          </a:prstGeom>
          <a:solidFill>
            <a:srgbClr val="2D6A4F"/>
          </a:solidFill>
          <a:ln/>
        </p:spPr>
      </p:sp>
      <p:sp>
        <p:nvSpPr>
          <p:cNvPr id="1182200083" name="Shape 9"/>
          <p:cNvSpPr/>
          <p:nvPr/>
        </p:nvSpPr>
        <p:spPr bwMode="auto">
          <a:xfrm>
            <a:off x="3520440" y="2221992"/>
            <a:ext cx="585216" cy="585216"/>
          </a:xfrm>
          <a:prstGeom prst="ellipse">
            <a:avLst/>
          </a:prstGeom>
          <a:solidFill>
            <a:srgbClr val="FFFFFF"/>
          </a:solidFill>
          <a:ln/>
        </p:spPr>
      </p:sp>
      <p:sp>
        <p:nvSpPr>
          <p:cNvPr id="1370504503" name="Text 10"/>
          <p:cNvSpPr/>
          <p:nvPr/>
        </p:nvSpPr>
        <p:spPr bwMode="auto">
          <a:xfrm>
            <a:off x="3520440" y="2221992"/>
            <a:ext cx="585216" cy="585216"/>
          </a:xfrm>
          <a:prstGeom prst="rect">
            <a:avLst/>
          </a:prstGeom>
          <a:noFill/>
          <a:ln/>
        </p:spPr>
        <p:txBody>
          <a:bodyPr wrap="square" rtlCol="0" anchor="ctr"/>
          <a:lstStyle/>
          <a:p>
            <a:pPr marL="0" indent="0" algn="ctr">
              <a:buNone/>
              <a:defRPr/>
            </a:pPr>
            <a:r>
              <a:rPr lang="en-US" sz="2200" b="1">
                <a:solidFill>
                  <a:srgbClr val="1B4332"/>
                </a:solidFill>
                <a:latin typeface="Cambria"/>
                <a:ea typeface="Cambria"/>
                <a:cs typeface="Cambria"/>
              </a:rPr>
              <a:t>2</a:t>
            </a:r>
            <a:endParaRPr lang="en-US" sz="2200"/>
          </a:p>
        </p:txBody>
      </p:sp>
      <p:sp>
        <p:nvSpPr>
          <p:cNvPr id="207724053" name="Text 11"/>
          <p:cNvSpPr/>
          <p:nvPr/>
        </p:nvSpPr>
        <p:spPr bwMode="auto">
          <a:xfrm>
            <a:off x="2880360" y="2971800"/>
            <a:ext cx="1865376" cy="594360"/>
          </a:xfrm>
          <a:prstGeom prst="rect">
            <a:avLst/>
          </a:prstGeom>
          <a:noFill/>
          <a:ln/>
        </p:spPr>
        <p:txBody>
          <a:bodyPr wrap="square" rtlCol="0" anchor="ctr"/>
          <a:lstStyle/>
          <a:p>
            <a:pPr marL="0" indent="0" algn="ctr">
              <a:buNone/>
              <a:defRPr/>
            </a:pPr>
            <a:r>
              <a:rPr lang="en-US" sz="1350" b="1">
                <a:solidFill>
                  <a:srgbClr val="FFFFFF"/>
                </a:solidFill>
                <a:latin typeface="Cambria"/>
                <a:ea typeface="Cambria"/>
                <a:cs typeface="Cambria"/>
              </a:rPr>
              <a:t>Eksplorasi</a:t>
            </a:r>
            <a:endParaRPr lang="en-US" sz="1350"/>
          </a:p>
        </p:txBody>
      </p:sp>
      <p:sp>
        <p:nvSpPr>
          <p:cNvPr id="1279686216" name="Text 12"/>
          <p:cNvSpPr/>
          <p:nvPr/>
        </p:nvSpPr>
        <p:spPr bwMode="auto">
          <a:xfrm>
            <a:off x="2907792" y="3566160"/>
            <a:ext cx="1810512" cy="1828800"/>
          </a:xfrm>
          <a:prstGeom prst="rect">
            <a:avLst/>
          </a:prstGeom>
          <a:noFill/>
          <a:ln/>
        </p:spPr>
        <p:txBody>
          <a:bodyPr wrap="square" rtlCol="0" anchor="ctr"/>
          <a:lstStyle/>
          <a:p>
            <a:pPr marL="0" indent="0" algn="ctr">
              <a:lnSpc>
                <a:spcPct val="125000"/>
              </a:lnSpc>
              <a:buNone/>
              <a:defRPr/>
            </a:pPr>
            <a:r>
              <a:rPr lang="en-US" sz="1050">
                <a:solidFill>
                  <a:srgbClr val="E4F1E9"/>
                </a:solidFill>
                <a:latin typeface="Calibri"/>
                <a:ea typeface="Calibri"/>
                <a:cs typeface="Calibri"/>
              </a:rPr>
              <a:t>Statistik deskriptif per perlakuan &amp; per blok</a:t>
            </a:r>
            <a:endParaRPr lang="en-US" sz="1050"/>
          </a:p>
        </p:txBody>
      </p:sp>
      <p:sp>
        <p:nvSpPr>
          <p:cNvPr id="484102594" name="Text 13"/>
          <p:cNvSpPr/>
          <p:nvPr/>
        </p:nvSpPr>
        <p:spPr bwMode="auto">
          <a:xfrm>
            <a:off x="4860036" y="3474720"/>
            <a:ext cx="128016" cy="548640"/>
          </a:xfrm>
          <a:prstGeom prst="rect">
            <a:avLst/>
          </a:prstGeom>
          <a:noFill/>
          <a:ln/>
        </p:spPr>
        <p:txBody>
          <a:bodyPr wrap="square" rtlCol="0" anchor="ctr"/>
          <a:lstStyle/>
          <a:p>
            <a:pPr marL="0" indent="0" algn="ctr">
              <a:buNone/>
              <a:defRPr/>
            </a:pPr>
            <a:r>
              <a:rPr lang="en-US" sz="2200" b="1">
                <a:solidFill>
                  <a:srgbClr val="5C6B63"/>
                </a:solidFill>
                <a:latin typeface="Calibri"/>
                <a:ea typeface="Calibri"/>
                <a:cs typeface="Calibri"/>
              </a:rPr>
              <a:t>›</a:t>
            </a:r>
            <a:endParaRPr lang="en-US" sz="2200"/>
          </a:p>
        </p:txBody>
      </p:sp>
      <p:sp>
        <p:nvSpPr>
          <p:cNvPr id="1293288555" name="Shape 14"/>
          <p:cNvSpPr/>
          <p:nvPr/>
        </p:nvSpPr>
        <p:spPr bwMode="auto">
          <a:xfrm>
            <a:off x="4992624" y="1965960"/>
            <a:ext cx="2084832" cy="3566160"/>
          </a:xfrm>
          <a:prstGeom prst="roundRect">
            <a:avLst>
              <a:gd name="adj" fmla="val 3947"/>
            </a:avLst>
          </a:prstGeom>
          <a:solidFill>
            <a:srgbClr val="1B4332"/>
          </a:solidFill>
          <a:ln/>
        </p:spPr>
      </p:sp>
      <p:sp>
        <p:nvSpPr>
          <p:cNvPr id="1547722039" name="Shape 15"/>
          <p:cNvSpPr/>
          <p:nvPr/>
        </p:nvSpPr>
        <p:spPr bwMode="auto">
          <a:xfrm>
            <a:off x="5742432" y="2221992"/>
            <a:ext cx="585216" cy="585216"/>
          </a:xfrm>
          <a:prstGeom prst="ellipse">
            <a:avLst/>
          </a:prstGeom>
          <a:solidFill>
            <a:srgbClr val="FFFFFF"/>
          </a:solidFill>
          <a:ln/>
        </p:spPr>
      </p:sp>
      <p:sp>
        <p:nvSpPr>
          <p:cNvPr id="2111114627" name="Text 16"/>
          <p:cNvSpPr/>
          <p:nvPr/>
        </p:nvSpPr>
        <p:spPr bwMode="auto">
          <a:xfrm>
            <a:off x="5742432" y="2221992"/>
            <a:ext cx="585216" cy="585216"/>
          </a:xfrm>
          <a:prstGeom prst="rect">
            <a:avLst/>
          </a:prstGeom>
          <a:noFill/>
          <a:ln/>
        </p:spPr>
        <p:txBody>
          <a:bodyPr wrap="square" rtlCol="0" anchor="ctr"/>
          <a:lstStyle/>
          <a:p>
            <a:pPr marL="0" indent="0" algn="ctr">
              <a:buNone/>
              <a:defRPr/>
            </a:pPr>
            <a:r>
              <a:rPr lang="en-US" sz="2200" b="1">
                <a:solidFill>
                  <a:srgbClr val="1B4332"/>
                </a:solidFill>
                <a:latin typeface="Cambria"/>
                <a:ea typeface="Cambria"/>
                <a:cs typeface="Cambria"/>
              </a:rPr>
              <a:t>3</a:t>
            </a:r>
            <a:endParaRPr lang="en-US" sz="2200"/>
          </a:p>
        </p:txBody>
      </p:sp>
      <p:sp>
        <p:nvSpPr>
          <p:cNvPr id="1054247934" name="Text 17"/>
          <p:cNvSpPr/>
          <p:nvPr/>
        </p:nvSpPr>
        <p:spPr bwMode="auto">
          <a:xfrm>
            <a:off x="5102352" y="2971800"/>
            <a:ext cx="1865376" cy="594360"/>
          </a:xfrm>
          <a:prstGeom prst="rect">
            <a:avLst/>
          </a:prstGeom>
          <a:noFill/>
          <a:ln/>
        </p:spPr>
        <p:txBody>
          <a:bodyPr wrap="square" rtlCol="0" anchor="ctr"/>
          <a:lstStyle/>
          <a:p>
            <a:pPr marL="0" indent="0" algn="ctr">
              <a:buNone/>
              <a:defRPr/>
            </a:pPr>
            <a:r>
              <a:rPr lang="en-US" sz="1350" b="1">
                <a:solidFill>
                  <a:srgbClr val="FFFFFF"/>
                </a:solidFill>
                <a:latin typeface="Cambria"/>
                <a:ea typeface="Cambria"/>
                <a:cs typeface="Cambria"/>
              </a:rPr>
              <a:t>Model RAK</a:t>
            </a:r>
            <a:endParaRPr lang="en-US" sz="1350"/>
          </a:p>
        </p:txBody>
      </p:sp>
      <p:sp>
        <p:nvSpPr>
          <p:cNvPr id="523838768" name="Text 18"/>
          <p:cNvSpPr/>
          <p:nvPr/>
        </p:nvSpPr>
        <p:spPr bwMode="auto">
          <a:xfrm>
            <a:off x="5129784" y="3566160"/>
            <a:ext cx="1810512" cy="1828800"/>
          </a:xfrm>
          <a:prstGeom prst="rect">
            <a:avLst/>
          </a:prstGeom>
          <a:noFill/>
          <a:ln/>
        </p:spPr>
        <p:txBody>
          <a:bodyPr wrap="square" rtlCol="0" anchor="ctr"/>
          <a:lstStyle/>
          <a:p>
            <a:pPr marL="0" indent="0" algn="ctr">
              <a:lnSpc>
                <a:spcPct val="125000"/>
              </a:lnSpc>
              <a:buNone/>
              <a:defRPr/>
            </a:pPr>
            <a:r>
              <a:rPr lang="en-US" sz="1050">
                <a:solidFill>
                  <a:srgbClr val="E4F1E9"/>
                </a:solidFill>
                <a:latin typeface="Calibri"/>
                <a:ea typeface="Calibri"/>
                <a:cs typeface="Calibri"/>
              </a:rPr>
              <a:t>aov(tinggi_cm ~ perlakuan + blok)</a:t>
            </a:r>
            <a:endParaRPr lang="en-US" sz="1050"/>
          </a:p>
        </p:txBody>
      </p:sp>
      <p:sp>
        <p:nvSpPr>
          <p:cNvPr id="1074895378" name="Text 19"/>
          <p:cNvSpPr/>
          <p:nvPr/>
        </p:nvSpPr>
        <p:spPr bwMode="auto">
          <a:xfrm>
            <a:off x="7082028" y="3474720"/>
            <a:ext cx="128016" cy="548640"/>
          </a:xfrm>
          <a:prstGeom prst="rect">
            <a:avLst/>
          </a:prstGeom>
          <a:noFill/>
          <a:ln/>
        </p:spPr>
        <p:txBody>
          <a:bodyPr wrap="square" rtlCol="0" anchor="ctr"/>
          <a:lstStyle/>
          <a:p>
            <a:pPr marL="0" indent="0" algn="ctr">
              <a:buNone/>
              <a:defRPr/>
            </a:pPr>
            <a:r>
              <a:rPr lang="en-US" sz="2200" b="1">
                <a:solidFill>
                  <a:srgbClr val="5C6B63"/>
                </a:solidFill>
                <a:latin typeface="Calibri"/>
                <a:ea typeface="Calibri"/>
                <a:cs typeface="Calibri"/>
              </a:rPr>
              <a:t>›</a:t>
            </a:r>
            <a:endParaRPr lang="en-US" sz="2200"/>
          </a:p>
        </p:txBody>
      </p:sp>
      <p:sp>
        <p:nvSpPr>
          <p:cNvPr id="651265303" name="Shape 20"/>
          <p:cNvSpPr/>
          <p:nvPr/>
        </p:nvSpPr>
        <p:spPr bwMode="auto">
          <a:xfrm>
            <a:off x="7214616" y="1965960"/>
            <a:ext cx="2084832" cy="3566160"/>
          </a:xfrm>
          <a:prstGeom prst="roundRect">
            <a:avLst>
              <a:gd name="adj" fmla="val 3947"/>
            </a:avLst>
          </a:prstGeom>
          <a:solidFill>
            <a:srgbClr val="2D6A4F"/>
          </a:solidFill>
          <a:ln/>
        </p:spPr>
      </p:sp>
      <p:sp>
        <p:nvSpPr>
          <p:cNvPr id="58350543" name="Shape 21"/>
          <p:cNvSpPr/>
          <p:nvPr/>
        </p:nvSpPr>
        <p:spPr bwMode="auto">
          <a:xfrm>
            <a:off x="7964424" y="2221992"/>
            <a:ext cx="585216" cy="585216"/>
          </a:xfrm>
          <a:prstGeom prst="ellipse">
            <a:avLst/>
          </a:prstGeom>
          <a:solidFill>
            <a:srgbClr val="FFFFFF"/>
          </a:solidFill>
          <a:ln/>
        </p:spPr>
      </p:sp>
      <p:sp>
        <p:nvSpPr>
          <p:cNvPr id="2048526003" name="Text 22"/>
          <p:cNvSpPr/>
          <p:nvPr/>
        </p:nvSpPr>
        <p:spPr bwMode="auto">
          <a:xfrm>
            <a:off x="7964424" y="2221992"/>
            <a:ext cx="585216" cy="585216"/>
          </a:xfrm>
          <a:prstGeom prst="rect">
            <a:avLst/>
          </a:prstGeom>
          <a:noFill/>
          <a:ln/>
        </p:spPr>
        <p:txBody>
          <a:bodyPr wrap="square" rtlCol="0" anchor="ctr"/>
          <a:lstStyle/>
          <a:p>
            <a:pPr marL="0" indent="0" algn="ctr">
              <a:buNone/>
              <a:defRPr/>
            </a:pPr>
            <a:r>
              <a:rPr lang="en-US" sz="2200" b="1">
                <a:solidFill>
                  <a:srgbClr val="1B4332"/>
                </a:solidFill>
                <a:latin typeface="Cambria"/>
                <a:ea typeface="Cambria"/>
                <a:cs typeface="Cambria"/>
              </a:rPr>
              <a:t>4</a:t>
            </a:r>
            <a:endParaRPr lang="en-US" sz="2200"/>
          </a:p>
        </p:txBody>
      </p:sp>
      <p:sp>
        <p:nvSpPr>
          <p:cNvPr id="1195854956" name="Text 23"/>
          <p:cNvSpPr/>
          <p:nvPr/>
        </p:nvSpPr>
        <p:spPr bwMode="auto">
          <a:xfrm>
            <a:off x="7324344" y="2971800"/>
            <a:ext cx="1865376" cy="594360"/>
          </a:xfrm>
          <a:prstGeom prst="rect">
            <a:avLst/>
          </a:prstGeom>
          <a:noFill/>
          <a:ln/>
        </p:spPr>
        <p:txBody>
          <a:bodyPr wrap="square" rtlCol="0" anchor="ctr"/>
          <a:lstStyle/>
          <a:p>
            <a:pPr marL="0" indent="0" algn="ctr">
              <a:buNone/>
              <a:defRPr/>
            </a:pPr>
            <a:r>
              <a:rPr lang="en-US" sz="1350" b="1">
                <a:solidFill>
                  <a:srgbClr val="FFFFFF"/>
                </a:solidFill>
                <a:latin typeface="Cambria"/>
                <a:ea typeface="Cambria"/>
                <a:cs typeface="Cambria"/>
              </a:rPr>
              <a:t>Uji Lanjut</a:t>
            </a:r>
            <a:endParaRPr lang="en-US" sz="1350"/>
          </a:p>
        </p:txBody>
      </p:sp>
      <p:sp>
        <p:nvSpPr>
          <p:cNvPr id="2067356066" name="Text 24"/>
          <p:cNvSpPr/>
          <p:nvPr/>
        </p:nvSpPr>
        <p:spPr bwMode="auto">
          <a:xfrm>
            <a:off x="7351776" y="3566160"/>
            <a:ext cx="1810512" cy="1828800"/>
          </a:xfrm>
          <a:prstGeom prst="rect">
            <a:avLst/>
          </a:prstGeom>
          <a:noFill/>
          <a:ln/>
        </p:spPr>
        <p:txBody>
          <a:bodyPr wrap="square" rtlCol="0" anchor="ctr"/>
          <a:lstStyle/>
          <a:p>
            <a:pPr marL="0" indent="0" algn="ctr">
              <a:lnSpc>
                <a:spcPct val="125000"/>
              </a:lnSpc>
              <a:buNone/>
              <a:defRPr/>
            </a:pPr>
            <a:r>
              <a:rPr lang="en-US" sz="1050">
                <a:solidFill>
                  <a:srgbClr val="E4F1E9"/>
                </a:solidFill>
                <a:latin typeface="Calibri"/>
                <a:ea typeface="Calibri"/>
                <a:cs typeface="Calibri"/>
              </a:rPr>
              <a:t>TukeyHSD(model, "perlakuan") — khusus perlakuan</a:t>
            </a:r>
            <a:endParaRPr lang="en-US" sz="1050"/>
          </a:p>
        </p:txBody>
      </p:sp>
      <p:sp>
        <p:nvSpPr>
          <p:cNvPr id="1336826363" name="Text 25"/>
          <p:cNvSpPr/>
          <p:nvPr/>
        </p:nvSpPr>
        <p:spPr bwMode="auto">
          <a:xfrm>
            <a:off x="9304020" y="3474720"/>
            <a:ext cx="128016" cy="548640"/>
          </a:xfrm>
          <a:prstGeom prst="rect">
            <a:avLst/>
          </a:prstGeom>
          <a:noFill/>
          <a:ln/>
        </p:spPr>
        <p:txBody>
          <a:bodyPr wrap="square" rtlCol="0" anchor="ctr"/>
          <a:lstStyle/>
          <a:p>
            <a:pPr marL="0" indent="0" algn="ctr">
              <a:buNone/>
              <a:defRPr/>
            </a:pPr>
            <a:r>
              <a:rPr lang="en-US" sz="2200" b="1">
                <a:solidFill>
                  <a:srgbClr val="5C6B63"/>
                </a:solidFill>
                <a:latin typeface="Calibri"/>
                <a:ea typeface="Calibri"/>
                <a:cs typeface="Calibri"/>
              </a:rPr>
              <a:t>›</a:t>
            </a:r>
            <a:endParaRPr lang="en-US" sz="2200"/>
          </a:p>
        </p:txBody>
      </p:sp>
      <p:sp>
        <p:nvSpPr>
          <p:cNvPr id="829436299" name="Shape 26"/>
          <p:cNvSpPr/>
          <p:nvPr/>
        </p:nvSpPr>
        <p:spPr bwMode="auto">
          <a:xfrm>
            <a:off x="9436608" y="1965960"/>
            <a:ext cx="2084832" cy="3566160"/>
          </a:xfrm>
          <a:prstGeom prst="roundRect">
            <a:avLst>
              <a:gd name="adj" fmla="val 3947"/>
            </a:avLst>
          </a:prstGeom>
          <a:solidFill>
            <a:srgbClr val="2D6A4F"/>
          </a:solidFill>
          <a:ln/>
        </p:spPr>
      </p:sp>
      <p:sp>
        <p:nvSpPr>
          <p:cNvPr id="922388014" name="Shape 27"/>
          <p:cNvSpPr/>
          <p:nvPr/>
        </p:nvSpPr>
        <p:spPr bwMode="auto">
          <a:xfrm>
            <a:off x="10186416" y="2221992"/>
            <a:ext cx="585216" cy="585216"/>
          </a:xfrm>
          <a:prstGeom prst="ellipse">
            <a:avLst/>
          </a:prstGeom>
          <a:solidFill>
            <a:srgbClr val="FFFFFF"/>
          </a:solidFill>
          <a:ln/>
        </p:spPr>
      </p:sp>
      <p:sp>
        <p:nvSpPr>
          <p:cNvPr id="1211657302" name="Text 28"/>
          <p:cNvSpPr/>
          <p:nvPr/>
        </p:nvSpPr>
        <p:spPr bwMode="auto">
          <a:xfrm>
            <a:off x="10186416" y="2221992"/>
            <a:ext cx="585216" cy="585216"/>
          </a:xfrm>
          <a:prstGeom prst="rect">
            <a:avLst/>
          </a:prstGeom>
          <a:noFill/>
          <a:ln/>
        </p:spPr>
        <p:txBody>
          <a:bodyPr wrap="square" rtlCol="0" anchor="ctr"/>
          <a:lstStyle/>
          <a:p>
            <a:pPr marL="0" indent="0" algn="ctr">
              <a:buNone/>
              <a:defRPr/>
            </a:pPr>
            <a:r>
              <a:rPr lang="en-US" sz="2200" b="1">
                <a:solidFill>
                  <a:srgbClr val="1B4332"/>
                </a:solidFill>
                <a:latin typeface="Cambria"/>
                <a:ea typeface="Cambria"/>
                <a:cs typeface="Cambria"/>
              </a:rPr>
              <a:t>5</a:t>
            </a:r>
            <a:endParaRPr lang="en-US" sz="2200"/>
          </a:p>
        </p:txBody>
      </p:sp>
      <p:sp>
        <p:nvSpPr>
          <p:cNvPr id="199330783" name="Text 29"/>
          <p:cNvSpPr/>
          <p:nvPr/>
        </p:nvSpPr>
        <p:spPr bwMode="auto">
          <a:xfrm>
            <a:off x="9546336" y="2971800"/>
            <a:ext cx="1865376" cy="594360"/>
          </a:xfrm>
          <a:prstGeom prst="rect">
            <a:avLst/>
          </a:prstGeom>
          <a:noFill/>
          <a:ln/>
        </p:spPr>
        <p:txBody>
          <a:bodyPr wrap="square" rtlCol="0" anchor="ctr"/>
          <a:lstStyle/>
          <a:p>
            <a:pPr marL="0" indent="0" algn="ctr">
              <a:buNone/>
              <a:defRPr/>
            </a:pPr>
            <a:r>
              <a:rPr lang="en-US" sz="1350" b="1">
                <a:solidFill>
                  <a:srgbClr val="FFFFFF"/>
                </a:solidFill>
                <a:latin typeface="Cambria"/>
                <a:ea typeface="Cambria"/>
                <a:cs typeface="Cambria"/>
              </a:rPr>
              <a:t>Cek Asumsi</a:t>
            </a:r>
            <a:endParaRPr lang="en-US" sz="1350"/>
          </a:p>
        </p:txBody>
      </p:sp>
      <p:sp>
        <p:nvSpPr>
          <p:cNvPr id="1412679581" name="Text 30"/>
          <p:cNvSpPr/>
          <p:nvPr/>
        </p:nvSpPr>
        <p:spPr bwMode="auto">
          <a:xfrm>
            <a:off x="9573768" y="3566160"/>
            <a:ext cx="1810512" cy="1828800"/>
          </a:xfrm>
          <a:prstGeom prst="rect">
            <a:avLst/>
          </a:prstGeom>
          <a:noFill/>
          <a:ln/>
        </p:spPr>
        <p:txBody>
          <a:bodyPr wrap="square" rtlCol="0" anchor="ctr"/>
          <a:lstStyle/>
          <a:p>
            <a:pPr marL="0" indent="0" algn="ctr">
              <a:lnSpc>
                <a:spcPct val="125000"/>
              </a:lnSpc>
              <a:buNone/>
              <a:defRPr/>
            </a:pPr>
            <a:r>
              <a:rPr lang="en-US" sz="1050">
                <a:solidFill>
                  <a:srgbClr val="E4F1E9"/>
                </a:solidFill>
                <a:latin typeface="Calibri"/>
                <a:ea typeface="Calibri"/>
                <a:cs typeface="Calibri"/>
              </a:rPr>
              <a:t>plot(model): residual sudah bersih dari blok</a:t>
            </a:r>
            <a:endParaRPr lang="en-US" sz="1050"/>
          </a:p>
        </p:txBody>
      </p:sp>
      <p:sp>
        <p:nvSpPr>
          <p:cNvPr id="2029775761" name="Shape 31"/>
          <p:cNvSpPr/>
          <p:nvPr/>
        </p:nvSpPr>
        <p:spPr bwMode="auto">
          <a:xfrm>
            <a:off x="548640" y="5760720"/>
            <a:ext cx="11064240" cy="594360"/>
          </a:xfrm>
          <a:prstGeom prst="roundRect">
            <a:avLst>
              <a:gd name="adj" fmla="val 9231"/>
            </a:avLst>
          </a:prstGeom>
          <a:solidFill>
            <a:srgbClr val="EDEDED"/>
          </a:solidFill>
          <a:ln/>
        </p:spPr>
      </p:sp>
      <p:sp>
        <p:nvSpPr>
          <p:cNvPr id="985811076" name="Text 32"/>
          <p:cNvSpPr/>
          <p:nvPr/>
        </p:nvSpPr>
        <p:spPr bwMode="auto">
          <a:xfrm>
            <a:off x="548640" y="5760720"/>
            <a:ext cx="11064240" cy="594360"/>
          </a:xfrm>
          <a:prstGeom prst="rect">
            <a:avLst/>
          </a:prstGeom>
          <a:noFill/>
          <a:ln/>
        </p:spPr>
        <p:txBody>
          <a:bodyPr wrap="square" rtlCol="0" anchor="ctr"/>
          <a:lstStyle/>
          <a:p>
            <a:pPr marL="0" indent="0">
              <a:buNone/>
              <a:defRPr/>
            </a:pPr>
            <a:r>
              <a:rPr lang="en-US" sz="1150" b="1">
                <a:solidFill>
                  <a:srgbClr val="1B4332"/>
                </a:solidFill>
              </a:rPr>
              <a:t>  Kode inti:  </a:t>
            </a:r>
            <a:r>
              <a:rPr lang="en-US" sz="1150">
                <a:solidFill>
                  <a:srgbClr val="1B2A22"/>
                </a:solidFill>
                <a:latin typeface="Courier New"/>
                <a:ea typeface="Courier New"/>
                <a:cs typeface="Courier New"/>
              </a:rPr>
              <a:t>model &lt;- aov(tinggi_cm ~ perlakuan + blok, data = data)  →  summary(model)</a:t>
            </a:r>
            <a:endParaRPr lang="en-US" sz="1150"/>
          </a:p>
        </p:txBody>
      </p:sp>
      <p:sp>
        <p:nvSpPr>
          <p:cNvPr id="801515824" name="Text 33"/>
          <p:cNvSpPr/>
          <p:nvPr/>
        </p:nvSpPr>
        <p:spPr bwMode="auto">
          <a:xfrm>
            <a:off x="457200" y="6473952"/>
            <a:ext cx="7315200" cy="274320"/>
          </a:xfrm>
          <a:prstGeom prst="rect">
            <a:avLst/>
          </a:prstGeom>
          <a:noFill/>
          <a:ln/>
        </p:spPr>
        <p:txBody>
          <a:bodyPr wrap="square" rtlCol="0" anchor="ctr"/>
          <a:lstStyle/>
          <a:p>
            <a:pPr marL="0" indent="0" algn="l">
              <a:buNone/>
              <a:defRPr/>
            </a:pPr>
            <a:r>
              <a:rPr lang="en-US" sz="900">
                <a:solidFill>
                  <a:srgbClr val="5C6B63"/>
                </a:solidFill>
                <a:latin typeface="Calibri"/>
                <a:ea typeface="Calibri"/>
                <a:cs typeface="Calibri"/>
              </a:rPr>
              <a:t>RAK — Biostatistika untuk Biologi</a:t>
            </a:r>
            <a:endParaRPr lang="en-US" sz="900"/>
          </a:p>
        </p:txBody>
      </p:sp>
      <p:sp>
        <p:nvSpPr>
          <p:cNvPr id="2092593466" name="Text 34"/>
          <p:cNvSpPr/>
          <p:nvPr/>
        </p:nvSpPr>
        <p:spPr bwMode="auto">
          <a:xfrm>
            <a:off x="11274552" y="6473952"/>
            <a:ext cx="457200" cy="274320"/>
          </a:xfrm>
          <a:prstGeom prst="rect">
            <a:avLst/>
          </a:prstGeom>
          <a:noFill/>
          <a:ln/>
        </p:spPr>
        <p:txBody>
          <a:bodyPr wrap="square" rtlCol="0" anchor="ctr"/>
          <a:lstStyle/>
          <a:p>
            <a:pPr marL="0" indent="0" algn="r">
              <a:buNone/>
              <a:defRPr/>
            </a:pPr>
            <a:r>
              <a:rPr lang="en-US" sz="900">
                <a:solidFill>
                  <a:srgbClr val="5C6B63"/>
                </a:solidFill>
                <a:latin typeface="Calibri"/>
                <a:ea typeface="Calibri"/>
                <a:cs typeface="Calibri"/>
              </a:rPr>
              <a:t>7</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7FAF7"/>
        </a:solidFill>
      </p:bgPr>
    </p:bg>
    <p:spTree>
      <p:nvGrpSpPr>
        <p:cNvPr id="1" name=""/>
        <p:cNvGrpSpPr/>
        <p:nvPr/>
      </p:nvGrpSpPr>
      <p:grpSpPr bwMode="auto">
        <a:xfrm>
          <a:off x="0" y="0"/>
          <a:ext cx="0" cy="0"/>
          <a:chOff x="0" y="0"/>
          <a:chExt cx="0" cy="0"/>
        </a:xfrm>
      </p:grpSpPr>
      <p:sp>
        <p:nvSpPr>
          <p:cNvPr id="1149964168" name="Text 0"/>
          <p:cNvSpPr/>
          <p:nvPr/>
        </p:nvSpPr>
        <p:spPr bwMode="auto">
          <a:xfrm>
            <a:off x="548640" y="384048"/>
            <a:ext cx="9144000" cy="320040"/>
          </a:xfrm>
          <a:prstGeom prst="rect">
            <a:avLst/>
          </a:prstGeom>
          <a:noFill/>
          <a:ln/>
        </p:spPr>
        <p:txBody>
          <a:bodyPr wrap="square" rtlCol="0" anchor="ctr"/>
          <a:lstStyle/>
          <a:p>
            <a:pPr marL="0" indent="0">
              <a:buNone/>
              <a:defRPr/>
            </a:pPr>
            <a:r>
              <a:rPr lang="en-US" sz="1200" b="1" spc="200">
                <a:solidFill>
                  <a:srgbClr val="2D6A4F"/>
                </a:solidFill>
                <a:latin typeface="Calibri"/>
                <a:ea typeface="Calibri"/>
                <a:cs typeface="Calibri"/>
              </a:rPr>
              <a:t>2.4.2 · EKSPLORASI DATA</a:t>
            </a:r>
            <a:endParaRPr lang="en-US" sz="1200"/>
          </a:p>
        </p:txBody>
      </p:sp>
      <p:sp>
        <p:nvSpPr>
          <p:cNvPr id="1064234986" name="Text 1"/>
          <p:cNvSpPr/>
          <p:nvPr/>
        </p:nvSpPr>
        <p:spPr bwMode="auto">
          <a:xfrm>
            <a:off x="548640" y="658368"/>
            <a:ext cx="11064240" cy="822960"/>
          </a:xfrm>
          <a:prstGeom prst="rect">
            <a:avLst/>
          </a:prstGeom>
          <a:noFill/>
          <a:ln/>
        </p:spPr>
        <p:txBody>
          <a:bodyPr wrap="square" rtlCol="0" anchor="ctr"/>
          <a:lstStyle/>
          <a:p>
            <a:pPr marL="0" indent="0">
              <a:buNone/>
              <a:defRPr/>
            </a:pPr>
            <a:r>
              <a:rPr lang="en-US" sz="3000" b="1">
                <a:solidFill>
                  <a:srgbClr val="1B4332"/>
                </a:solidFill>
                <a:latin typeface="Cambria"/>
                <a:ea typeface="Cambria"/>
                <a:cs typeface="Cambria"/>
              </a:rPr>
              <a:t>Ringkasan per Perlakuan &amp; per Blok</a:t>
            </a:r>
            <a:endParaRPr lang="en-US" sz="3000"/>
          </a:p>
        </p:txBody>
      </p:sp>
      <p:sp>
        <p:nvSpPr>
          <p:cNvPr id="455128107" name="Text 2"/>
          <p:cNvSpPr/>
          <p:nvPr/>
        </p:nvSpPr>
        <p:spPr bwMode="auto">
          <a:xfrm>
            <a:off x="548640" y="1691640"/>
            <a:ext cx="5486400" cy="365760"/>
          </a:xfrm>
          <a:prstGeom prst="rect">
            <a:avLst/>
          </a:prstGeom>
          <a:noFill/>
          <a:ln/>
        </p:spPr>
        <p:txBody>
          <a:bodyPr wrap="square" rtlCol="0" anchor="ctr"/>
          <a:lstStyle/>
          <a:p>
            <a:pPr marL="0" indent="0">
              <a:buNone/>
              <a:defRPr/>
            </a:pPr>
            <a:r>
              <a:rPr lang="en-US" sz="1500" b="1">
                <a:solidFill>
                  <a:srgbClr val="1B4332"/>
                </a:solidFill>
                <a:latin typeface="Cambria"/>
                <a:ea typeface="Cambria"/>
                <a:cs typeface="Cambria"/>
              </a:rPr>
              <a:t>Rata-rata per Dosis Pupuk</a:t>
            </a:r>
            <a:endParaRPr lang="en-US" sz="1500"/>
          </a:p>
        </p:txBody>
      </p:sp>
      <p:sp>
        <p:nvSpPr>
          <p:cNvPr id="686523830" name="Shape 3"/>
          <p:cNvSpPr/>
          <p:nvPr/>
        </p:nvSpPr>
        <p:spPr bwMode="auto">
          <a:xfrm>
            <a:off x="548640" y="2103120"/>
            <a:ext cx="2194560" cy="365760"/>
          </a:xfrm>
          <a:prstGeom prst="rect">
            <a:avLst/>
          </a:prstGeom>
          <a:solidFill>
            <a:srgbClr val="1B4332"/>
          </a:solidFill>
          <a:ln/>
        </p:spPr>
      </p:sp>
      <p:sp>
        <p:nvSpPr>
          <p:cNvPr id="568399563" name="Text 4"/>
          <p:cNvSpPr/>
          <p:nvPr/>
        </p:nvSpPr>
        <p:spPr bwMode="auto">
          <a:xfrm>
            <a:off x="548640" y="2103120"/>
            <a:ext cx="2194560" cy="365760"/>
          </a:xfrm>
          <a:prstGeom prst="rect">
            <a:avLst/>
          </a:prstGeom>
          <a:noFill/>
          <a:ln/>
        </p:spPr>
        <p:txBody>
          <a:bodyPr wrap="square" lIns="73152" tIns="73152" rIns="73152" bIns="73152" rtlCol="0" anchor="ctr"/>
          <a:lstStyle/>
          <a:p>
            <a:pPr marL="0" indent="0" algn="l">
              <a:buNone/>
              <a:defRPr/>
            </a:pPr>
            <a:r>
              <a:rPr lang="en-US" sz="1100" b="1">
                <a:solidFill>
                  <a:srgbClr val="FFFFFF"/>
                </a:solidFill>
                <a:latin typeface="Calibri"/>
                <a:ea typeface="Calibri"/>
                <a:cs typeface="Calibri"/>
              </a:rPr>
              <a:t>Dosis</a:t>
            </a:r>
            <a:endParaRPr lang="en-US" sz="1100"/>
          </a:p>
        </p:txBody>
      </p:sp>
      <p:sp>
        <p:nvSpPr>
          <p:cNvPr id="1389281854" name="Shape 5"/>
          <p:cNvSpPr/>
          <p:nvPr/>
        </p:nvSpPr>
        <p:spPr bwMode="auto">
          <a:xfrm>
            <a:off x="2743200" y="2103120"/>
            <a:ext cx="822960" cy="365760"/>
          </a:xfrm>
          <a:prstGeom prst="rect">
            <a:avLst/>
          </a:prstGeom>
          <a:solidFill>
            <a:srgbClr val="1B4332"/>
          </a:solidFill>
          <a:ln/>
        </p:spPr>
      </p:sp>
      <p:sp>
        <p:nvSpPr>
          <p:cNvPr id="932122043" name="Text 6"/>
          <p:cNvSpPr/>
          <p:nvPr/>
        </p:nvSpPr>
        <p:spPr bwMode="auto">
          <a:xfrm>
            <a:off x="2743200" y="2103120"/>
            <a:ext cx="822960" cy="365760"/>
          </a:xfrm>
          <a:prstGeom prst="rect">
            <a:avLst/>
          </a:prstGeom>
          <a:noFill/>
          <a:ln/>
        </p:spPr>
        <p:txBody>
          <a:bodyPr wrap="square" lIns="73152" tIns="73152" rIns="73152" bIns="73152" rtlCol="0" anchor="ctr"/>
          <a:lstStyle/>
          <a:p>
            <a:pPr marL="0" indent="0" algn="ctr">
              <a:buNone/>
              <a:defRPr/>
            </a:pPr>
            <a:r>
              <a:rPr lang="en-US" sz="1100" b="1">
                <a:solidFill>
                  <a:srgbClr val="FFFFFF"/>
                </a:solidFill>
                <a:latin typeface="Calibri"/>
                <a:ea typeface="Calibri"/>
                <a:cs typeface="Calibri"/>
              </a:rPr>
              <a:t>n</a:t>
            </a:r>
            <a:endParaRPr lang="en-US" sz="1100"/>
          </a:p>
        </p:txBody>
      </p:sp>
      <p:sp>
        <p:nvSpPr>
          <p:cNvPr id="941611520" name="Shape 7"/>
          <p:cNvSpPr/>
          <p:nvPr/>
        </p:nvSpPr>
        <p:spPr bwMode="auto">
          <a:xfrm>
            <a:off x="3566160" y="2103120"/>
            <a:ext cx="2011680" cy="365760"/>
          </a:xfrm>
          <a:prstGeom prst="rect">
            <a:avLst/>
          </a:prstGeom>
          <a:solidFill>
            <a:srgbClr val="1B4332"/>
          </a:solidFill>
          <a:ln/>
        </p:spPr>
      </p:sp>
      <p:sp>
        <p:nvSpPr>
          <p:cNvPr id="388758043" name="Text 8"/>
          <p:cNvSpPr/>
          <p:nvPr/>
        </p:nvSpPr>
        <p:spPr bwMode="auto">
          <a:xfrm>
            <a:off x="3566160" y="2103120"/>
            <a:ext cx="2011680" cy="365760"/>
          </a:xfrm>
          <a:prstGeom prst="rect">
            <a:avLst/>
          </a:prstGeom>
          <a:noFill/>
          <a:ln/>
        </p:spPr>
        <p:txBody>
          <a:bodyPr wrap="square" lIns="73152" tIns="73152" rIns="73152" bIns="73152" rtlCol="0" anchor="ctr"/>
          <a:lstStyle/>
          <a:p>
            <a:pPr marL="0" indent="0" algn="ctr">
              <a:buNone/>
              <a:defRPr/>
            </a:pPr>
            <a:r>
              <a:rPr lang="en-US" sz="1100" b="1">
                <a:solidFill>
                  <a:srgbClr val="FFFFFF"/>
                </a:solidFill>
                <a:latin typeface="Calibri"/>
                <a:ea typeface="Calibri"/>
                <a:cs typeface="Calibri"/>
              </a:rPr>
              <a:t>Rata-rata</a:t>
            </a:r>
            <a:endParaRPr lang="en-US" sz="1100"/>
          </a:p>
        </p:txBody>
      </p:sp>
      <p:sp>
        <p:nvSpPr>
          <p:cNvPr id="476469664" name="Shape 9"/>
          <p:cNvSpPr/>
          <p:nvPr/>
        </p:nvSpPr>
        <p:spPr bwMode="auto">
          <a:xfrm>
            <a:off x="548640" y="2468880"/>
            <a:ext cx="2194560" cy="365760"/>
          </a:xfrm>
          <a:prstGeom prst="rect">
            <a:avLst/>
          </a:prstGeom>
          <a:solidFill>
            <a:srgbClr val="FFFFFF"/>
          </a:solidFill>
          <a:ln w="9525">
            <a:solidFill>
              <a:srgbClr val="DDEEE3"/>
            </a:solidFill>
            <a:prstDash val="solid"/>
          </a:ln>
        </p:spPr>
      </p:sp>
      <p:sp>
        <p:nvSpPr>
          <p:cNvPr id="606855671" name="Text 10"/>
          <p:cNvSpPr/>
          <p:nvPr/>
        </p:nvSpPr>
        <p:spPr bwMode="auto">
          <a:xfrm>
            <a:off x="548640" y="2468880"/>
            <a:ext cx="2194560" cy="365760"/>
          </a:xfrm>
          <a:prstGeom prst="rect">
            <a:avLst/>
          </a:prstGeom>
          <a:noFill/>
          <a:ln/>
        </p:spPr>
        <p:txBody>
          <a:bodyPr wrap="square" lIns="73152" tIns="73152" rIns="73152" bIns="73152" rtlCol="0" anchor="ctr"/>
          <a:lstStyle/>
          <a:p>
            <a:pPr marL="0" indent="0" algn="l">
              <a:buNone/>
              <a:defRPr/>
            </a:pPr>
            <a:r>
              <a:rPr lang="en-US" sz="1100">
                <a:solidFill>
                  <a:srgbClr val="1B2A22"/>
                </a:solidFill>
                <a:latin typeface="Calibri"/>
                <a:ea typeface="Calibri"/>
                <a:cs typeface="Calibri"/>
              </a:rPr>
              <a:t>D0 (Kontrol)</a:t>
            </a:r>
            <a:endParaRPr lang="en-US" sz="1100"/>
          </a:p>
        </p:txBody>
      </p:sp>
      <p:sp>
        <p:nvSpPr>
          <p:cNvPr id="1565075243" name="Shape 11"/>
          <p:cNvSpPr/>
          <p:nvPr/>
        </p:nvSpPr>
        <p:spPr bwMode="auto">
          <a:xfrm>
            <a:off x="2743200" y="2468880"/>
            <a:ext cx="822960" cy="365760"/>
          </a:xfrm>
          <a:prstGeom prst="rect">
            <a:avLst/>
          </a:prstGeom>
          <a:solidFill>
            <a:srgbClr val="FFFFFF"/>
          </a:solidFill>
          <a:ln w="9525">
            <a:solidFill>
              <a:srgbClr val="DDEEE3"/>
            </a:solidFill>
            <a:prstDash val="solid"/>
          </a:ln>
        </p:spPr>
      </p:sp>
      <p:sp>
        <p:nvSpPr>
          <p:cNvPr id="1076822833" name="Text 12"/>
          <p:cNvSpPr/>
          <p:nvPr/>
        </p:nvSpPr>
        <p:spPr bwMode="auto">
          <a:xfrm>
            <a:off x="2743200" y="2468880"/>
            <a:ext cx="82296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3</a:t>
            </a:r>
            <a:endParaRPr lang="en-US" sz="1100"/>
          </a:p>
        </p:txBody>
      </p:sp>
      <p:sp>
        <p:nvSpPr>
          <p:cNvPr id="323924393" name="Shape 13"/>
          <p:cNvSpPr/>
          <p:nvPr/>
        </p:nvSpPr>
        <p:spPr bwMode="auto">
          <a:xfrm>
            <a:off x="3566160" y="2468880"/>
            <a:ext cx="2011680" cy="365760"/>
          </a:xfrm>
          <a:prstGeom prst="rect">
            <a:avLst/>
          </a:prstGeom>
          <a:solidFill>
            <a:srgbClr val="FFFFFF"/>
          </a:solidFill>
          <a:ln w="9525">
            <a:solidFill>
              <a:srgbClr val="DDEEE3"/>
            </a:solidFill>
            <a:prstDash val="solid"/>
          </a:ln>
        </p:spPr>
      </p:sp>
      <p:sp>
        <p:nvSpPr>
          <p:cNvPr id="514747991" name="Text 14"/>
          <p:cNvSpPr/>
          <p:nvPr/>
        </p:nvSpPr>
        <p:spPr bwMode="auto">
          <a:xfrm>
            <a:off x="3566160" y="2468880"/>
            <a:ext cx="201168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22.1 cm</a:t>
            </a:r>
            <a:endParaRPr lang="en-US" sz="1100"/>
          </a:p>
        </p:txBody>
      </p:sp>
      <p:sp>
        <p:nvSpPr>
          <p:cNvPr id="1509756556" name="Shape 15"/>
          <p:cNvSpPr/>
          <p:nvPr/>
        </p:nvSpPr>
        <p:spPr bwMode="auto">
          <a:xfrm>
            <a:off x="548640" y="2834640"/>
            <a:ext cx="2194560" cy="365760"/>
          </a:xfrm>
          <a:prstGeom prst="rect">
            <a:avLst/>
          </a:prstGeom>
          <a:solidFill>
            <a:srgbClr val="D8F3DC"/>
          </a:solidFill>
          <a:ln w="9525">
            <a:solidFill>
              <a:srgbClr val="DDEEE3"/>
            </a:solidFill>
            <a:prstDash val="solid"/>
          </a:ln>
        </p:spPr>
      </p:sp>
      <p:sp>
        <p:nvSpPr>
          <p:cNvPr id="929359974" name="Text 16"/>
          <p:cNvSpPr/>
          <p:nvPr/>
        </p:nvSpPr>
        <p:spPr bwMode="auto">
          <a:xfrm>
            <a:off x="548640" y="2834640"/>
            <a:ext cx="2194560" cy="365760"/>
          </a:xfrm>
          <a:prstGeom prst="rect">
            <a:avLst/>
          </a:prstGeom>
          <a:noFill/>
          <a:ln/>
        </p:spPr>
        <p:txBody>
          <a:bodyPr wrap="square" lIns="73152" tIns="73152" rIns="73152" bIns="73152" rtlCol="0" anchor="ctr"/>
          <a:lstStyle/>
          <a:p>
            <a:pPr marL="0" indent="0" algn="l">
              <a:buNone/>
              <a:defRPr/>
            </a:pPr>
            <a:r>
              <a:rPr lang="en-US" sz="1100">
                <a:solidFill>
                  <a:srgbClr val="1B2A22"/>
                </a:solidFill>
                <a:latin typeface="Calibri"/>
                <a:ea typeface="Calibri"/>
                <a:cs typeface="Calibri"/>
              </a:rPr>
              <a:t>D1</a:t>
            </a:r>
            <a:endParaRPr lang="en-US" sz="1100"/>
          </a:p>
        </p:txBody>
      </p:sp>
      <p:sp>
        <p:nvSpPr>
          <p:cNvPr id="1960571712" name="Shape 17"/>
          <p:cNvSpPr/>
          <p:nvPr/>
        </p:nvSpPr>
        <p:spPr bwMode="auto">
          <a:xfrm>
            <a:off x="2743200" y="2834640"/>
            <a:ext cx="822960" cy="365760"/>
          </a:xfrm>
          <a:prstGeom prst="rect">
            <a:avLst/>
          </a:prstGeom>
          <a:solidFill>
            <a:srgbClr val="D8F3DC"/>
          </a:solidFill>
          <a:ln w="9525">
            <a:solidFill>
              <a:srgbClr val="DDEEE3"/>
            </a:solidFill>
            <a:prstDash val="solid"/>
          </a:ln>
        </p:spPr>
      </p:sp>
      <p:sp>
        <p:nvSpPr>
          <p:cNvPr id="1383591880" name="Text 18"/>
          <p:cNvSpPr/>
          <p:nvPr/>
        </p:nvSpPr>
        <p:spPr bwMode="auto">
          <a:xfrm>
            <a:off x="2743200" y="2834640"/>
            <a:ext cx="82296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3</a:t>
            </a:r>
            <a:endParaRPr lang="en-US" sz="1100"/>
          </a:p>
        </p:txBody>
      </p:sp>
      <p:sp>
        <p:nvSpPr>
          <p:cNvPr id="1624325458" name="Shape 19"/>
          <p:cNvSpPr/>
          <p:nvPr/>
        </p:nvSpPr>
        <p:spPr bwMode="auto">
          <a:xfrm>
            <a:off x="3566160" y="2834640"/>
            <a:ext cx="2011680" cy="365760"/>
          </a:xfrm>
          <a:prstGeom prst="rect">
            <a:avLst/>
          </a:prstGeom>
          <a:solidFill>
            <a:srgbClr val="D8F3DC"/>
          </a:solidFill>
          <a:ln w="9525">
            <a:solidFill>
              <a:srgbClr val="DDEEE3"/>
            </a:solidFill>
            <a:prstDash val="solid"/>
          </a:ln>
        </p:spPr>
      </p:sp>
      <p:sp>
        <p:nvSpPr>
          <p:cNvPr id="1314212957" name="Text 20"/>
          <p:cNvSpPr/>
          <p:nvPr/>
        </p:nvSpPr>
        <p:spPr bwMode="auto">
          <a:xfrm>
            <a:off x="3566160" y="2834640"/>
            <a:ext cx="201168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25.4 cm</a:t>
            </a:r>
            <a:endParaRPr lang="en-US" sz="1100"/>
          </a:p>
        </p:txBody>
      </p:sp>
      <p:sp>
        <p:nvSpPr>
          <p:cNvPr id="280336660" name="Shape 21"/>
          <p:cNvSpPr/>
          <p:nvPr/>
        </p:nvSpPr>
        <p:spPr bwMode="auto">
          <a:xfrm>
            <a:off x="548640" y="3200400"/>
            <a:ext cx="2194560" cy="365760"/>
          </a:xfrm>
          <a:prstGeom prst="rect">
            <a:avLst/>
          </a:prstGeom>
          <a:solidFill>
            <a:srgbClr val="FFFFFF"/>
          </a:solidFill>
          <a:ln w="9525">
            <a:solidFill>
              <a:srgbClr val="DDEEE3"/>
            </a:solidFill>
            <a:prstDash val="solid"/>
          </a:ln>
        </p:spPr>
      </p:sp>
      <p:sp>
        <p:nvSpPr>
          <p:cNvPr id="713812393" name="Text 22"/>
          <p:cNvSpPr/>
          <p:nvPr/>
        </p:nvSpPr>
        <p:spPr bwMode="auto">
          <a:xfrm>
            <a:off x="548640" y="3200400"/>
            <a:ext cx="2194560" cy="365760"/>
          </a:xfrm>
          <a:prstGeom prst="rect">
            <a:avLst/>
          </a:prstGeom>
          <a:noFill/>
          <a:ln/>
        </p:spPr>
        <p:txBody>
          <a:bodyPr wrap="square" lIns="73152" tIns="73152" rIns="73152" bIns="73152" rtlCol="0" anchor="ctr"/>
          <a:lstStyle/>
          <a:p>
            <a:pPr marL="0" indent="0" algn="l">
              <a:buNone/>
              <a:defRPr/>
            </a:pPr>
            <a:r>
              <a:rPr lang="en-US" sz="1100">
                <a:solidFill>
                  <a:srgbClr val="1B2A22"/>
                </a:solidFill>
                <a:latin typeface="Calibri"/>
                <a:ea typeface="Calibri"/>
                <a:cs typeface="Calibri"/>
              </a:rPr>
              <a:t>D2</a:t>
            </a:r>
            <a:endParaRPr lang="en-US" sz="1100"/>
          </a:p>
        </p:txBody>
      </p:sp>
      <p:sp>
        <p:nvSpPr>
          <p:cNvPr id="462153043" name="Shape 23"/>
          <p:cNvSpPr/>
          <p:nvPr/>
        </p:nvSpPr>
        <p:spPr bwMode="auto">
          <a:xfrm>
            <a:off x="2743200" y="3200400"/>
            <a:ext cx="822960" cy="365760"/>
          </a:xfrm>
          <a:prstGeom prst="rect">
            <a:avLst/>
          </a:prstGeom>
          <a:solidFill>
            <a:srgbClr val="FFFFFF"/>
          </a:solidFill>
          <a:ln w="9525">
            <a:solidFill>
              <a:srgbClr val="DDEEE3"/>
            </a:solidFill>
            <a:prstDash val="solid"/>
          </a:ln>
        </p:spPr>
      </p:sp>
      <p:sp>
        <p:nvSpPr>
          <p:cNvPr id="846947681" name="Text 24"/>
          <p:cNvSpPr/>
          <p:nvPr/>
        </p:nvSpPr>
        <p:spPr bwMode="auto">
          <a:xfrm>
            <a:off x="2743200" y="3200400"/>
            <a:ext cx="82296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3</a:t>
            </a:r>
            <a:endParaRPr lang="en-US" sz="1100"/>
          </a:p>
        </p:txBody>
      </p:sp>
      <p:sp>
        <p:nvSpPr>
          <p:cNvPr id="1870038290" name="Shape 25"/>
          <p:cNvSpPr/>
          <p:nvPr/>
        </p:nvSpPr>
        <p:spPr bwMode="auto">
          <a:xfrm>
            <a:off x="3566160" y="3200400"/>
            <a:ext cx="2011680" cy="365760"/>
          </a:xfrm>
          <a:prstGeom prst="rect">
            <a:avLst/>
          </a:prstGeom>
          <a:solidFill>
            <a:srgbClr val="FFFFFF"/>
          </a:solidFill>
          <a:ln w="9525">
            <a:solidFill>
              <a:srgbClr val="DDEEE3"/>
            </a:solidFill>
            <a:prstDash val="solid"/>
          </a:ln>
        </p:spPr>
      </p:sp>
      <p:sp>
        <p:nvSpPr>
          <p:cNvPr id="1552026225" name="Text 26"/>
          <p:cNvSpPr/>
          <p:nvPr/>
        </p:nvSpPr>
        <p:spPr bwMode="auto">
          <a:xfrm>
            <a:off x="3566160" y="3200400"/>
            <a:ext cx="201168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28.9 cm</a:t>
            </a:r>
            <a:endParaRPr lang="en-US" sz="1100"/>
          </a:p>
        </p:txBody>
      </p:sp>
      <p:sp>
        <p:nvSpPr>
          <p:cNvPr id="163189492" name="Shape 27"/>
          <p:cNvSpPr/>
          <p:nvPr/>
        </p:nvSpPr>
        <p:spPr bwMode="auto">
          <a:xfrm>
            <a:off x="548640" y="3566160"/>
            <a:ext cx="2194560" cy="365760"/>
          </a:xfrm>
          <a:prstGeom prst="rect">
            <a:avLst/>
          </a:prstGeom>
          <a:solidFill>
            <a:srgbClr val="D8F3DC"/>
          </a:solidFill>
          <a:ln w="9525">
            <a:solidFill>
              <a:srgbClr val="DDEEE3"/>
            </a:solidFill>
            <a:prstDash val="solid"/>
          </a:ln>
        </p:spPr>
      </p:sp>
      <p:sp>
        <p:nvSpPr>
          <p:cNvPr id="1784603427" name="Text 28"/>
          <p:cNvSpPr/>
          <p:nvPr/>
        </p:nvSpPr>
        <p:spPr bwMode="auto">
          <a:xfrm>
            <a:off x="548640" y="3566160"/>
            <a:ext cx="2194560" cy="365760"/>
          </a:xfrm>
          <a:prstGeom prst="rect">
            <a:avLst/>
          </a:prstGeom>
          <a:noFill/>
          <a:ln/>
        </p:spPr>
        <p:txBody>
          <a:bodyPr wrap="square" lIns="73152" tIns="73152" rIns="73152" bIns="73152" rtlCol="0" anchor="ctr"/>
          <a:lstStyle/>
          <a:p>
            <a:pPr marL="0" indent="0" algn="l">
              <a:buNone/>
              <a:defRPr/>
            </a:pPr>
            <a:r>
              <a:rPr lang="en-US" sz="1100">
                <a:solidFill>
                  <a:srgbClr val="1B2A22"/>
                </a:solidFill>
                <a:latin typeface="Calibri"/>
                <a:ea typeface="Calibri"/>
                <a:cs typeface="Calibri"/>
              </a:rPr>
              <a:t>D3</a:t>
            </a:r>
            <a:endParaRPr lang="en-US" sz="1100"/>
          </a:p>
        </p:txBody>
      </p:sp>
      <p:sp>
        <p:nvSpPr>
          <p:cNvPr id="1249198483" name="Shape 29"/>
          <p:cNvSpPr/>
          <p:nvPr/>
        </p:nvSpPr>
        <p:spPr bwMode="auto">
          <a:xfrm>
            <a:off x="2743200" y="3566160"/>
            <a:ext cx="822960" cy="365760"/>
          </a:xfrm>
          <a:prstGeom prst="rect">
            <a:avLst/>
          </a:prstGeom>
          <a:solidFill>
            <a:srgbClr val="D8F3DC"/>
          </a:solidFill>
          <a:ln w="9525">
            <a:solidFill>
              <a:srgbClr val="DDEEE3"/>
            </a:solidFill>
            <a:prstDash val="solid"/>
          </a:ln>
        </p:spPr>
      </p:sp>
      <p:sp>
        <p:nvSpPr>
          <p:cNvPr id="537251359" name="Text 30"/>
          <p:cNvSpPr/>
          <p:nvPr/>
        </p:nvSpPr>
        <p:spPr bwMode="auto">
          <a:xfrm>
            <a:off x="2743200" y="3566160"/>
            <a:ext cx="82296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3</a:t>
            </a:r>
            <a:endParaRPr lang="en-US" sz="1100"/>
          </a:p>
        </p:txBody>
      </p:sp>
      <p:sp>
        <p:nvSpPr>
          <p:cNvPr id="1539582260" name="Shape 31"/>
          <p:cNvSpPr/>
          <p:nvPr/>
        </p:nvSpPr>
        <p:spPr bwMode="auto">
          <a:xfrm>
            <a:off x="3566160" y="3566160"/>
            <a:ext cx="2011680" cy="365760"/>
          </a:xfrm>
          <a:prstGeom prst="rect">
            <a:avLst/>
          </a:prstGeom>
          <a:solidFill>
            <a:srgbClr val="D8F3DC"/>
          </a:solidFill>
          <a:ln w="9525">
            <a:solidFill>
              <a:srgbClr val="DDEEE3"/>
            </a:solidFill>
            <a:prstDash val="solid"/>
          </a:ln>
        </p:spPr>
      </p:sp>
      <p:sp>
        <p:nvSpPr>
          <p:cNvPr id="723608114" name="Text 32"/>
          <p:cNvSpPr/>
          <p:nvPr/>
        </p:nvSpPr>
        <p:spPr bwMode="auto">
          <a:xfrm>
            <a:off x="3566160" y="3566160"/>
            <a:ext cx="201168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27.6 cm</a:t>
            </a:r>
            <a:endParaRPr lang="en-US" sz="1100"/>
          </a:p>
        </p:txBody>
      </p:sp>
      <p:sp>
        <p:nvSpPr>
          <p:cNvPr id="1472553986" name="Text 33"/>
          <p:cNvSpPr/>
          <p:nvPr/>
        </p:nvSpPr>
        <p:spPr bwMode="auto">
          <a:xfrm>
            <a:off x="548640" y="4160519"/>
            <a:ext cx="5486400" cy="320040"/>
          </a:xfrm>
          <a:prstGeom prst="rect">
            <a:avLst/>
          </a:prstGeom>
          <a:noFill/>
          <a:ln/>
        </p:spPr>
        <p:txBody>
          <a:bodyPr wrap="square" rtlCol="0" anchor="ctr"/>
          <a:lstStyle/>
          <a:p>
            <a:pPr marL="0" indent="0">
              <a:buNone/>
              <a:defRPr/>
            </a:pPr>
            <a:r>
              <a:rPr lang="en-US" sz="1400" b="1">
                <a:solidFill>
                  <a:srgbClr val="1B4332"/>
                </a:solidFill>
                <a:latin typeface="Cambria"/>
                <a:ea typeface="Cambria"/>
                <a:cs typeface="Cambria"/>
              </a:rPr>
              <a:t>Rata-rata per Blok (Meja)</a:t>
            </a:r>
            <a:endParaRPr lang="en-US" sz="1400"/>
          </a:p>
        </p:txBody>
      </p:sp>
      <p:sp>
        <p:nvSpPr>
          <p:cNvPr id="554815887" name="Shape 34"/>
          <p:cNvSpPr/>
          <p:nvPr/>
        </p:nvSpPr>
        <p:spPr bwMode="auto">
          <a:xfrm>
            <a:off x="548640" y="4526280"/>
            <a:ext cx="2194560" cy="365760"/>
          </a:xfrm>
          <a:prstGeom prst="rect">
            <a:avLst/>
          </a:prstGeom>
          <a:solidFill>
            <a:srgbClr val="2D6A4F"/>
          </a:solidFill>
          <a:ln/>
        </p:spPr>
      </p:sp>
      <p:sp>
        <p:nvSpPr>
          <p:cNvPr id="262158613" name="Text 35"/>
          <p:cNvSpPr/>
          <p:nvPr/>
        </p:nvSpPr>
        <p:spPr bwMode="auto">
          <a:xfrm>
            <a:off x="548640" y="4526280"/>
            <a:ext cx="2194560" cy="365760"/>
          </a:xfrm>
          <a:prstGeom prst="rect">
            <a:avLst/>
          </a:prstGeom>
          <a:noFill/>
          <a:ln/>
        </p:spPr>
        <p:txBody>
          <a:bodyPr wrap="square" lIns="73152" tIns="73152" rIns="73152" bIns="73152" rtlCol="0" anchor="ctr"/>
          <a:lstStyle/>
          <a:p>
            <a:pPr marL="0" indent="0" algn="l">
              <a:buNone/>
              <a:defRPr/>
            </a:pPr>
            <a:r>
              <a:rPr lang="en-US" sz="1100" b="1">
                <a:solidFill>
                  <a:srgbClr val="FFFFFF"/>
                </a:solidFill>
                <a:latin typeface="Calibri"/>
                <a:ea typeface="Calibri"/>
                <a:cs typeface="Calibri"/>
              </a:rPr>
              <a:t>Blok</a:t>
            </a:r>
            <a:endParaRPr lang="en-US" sz="1100"/>
          </a:p>
        </p:txBody>
      </p:sp>
      <p:sp>
        <p:nvSpPr>
          <p:cNvPr id="826342827" name="Shape 36"/>
          <p:cNvSpPr/>
          <p:nvPr/>
        </p:nvSpPr>
        <p:spPr bwMode="auto">
          <a:xfrm>
            <a:off x="2743200" y="4526280"/>
            <a:ext cx="822960" cy="365760"/>
          </a:xfrm>
          <a:prstGeom prst="rect">
            <a:avLst/>
          </a:prstGeom>
          <a:solidFill>
            <a:srgbClr val="2D6A4F"/>
          </a:solidFill>
          <a:ln/>
        </p:spPr>
      </p:sp>
      <p:sp>
        <p:nvSpPr>
          <p:cNvPr id="1161259446" name="Text 37"/>
          <p:cNvSpPr/>
          <p:nvPr/>
        </p:nvSpPr>
        <p:spPr bwMode="auto">
          <a:xfrm>
            <a:off x="2743200" y="4526280"/>
            <a:ext cx="822960" cy="365760"/>
          </a:xfrm>
          <a:prstGeom prst="rect">
            <a:avLst/>
          </a:prstGeom>
          <a:noFill/>
          <a:ln/>
        </p:spPr>
        <p:txBody>
          <a:bodyPr wrap="square" lIns="73152" tIns="73152" rIns="73152" bIns="73152" rtlCol="0" anchor="ctr"/>
          <a:lstStyle/>
          <a:p>
            <a:pPr marL="0" indent="0" algn="ctr">
              <a:buNone/>
              <a:defRPr/>
            </a:pPr>
            <a:r>
              <a:rPr lang="en-US" sz="1100" b="1">
                <a:solidFill>
                  <a:srgbClr val="FFFFFF"/>
                </a:solidFill>
                <a:latin typeface="Calibri"/>
                <a:ea typeface="Calibri"/>
                <a:cs typeface="Calibri"/>
              </a:rPr>
              <a:t>n</a:t>
            </a:r>
            <a:endParaRPr lang="en-US" sz="1100"/>
          </a:p>
        </p:txBody>
      </p:sp>
      <p:sp>
        <p:nvSpPr>
          <p:cNvPr id="1931694213" name="Shape 38"/>
          <p:cNvSpPr/>
          <p:nvPr/>
        </p:nvSpPr>
        <p:spPr bwMode="auto">
          <a:xfrm>
            <a:off x="3566160" y="4526280"/>
            <a:ext cx="2011680" cy="365760"/>
          </a:xfrm>
          <a:prstGeom prst="rect">
            <a:avLst/>
          </a:prstGeom>
          <a:solidFill>
            <a:srgbClr val="2D6A4F"/>
          </a:solidFill>
          <a:ln/>
        </p:spPr>
      </p:sp>
      <p:sp>
        <p:nvSpPr>
          <p:cNvPr id="704399298" name="Text 39"/>
          <p:cNvSpPr/>
          <p:nvPr/>
        </p:nvSpPr>
        <p:spPr bwMode="auto">
          <a:xfrm>
            <a:off x="3566160" y="4526280"/>
            <a:ext cx="2011680" cy="365760"/>
          </a:xfrm>
          <a:prstGeom prst="rect">
            <a:avLst/>
          </a:prstGeom>
          <a:noFill/>
          <a:ln/>
        </p:spPr>
        <p:txBody>
          <a:bodyPr wrap="square" lIns="73152" tIns="73152" rIns="73152" bIns="73152" rtlCol="0" anchor="ctr"/>
          <a:lstStyle/>
          <a:p>
            <a:pPr marL="0" indent="0" algn="ctr">
              <a:buNone/>
              <a:defRPr/>
            </a:pPr>
            <a:r>
              <a:rPr lang="en-US" sz="1100" b="1">
                <a:solidFill>
                  <a:srgbClr val="FFFFFF"/>
                </a:solidFill>
                <a:latin typeface="Calibri"/>
                <a:ea typeface="Calibri"/>
                <a:cs typeface="Calibri"/>
              </a:rPr>
              <a:t>Rata-rata</a:t>
            </a:r>
            <a:endParaRPr lang="en-US" sz="1100"/>
          </a:p>
        </p:txBody>
      </p:sp>
      <p:sp>
        <p:nvSpPr>
          <p:cNvPr id="103288898" name="Shape 40"/>
          <p:cNvSpPr/>
          <p:nvPr/>
        </p:nvSpPr>
        <p:spPr bwMode="auto">
          <a:xfrm>
            <a:off x="548640" y="4892039"/>
            <a:ext cx="2194560" cy="365760"/>
          </a:xfrm>
          <a:prstGeom prst="rect">
            <a:avLst/>
          </a:prstGeom>
          <a:solidFill>
            <a:srgbClr val="FFFFFF"/>
          </a:solidFill>
          <a:ln w="9525">
            <a:solidFill>
              <a:srgbClr val="DDEEE3"/>
            </a:solidFill>
            <a:prstDash val="solid"/>
          </a:ln>
        </p:spPr>
      </p:sp>
      <p:sp>
        <p:nvSpPr>
          <p:cNvPr id="1370938490" name="Text 41"/>
          <p:cNvSpPr/>
          <p:nvPr/>
        </p:nvSpPr>
        <p:spPr bwMode="auto">
          <a:xfrm>
            <a:off x="548640" y="4892039"/>
            <a:ext cx="2194560" cy="365760"/>
          </a:xfrm>
          <a:prstGeom prst="rect">
            <a:avLst/>
          </a:prstGeom>
          <a:noFill/>
          <a:ln/>
        </p:spPr>
        <p:txBody>
          <a:bodyPr wrap="square" lIns="73152" tIns="73152" rIns="73152" bIns="73152" rtlCol="0" anchor="ctr"/>
          <a:lstStyle/>
          <a:p>
            <a:pPr marL="0" indent="0" algn="l">
              <a:buNone/>
              <a:defRPr/>
            </a:pPr>
            <a:r>
              <a:rPr lang="en-US" sz="1100">
                <a:solidFill>
                  <a:srgbClr val="1B2A22"/>
                </a:solidFill>
                <a:latin typeface="Calibri"/>
                <a:ea typeface="Calibri"/>
                <a:cs typeface="Calibri"/>
              </a:rPr>
              <a:t>Meja 1 (dekat jendela)</a:t>
            </a:r>
            <a:endParaRPr lang="en-US" sz="1100"/>
          </a:p>
        </p:txBody>
      </p:sp>
      <p:sp>
        <p:nvSpPr>
          <p:cNvPr id="2107357068" name="Shape 42"/>
          <p:cNvSpPr/>
          <p:nvPr/>
        </p:nvSpPr>
        <p:spPr bwMode="auto">
          <a:xfrm>
            <a:off x="2743200" y="4892039"/>
            <a:ext cx="822960" cy="365760"/>
          </a:xfrm>
          <a:prstGeom prst="rect">
            <a:avLst/>
          </a:prstGeom>
          <a:solidFill>
            <a:srgbClr val="FFFFFF"/>
          </a:solidFill>
          <a:ln w="9525">
            <a:solidFill>
              <a:srgbClr val="DDEEE3"/>
            </a:solidFill>
            <a:prstDash val="solid"/>
          </a:ln>
        </p:spPr>
      </p:sp>
      <p:sp>
        <p:nvSpPr>
          <p:cNvPr id="286225784" name="Text 43"/>
          <p:cNvSpPr/>
          <p:nvPr/>
        </p:nvSpPr>
        <p:spPr bwMode="auto">
          <a:xfrm>
            <a:off x="2743200" y="4892039"/>
            <a:ext cx="82296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4</a:t>
            </a:r>
            <a:endParaRPr lang="en-US" sz="1100"/>
          </a:p>
        </p:txBody>
      </p:sp>
      <p:sp>
        <p:nvSpPr>
          <p:cNvPr id="2040011575" name="Shape 44"/>
          <p:cNvSpPr/>
          <p:nvPr/>
        </p:nvSpPr>
        <p:spPr bwMode="auto">
          <a:xfrm>
            <a:off x="3566160" y="4892039"/>
            <a:ext cx="2011680" cy="365760"/>
          </a:xfrm>
          <a:prstGeom prst="rect">
            <a:avLst/>
          </a:prstGeom>
          <a:solidFill>
            <a:srgbClr val="FFFFFF"/>
          </a:solidFill>
          <a:ln w="9525">
            <a:solidFill>
              <a:srgbClr val="DDEEE3"/>
            </a:solidFill>
            <a:prstDash val="solid"/>
          </a:ln>
        </p:spPr>
      </p:sp>
      <p:sp>
        <p:nvSpPr>
          <p:cNvPr id="988122037" name="Text 45"/>
          <p:cNvSpPr/>
          <p:nvPr/>
        </p:nvSpPr>
        <p:spPr bwMode="auto">
          <a:xfrm>
            <a:off x="3566160" y="4892039"/>
            <a:ext cx="201168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28.5 cm</a:t>
            </a:r>
            <a:endParaRPr lang="en-US" sz="1100"/>
          </a:p>
        </p:txBody>
      </p:sp>
      <p:sp>
        <p:nvSpPr>
          <p:cNvPr id="1061390900" name="Shape 46"/>
          <p:cNvSpPr/>
          <p:nvPr/>
        </p:nvSpPr>
        <p:spPr bwMode="auto">
          <a:xfrm>
            <a:off x="548640" y="5257800"/>
            <a:ext cx="2194560" cy="365760"/>
          </a:xfrm>
          <a:prstGeom prst="rect">
            <a:avLst/>
          </a:prstGeom>
          <a:solidFill>
            <a:srgbClr val="EFF7F1"/>
          </a:solidFill>
          <a:ln w="9525">
            <a:solidFill>
              <a:srgbClr val="DDEEE3"/>
            </a:solidFill>
            <a:prstDash val="solid"/>
          </a:ln>
        </p:spPr>
      </p:sp>
      <p:sp>
        <p:nvSpPr>
          <p:cNvPr id="1168357399" name="Text 47"/>
          <p:cNvSpPr/>
          <p:nvPr/>
        </p:nvSpPr>
        <p:spPr bwMode="auto">
          <a:xfrm>
            <a:off x="548640" y="5257800"/>
            <a:ext cx="2194560" cy="365760"/>
          </a:xfrm>
          <a:prstGeom prst="rect">
            <a:avLst/>
          </a:prstGeom>
          <a:noFill/>
          <a:ln/>
        </p:spPr>
        <p:txBody>
          <a:bodyPr wrap="square" lIns="73152" tIns="73152" rIns="73152" bIns="73152" rtlCol="0" anchor="ctr"/>
          <a:lstStyle/>
          <a:p>
            <a:pPr marL="0" indent="0" algn="l">
              <a:buNone/>
              <a:defRPr/>
            </a:pPr>
            <a:r>
              <a:rPr lang="en-US" sz="1100">
                <a:solidFill>
                  <a:srgbClr val="1B2A22"/>
                </a:solidFill>
                <a:latin typeface="Calibri"/>
                <a:ea typeface="Calibri"/>
                <a:cs typeface="Calibri"/>
              </a:rPr>
              <a:t>Meja 2</a:t>
            </a:r>
            <a:endParaRPr lang="en-US" sz="1100"/>
          </a:p>
        </p:txBody>
      </p:sp>
      <p:sp>
        <p:nvSpPr>
          <p:cNvPr id="1022243999" name="Shape 48"/>
          <p:cNvSpPr/>
          <p:nvPr/>
        </p:nvSpPr>
        <p:spPr bwMode="auto">
          <a:xfrm>
            <a:off x="2743200" y="5257800"/>
            <a:ext cx="822960" cy="365760"/>
          </a:xfrm>
          <a:prstGeom prst="rect">
            <a:avLst/>
          </a:prstGeom>
          <a:solidFill>
            <a:srgbClr val="EFF7F1"/>
          </a:solidFill>
          <a:ln w="9525">
            <a:solidFill>
              <a:srgbClr val="DDEEE3"/>
            </a:solidFill>
            <a:prstDash val="solid"/>
          </a:ln>
        </p:spPr>
      </p:sp>
      <p:sp>
        <p:nvSpPr>
          <p:cNvPr id="224250175" name="Text 49"/>
          <p:cNvSpPr/>
          <p:nvPr/>
        </p:nvSpPr>
        <p:spPr bwMode="auto">
          <a:xfrm>
            <a:off x="2743200" y="5257800"/>
            <a:ext cx="82296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4</a:t>
            </a:r>
            <a:endParaRPr lang="en-US" sz="1100"/>
          </a:p>
        </p:txBody>
      </p:sp>
      <p:sp>
        <p:nvSpPr>
          <p:cNvPr id="70799592" name="Shape 50"/>
          <p:cNvSpPr/>
          <p:nvPr/>
        </p:nvSpPr>
        <p:spPr bwMode="auto">
          <a:xfrm>
            <a:off x="3566160" y="5257800"/>
            <a:ext cx="2011680" cy="365760"/>
          </a:xfrm>
          <a:prstGeom prst="rect">
            <a:avLst/>
          </a:prstGeom>
          <a:solidFill>
            <a:srgbClr val="EFF7F1"/>
          </a:solidFill>
          <a:ln w="9525">
            <a:solidFill>
              <a:srgbClr val="DDEEE3"/>
            </a:solidFill>
            <a:prstDash val="solid"/>
          </a:ln>
        </p:spPr>
      </p:sp>
      <p:sp>
        <p:nvSpPr>
          <p:cNvPr id="125143397" name="Text 51"/>
          <p:cNvSpPr/>
          <p:nvPr/>
        </p:nvSpPr>
        <p:spPr bwMode="auto">
          <a:xfrm>
            <a:off x="3566160" y="5257800"/>
            <a:ext cx="201168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25.7 cm</a:t>
            </a:r>
            <a:endParaRPr lang="en-US" sz="1100"/>
          </a:p>
        </p:txBody>
      </p:sp>
      <p:sp>
        <p:nvSpPr>
          <p:cNvPr id="365140802" name="Shape 52"/>
          <p:cNvSpPr/>
          <p:nvPr/>
        </p:nvSpPr>
        <p:spPr bwMode="auto">
          <a:xfrm>
            <a:off x="548640" y="5623560"/>
            <a:ext cx="2194560" cy="365760"/>
          </a:xfrm>
          <a:prstGeom prst="rect">
            <a:avLst/>
          </a:prstGeom>
          <a:solidFill>
            <a:srgbClr val="FFFFFF"/>
          </a:solidFill>
          <a:ln w="9525">
            <a:solidFill>
              <a:srgbClr val="DDEEE3"/>
            </a:solidFill>
            <a:prstDash val="solid"/>
          </a:ln>
        </p:spPr>
      </p:sp>
      <p:sp>
        <p:nvSpPr>
          <p:cNvPr id="2057178037" name="Text 53"/>
          <p:cNvSpPr/>
          <p:nvPr/>
        </p:nvSpPr>
        <p:spPr bwMode="auto">
          <a:xfrm>
            <a:off x="548640" y="5623560"/>
            <a:ext cx="2194560" cy="365760"/>
          </a:xfrm>
          <a:prstGeom prst="rect">
            <a:avLst/>
          </a:prstGeom>
          <a:noFill/>
          <a:ln/>
        </p:spPr>
        <p:txBody>
          <a:bodyPr wrap="square" lIns="73152" tIns="73152" rIns="73152" bIns="73152" rtlCol="0" anchor="ctr"/>
          <a:lstStyle/>
          <a:p>
            <a:pPr marL="0" indent="0" algn="l">
              <a:buNone/>
              <a:defRPr/>
            </a:pPr>
            <a:r>
              <a:rPr lang="en-US" sz="1100">
                <a:solidFill>
                  <a:srgbClr val="1B2A22"/>
                </a:solidFill>
                <a:latin typeface="Calibri"/>
                <a:ea typeface="Calibri"/>
                <a:cs typeface="Calibri"/>
              </a:rPr>
              <a:t>Meja 3 (jauh)</a:t>
            </a:r>
            <a:endParaRPr lang="en-US" sz="1100"/>
          </a:p>
        </p:txBody>
      </p:sp>
      <p:sp>
        <p:nvSpPr>
          <p:cNvPr id="193793210" name="Shape 54"/>
          <p:cNvSpPr/>
          <p:nvPr/>
        </p:nvSpPr>
        <p:spPr bwMode="auto">
          <a:xfrm>
            <a:off x="2743200" y="5623560"/>
            <a:ext cx="822960" cy="365760"/>
          </a:xfrm>
          <a:prstGeom prst="rect">
            <a:avLst/>
          </a:prstGeom>
          <a:solidFill>
            <a:srgbClr val="FFFFFF"/>
          </a:solidFill>
          <a:ln w="9525">
            <a:solidFill>
              <a:srgbClr val="DDEEE3"/>
            </a:solidFill>
            <a:prstDash val="solid"/>
          </a:ln>
        </p:spPr>
      </p:sp>
      <p:sp>
        <p:nvSpPr>
          <p:cNvPr id="1714727981" name="Text 55"/>
          <p:cNvSpPr/>
          <p:nvPr/>
        </p:nvSpPr>
        <p:spPr bwMode="auto">
          <a:xfrm>
            <a:off x="2743200" y="5623560"/>
            <a:ext cx="82296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4</a:t>
            </a:r>
            <a:endParaRPr lang="en-US" sz="1100"/>
          </a:p>
        </p:txBody>
      </p:sp>
      <p:sp>
        <p:nvSpPr>
          <p:cNvPr id="463143738" name="Shape 56"/>
          <p:cNvSpPr/>
          <p:nvPr/>
        </p:nvSpPr>
        <p:spPr bwMode="auto">
          <a:xfrm>
            <a:off x="3566160" y="5623560"/>
            <a:ext cx="2011680" cy="365760"/>
          </a:xfrm>
          <a:prstGeom prst="rect">
            <a:avLst/>
          </a:prstGeom>
          <a:solidFill>
            <a:srgbClr val="FFFFFF"/>
          </a:solidFill>
          <a:ln w="9525">
            <a:solidFill>
              <a:srgbClr val="DDEEE3"/>
            </a:solidFill>
            <a:prstDash val="solid"/>
          </a:ln>
        </p:spPr>
      </p:sp>
      <p:sp>
        <p:nvSpPr>
          <p:cNvPr id="989715857" name="Text 57"/>
          <p:cNvSpPr/>
          <p:nvPr/>
        </p:nvSpPr>
        <p:spPr bwMode="auto">
          <a:xfrm>
            <a:off x="3566160" y="5623560"/>
            <a:ext cx="2011680" cy="365760"/>
          </a:xfrm>
          <a:prstGeom prst="rect">
            <a:avLst/>
          </a:prstGeom>
          <a:noFill/>
          <a:ln/>
        </p:spPr>
        <p:txBody>
          <a:bodyPr wrap="square" lIns="73152" tIns="73152" rIns="73152" bIns="73152" rtlCol="0" anchor="ctr"/>
          <a:lstStyle/>
          <a:p>
            <a:pPr marL="0" indent="0" algn="ctr">
              <a:buNone/>
              <a:defRPr/>
            </a:pPr>
            <a:r>
              <a:rPr lang="en-US" sz="1100">
                <a:solidFill>
                  <a:srgbClr val="1B2A22"/>
                </a:solidFill>
                <a:latin typeface="Calibri"/>
                <a:ea typeface="Calibri"/>
                <a:cs typeface="Calibri"/>
              </a:rPr>
              <a:t>23.4 cm</a:t>
            </a:r>
            <a:endParaRPr lang="en-US" sz="1100"/>
          </a:p>
        </p:txBody>
      </p:sp>
      <p:sp>
        <p:nvSpPr>
          <p:cNvPr id="1354297166" name="Text 58"/>
          <p:cNvSpPr/>
          <p:nvPr/>
        </p:nvSpPr>
        <p:spPr bwMode="auto">
          <a:xfrm>
            <a:off x="6858000" y="1691640"/>
            <a:ext cx="4754880" cy="365760"/>
          </a:xfrm>
          <a:prstGeom prst="rect">
            <a:avLst/>
          </a:prstGeom>
          <a:noFill/>
          <a:ln/>
        </p:spPr>
        <p:txBody>
          <a:bodyPr wrap="square" rtlCol="0" anchor="ctr"/>
          <a:lstStyle/>
          <a:p>
            <a:pPr marL="0" indent="0">
              <a:buNone/>
              <a:defRPr/>
            </a:pPr>
            <a:r>
              <a:rPr lang="en-US" sz="1500" b="1">
                <a:solidFill>
                  <a:srgbClr val="1B4332"/>
                </a:solidFill>
                <a:latin typeface="Cambria"/>
                <a:ea typeface="Cambria"/>
                <a:cs typeface="Cambria"/>
              </a:rPr>
              <a:t>Pola Rata-rata Tinggi per Blok</a:t>
            </a:r>
            <a:endParaRPr lang="en-US" sz="1500"/>
          </a:p>
        </p:txBody>
      </p:sp>
      <p:graphicFrame>
        <p:nvGraphicFramePr>
          <p:cNvPr id="1541570019" name="Chart 0" descr=""/>
          <p:cNvGraphicFramePr>
            <a:graphicFrameLocks xmlns:a="http://schemas.openxmlformats.org/drawingml/2006/main"/>
          </p:cNvGraphicFramePr>
          <p:nvPr/>
        </p:nvGraphicFramePr>
        <p:xfrm rot="0">
          <a:off x="6766560" y="2103120"/>
          <a:ext cx="48463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15521970" name="Text 59"/>
          <p:cNvSpPr/>
          <p:nvPr/>
        </p:nvSpPr>
        <p:spPr bwMode="auto">
          <a:xfrm>
            <a:off x="6766560" y="5486400"/>
            <a:ext cx="4846320" cy="548640"/>
          </a:xfrm>
          <a:prstGeom prst="rect">
            <a:avLst/>
          </a:prstGeom>
          <a:noFill/>
          <a:ln/>
        </p:spPr>
        <p:txBody>
          <a:bodyPr wrap="square" rtlCol="0" anchor="ctr"/>
          <a:lstStyle/>
          <a:p>
            <a:pPr marL="0" indent="0">
              <a:lnSpc>
                <a:spcPct val="125000"/>
              </a:lnSpc>
              <a:buNone/>
              <a:defRPr/>
            </a:pPr>
            <a:r>
              <a:rPr lang="en-US" sz="1050" i="1">
                <a:solidFill>
                  <a:srgbClr val="5C6B63"/>
                </a:solidFill>
                <a:latin typeface="Calibri"/>
                <a:ea typeface="Calibri"/>
                <a:cs typeface="Calibri"/>
              </a:rPr>
              <a:t>Rata-rata antarblok cukup berbeda → indikasi awal pengelompokan blok memang beralasan.</a:t>
            </a:r>
            <a:endParaRPr lang="en-US" sz="1050"/>
          </a:p>
        </p:txBody>
      </p:sp>
      <p:sp>
        <p:nvSpPr>
          <p:cNvPr id="1708508348" name="Text 60"/>
          <p:cNvSpPr/>
          <p:nvPr/>
        </p:nvSpPr>
        <p:spPr bwMode="auto">
          <a:xfrm>
            <a:off x="457200" y="6473952"/>
            <a:ext cx="7315200" cy="274320"/>
          </a:xfrm>
          <a:prstGeom prst="rect">
            <a:avLst/>
          </a:prstGeom>
          <a:noFill/>
          <a:ln/>
        </p:spPr>
        <p:txBody>
          <a:bodyPr wrap="square" rtlCol="0" anchor="ctr"/>
          <a:lstStyle/>
          <a:p>
            <a:pPr marL="0" indent="0" algn="l">
              <a:buNone/>
              <a:defRPr/>
            </a:pPr>
            <a:r>
              <a:rPr lang="en-US" sz="900">
                <a:solidFill>
                  <a:srgbClr val="5C6B63"/>
                </a:solidFill>
                <a:latin typeface="Calibri"/>
                <a:ea typeface="Calibri"/>
                <a:cs typeface="Calibri"/>
              </a:rPr>
              <a:t>RAK — Biostatistika untuk Biologi</a:t>
            </a:r>
            <a:endParaRPr lang="en-US" sz="900"/>
          </a:p>
        </p:txBody>
      </p:sp>
      <p:sp>
        <p:nvSpPr>
          <p:cNvPr id="1991697682" name="Text 61"/>
          <p:cNvSpPr/>
          <p:nvPr/>
        </p:nvSpPr>
        <p:spPr bwMode="auto">
          <a:xfrm>
            <a:off x="11274552" y="6473952"/>
            <a:ext cx="457200" cy="274320"/>
          </a:xfrm>
          <a:prstGeom prst="rect">
            <a:avLst/>
          </a:prstGeom>
          <a:noFill/>
          <a:ln/>
        </p:spPr>
        <p:txBody>
          <a:bodyPr wrap="square" rtlCol="0" anchor="ctr"/>
          <a:lstStyle/>
          <a:p>
            <a:pPr marL="0" indent="0" algn="r">
              <a:buNone/>
              <a:defRPr/>
            </a:pPr>
            <a:r>
              <a:rPr lang="en-US" sz="900">
                <a:solidFill>
                  <a:srgbClr val="5C6B63"/>
                </a:solidFill>
                <a:latin typeface="Calibri"/>
                <a:ea typeface="Calibri"/>
                <a:cs typeface="Calibri"/>
              </a:rPr>
              <a:t>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7FAF7"/>
        </a:solidFill>
      </p:bgPr>
    </p:bg>
    <p:spTree>
      <p:nvGrpSpPr>
        <p:cNvPr id="1" name=""/>
        <p:cNvGrpSpPr/>
        <p:nvPr/>
      </p:nvGrpSpPr>
      <p:grpSpPr bwMode="auto">
        <a:xfrm>
          <a:off x="0" y="0"/>
          <a:ext cx="0" cy="0"/>
          <a:chOff x="0" y="0"/>
          <a:chExt cx="0" cy="0"/>
        </a:xfrm>
      </p:grpSpPr>
      <p:sp>
        <p:nvSpPr>
          <p:cNvPr id="1854506147" name="Text 0"/>
          <p:cNvSpPr/>
          <p:nvPr/>
        </p:nvSpPr>
        <p:spPr bwMode="auto">
          <a:xfrm>
            <a:off x="548640" y="384048"/>
            <a:ext cx="9144000" cy="320040"/>
          </a:xfrm>
          <a:prstGeom prst="rect">
            <a:avLst/>
          </a:prstGeom>
          <a:noFill/>
          <a:ln/>
        </p:spPr>
        <p:txBody>
          <a:bodyPr wrap="square" rtlCol="0" anchor="ctr"/>
          <a:lstStyle/>
          <a:p>
            <a:pPr marL="0" indent="0">
              <a:buNone/>
              <a:defRPr/>
            </a:pPr>
            <a:r>
              <a:rPr lang="en-US" sz="1200" b="1" spc="200">
                <a:solidFill>
                  <a:srgbClr val="2D6A4F"/>
                </a:solidFill>
                <a:latin typeface="Calibri"/>
                <a:ea typeface="Calibri"/>
                <a:cs typeface="Calibri"/>
              </a:rPr>
              <a:t>2.4.3 · MODEL RAK</a:t>
            </a:r>
            <a:endParaRPr lang="en-US" sz="1200"/>
          </a:p>
        </p:txBody>
      </p:sp>
      <p:sp>
        <p:nvSpPr>
          <p:cNvPr id="457105202" name="Text 1"/>
          <p:cNvSpPr/>
          <p:nvPr/>
        </p:nvSpPr>
        <p:spPr bwMode="auto">
          <a:xfrm>
            <a:off x="548640" y="658368"/>
            <a:ext cx="11064240" cy="822960"/>
          </a:xfrm>
          <a:prstGeom prst="rect">
            <a:avLst/>
          </a:prstGeom>
          <a:noFill/>
          <a:ln/>
        </p:spPr>
        <p:txBody>
          <a:bodyPr wrap="square" rtlCol="0" anchor="ctr"/>
          <a:lstStyle/>
          <a:p>
            <a:pPr marL="0" indent="0">
              <a:buNone/>
              <a:defRPr/>
            </a:pPr>
            <a:r>
              <a:rPr lang="en-US" sz="3000" b="1">
                <a:solidFill>
                  <a:srgbClr val="1B4332"/>
                </a:solidFill>
                <a:latin typeface="Cambria"/>
                <a:ea typeface="Cambria"/>
                <a:cs typeface="Cambria"/>
              </a:rPr>
              <a:t>ANOVA Dua Arah Tanpa Interaksi</a:t>
            </a:r>
            <a:endParaRPr lang="en-US" sz="3000"/>
          </a:p>
        </p:txBody>
      </p:sp>
      <p:sp>
        <p:nvSpPr>
          <p:cNvPr id="2046957674" name="Shape 2"/>
          <p:cNvSpPr/>
          <p:nvPr/>
        </p:nvSpPr>
        <p:spPr bwMode="auto">
          <a:xfrm>
            <a:off x="548640" y="1645920"/>
            <a:ext cx="11064240" cy="731520"/>
          </a:xfrm>
          <a:prstGeom prst="roundRect">
            <a:avLst>
              <a:gd name="adj" fmla="val 7500"/>
            </a:avLst>
          </a:prstGeom>
          <a:solidFill>
            <a:srgbClr val="24291F"/>
          </a:solidFill>
          <a:ln/>
        </p:spPr>
      </p:sp>
      <p:sp>
        <p:nvSpPr>
          <p:cNvPr id="1354937111" name="Text 3"/>
          <p:cNvSpPr/>
          <p:nvPr/>
        </p:nvSpPr>
        <p:spPr bwMode="auto">
          <a:xfrm>
            <a:off x="777240" y="1645920"/>
            <a:ext cx="10607040" cy="731520"/>
          </a:xfrm>
          <a:prstGeom prst="rect">
            <a:avLst/>
          </a:prstGeom>
          <a:noFill/>
          <a:ln/>
        </p:spPr>
        <p:txBody>
          <a:bodyPr wrap="square" rtlCol="0" anchor="ctr"/>
          <a:lstStyle/>
          <a:p>
            <a:pPr marL="0" indent="0">
              <a:buNone/>
              <a:defRPr/>
            </a:pPr>
            <a:r>
              <a:rPr lang="en-US" sz="1300">
                <a:solidFill>
                  <a:srgbClr val="9FE6B0"/>
                </a:solidFill>
                <a:latin typeface="Courier New"/>
                <a:ea typeface="Courier New"/>
                <a:cs typeface="Courier New"/>
              </a:rPr>
              <a:t>model</a:t>
            </a:r>
            <a:r>
              <a:rPr lang="en-US" sz="1300">
                <a:solidFill>
                  <a:srgbClr val="FFFFFF"/>
                </a:solidFill>
                <a:latin typeface="Courier New"/>
                <a:ea typeface="Courier New"/>
                <a:cs typeface="Courier New"/>
              </a:rPr>
              <a:t> &lt;- </a:t>
            </a:r>
            <a:r>
              <a:rPr lang="en-US" sz="1300" b="1">
                <a:solidFill>
                  <a:srgbClr val="F2C6A0"/>
                </a:solidFill>
                <a:latin typeface="Courier New"/>
                <a:ea typeface="Courier New"/>
                <a:cs typeface="Courier New"/>
              </a:rPr>
              <a:t>aov</a:t>
            </a:r>
            <a:r>
              <a:rPr lang="en-US" sz="1300">
                <a:solidFill>
                  <a:srgbClr val="FFFFFF"/>
                </a:solidFill>
                <a:latin typeface="Courier New"/>
                <a:ea typeface="Courier New"/>
                <a:cs typeface="Courier New"/>
              </a:rPr>
              <a:t>(tinggi_cm ~ perlakuan + blok, data = data)   </a:t>
            </a:r>
            <a:r>
              <a:rPr lang="en-US" sz="1300" b="1">
                <a:solidFill>
                  <a:srgbClr val="F2C6A0"/>
                </a:solidFill>
                <a:latin typeface="Courier New"/>
                <a:ea typeface="Courier New"/>
                <a:cs typeface="Courier New"/>
              </a:rPr>
              <a:t>summary</a:t>
            </a:r>
            <a:r>
              <a:rPr lang="en-US" sz="1300">
                <a:solidFill>
                  <a:srgbClr val="FFFFFF"/>
                </a:solidFill>
                <a:latin typeface="Courier New"/>
                <a:ea typeface="Courier New"/>
                <a:cs typeface="Courier New"/>
              </a:rPr>
              <a:t>(model)</a:t>
            </a:r>
            <a:endParaRPr lang="en-US" sz="1300"/>
          </a:p>
        </p:txBody>
      </p:sp>
      <p:sp>
        <p:nvSpPr>
          <p:cNvPr id="576285977" name="Shape 4"/>
          <p:cNvSpPr/>
          <p:nvPr/>
        </p:nvSpPr>
        <p:spPr bwMode="auto">
          <a:xfrm>
            <a:off x="548640" y="2651760"/>
            <a:ext cx="2377440" cy="457200"/>
          </a:xfrm>
          <a:prstGeom prst="rect">
            <a:avLst/>
          </a:prstGeom>
          <a:solidFill>
            <a:srgbClr val="1B4332"/>
          </a:solidFill>
          <a:ln/>
        </p:spPr>
      </p:sp>
      <p:sp>
        <p:nvSpPr>
          <p:cNvPr id="909546500" name="Text 5"/>
          <p:cNvSpPr/>
          <p:nvPr/>
        </p:nvSpPr>
        <p:spPr bwMode="auto">
          <a:xfrm>
            <a:off x="548640" y="2651760"/>
            <a:ext cx="2377440" cy="457200"/>
          </a:xfrm>
          <a:prstGeom prst="rect">
            <a:avLst/>
          </a:prstGeom>
          <a:noFill/>
          <a:ln/>
        </p:spPr>
        <p:txBody>
          <a:bodyPr wrap="square" rtlCol="0" anchor="ctr"/>
          <a:lstStyle/>
          <a:p>
            <a:pPr marL="0" indent="0" algn="ctr">
              <a:buNone/>
              <a:defRPr/>
            </a:pPr>
            <a:r>
              <a:rPr lang="en-US" sz="1250" b="1">
                <a:solidFill>
                  <a:srgbClr val="FFFFFF"/>
                </a:solidFill>
                <a:latin typeface="Calibri"/>
                <a:ea typeface="Calibri"/>
                <a:cs typeface="Calibri"/>
              </a:rPr>
              <a:t>Sumber</a:t>
            </a:r>
            <a:endParaRPr lang="en-US" sz="1250"/>
          </a:p>
        </p:txBody>
      </p:sp>
      <p:sp>
        <p:nvSpPr>
          <p:cNvPr id="2014728227" name="Shape 6"/>
          <p:cNvSpPr/>
          <p:nvPr/>
        </p:nvSpPr>
        <p:spPr bwMode="auto">
          <a:xfrm>
            <a:off x="2926080" y="2651760"/>
            <a:ext cx="914400" cy="457200"/>
          </a:xfrm>
          <a:prstGeom prst="rect">
            <a:avLst/>
          </a:prstGeom>
          <a:solidFill>
            <a:srgbClr val="1B4332"/>
          </a:solidFill>
          <a:ln/>
        </p:spPr>
      </p:sp>
      <p:sp>
        <p:nvSpPr>
          <p:cNvPr id="358747490" name="Text 7"/>
          <p:cNvSpPr/>
          <p:nvPr/>
        </p:nvSpPr>
        <p:spPr bwMode="auto">
          <a:xfrm>
            <a:off x="2926080" y="2651760"/>
            <a:ext cx="914400" cy="457200"/>
          </a:xfrm>
          <a:prstGeom prst="rect">
            <a:avLst/>
          </a:prstGeom>
          <a:noFill/>
          <a:ln/>
        </p:spPr>
        <p:txBody>
          <a:bodyPr wrap="square" rtlCol="0" anchor="ctr"/>
          <a:lstStyle/>
          <a:p>
            <a:pPr marL="0" indent="0" algn="ctr">
              <a:buNone/>
              <a:defRPr/>
            </a:pPr>
            <a:r>
              <a:rPr lang="en-US" sz="1250" b="1">
                <a:solidFill>
                  <a:srgbClr val="FFFFFF"/>
                </a:solidFill>
                <a:latin typeface="Calibri"/>
                <a:ea typeface="Calibri"/>
                <a:cs typeface="Calibri"/>
              </a:rPr>
              <a:t>Df</a:t>
            </a:r>
            <a:endParaRPr lang="en-US" sz="1250"/>
          </a:p>
        </p:txBody>
      </p:sp>
      <p:sp>
        <p:nvSpPr>
          <p:cNvPr id="335003776" name="Shape 8"/>
          <p:cNvSpPr/>
          <p:nvPr/>
        </p:nvSpPr>
        <p:spPr bwMode="auto">
          <a:xfrm>
            <a:off x="3840480" y="2651760"/>
            <a:ext cx="1645920" cy="457200"/>
          </a:xfrm>
          <a:prstGeom prst="rect">
            <a:avLst/>
          </a:prstGeom>
          <a:solidFill>
            <a:srgbClr val="1B4332"/>
          </a:solidFill>
          <a:ln/>
        </p:spPr>
      </p:sp>
      <p:sp>
        <p:nvSpPr>
          <p:cNvPr id="54449796" name="Text 9"/>
          <p:cNvSpPr/>
          <p:nvPr/>
        </p:nvSpPr>
        <p:spPr bwMode="auto">
          <a:xfrm>
            <a:off x="3840480" y="2651760"/>
            <a:ext cx="1645920" cy="457200"/>
          </a:xfrm>
          <a:prstGeom prst="rect">
            <a:avLst/>
          </a:prstGeom>
          <a:noFill/>
          <a:ln/>
        </p:spPr>
        <p:txBody>
          <a:bodyPr wrap="square" rtlCol="0" anchor="ctr"/>
          <a:lstStyle/>
          <a:p>
            <a:pPr marL="0" indent="0" algn="ctr">
              <a:buNone/>
              <a:defRPr/>
            </a:pPr>
            <a:r>
              <a:rPr lang="en-US" sz="1250" b="1">
                <a:solidFill>
                  <a:srgbClr val="FFFFFF"/>
                </a:solidFill>
                <a:latin typeface="Calibri"/>
                <a:ea typeface="Calibri"/>
                <a:cs typeface="Calibri"/>
              </a:rPr>
              <a:t>Sum Sq</a:t>
            </a:r>
            <a:endParaRPr lang="en-US" sz="1250"/>
          </a:p>
        </p:txBody>
      </p:sp>
      <p:sp>
        <p:nvSpPr>
          <p:cNvPr id="716619711" name="Shape 10"/>
          <p:cNvSpPr/>
          <p:nvPr/>
        </p:nvSpPr>
        <p:spPr bwMode="auto">
          <a:xfrm>
            <a:off x="5486400" y="2651760"/>
            <a:ext cx="1645920" cy="457200"/>
          </a:xfrm>
          <a:prstGeom prst="rect">
            <a:avLst/>
          </a:prstGeom>
          <a:solidFill>
            <a:srgbClr val="1B4332"/>
          </a:solidFill>
          <a:ln/>
        </p:spPr>
      </p:sp>
      <p:sp>
        <p:nvSpPr>
          <p:cNvPr id="327044592" name="Text 11"/>
          <p:cNvSpPr/>
          <p:nvPr/>
        </p:nvSpPr>
        <p:spPr bwMode="auto">
          <a:xfrm>
            <a:off x="5486400" y="2651760"/>
            <a:ext cx="1645920" cy="457200"/>
          </a:xfrm>
          <a:prstGeom prst="rect">
            <a:avLst/>
          </a:prstGeom>
          <a:noFill/>
          <a:ln/>
        </p:spPr>
        <p:txBody>
          <a:bodyPr wrap="square" rtlCol="0" anchor="ctr"/>
          <a:lstStyle/>
          <a:p>
            <a:pPr marL="0" indent="0" algn="ctr">
              <a:buNone/>
              <a:defRPr/>
            </a:pPr>
            <a:r>
              <a:rPr lang="en-US" sz="1250" b="1">
                <a:solidFill>
                  <a:srgbClr val="FFFFFF"/>
                </a:solidFill>
                <a:latin typeface="Calibri"/>
                <a:ea typeface="Calibri"/>
                <a:cs typeface="Calibri"/>
              </a:rPr>
              <a:t>Mean Sq</a:t>
            </a:r>
            <a:endParaRPr lang="en-US" sz="1250"/>
          </a:p>
        </p:txBody>
      </p:sp>
      <p:sp>
        <p:nvSpPr>
          <p:cNvPr id="1027773182" name="Shape 12"/>
          <p:cNvSpPr/>
          <p:nvPr/>
        </p:nvSpPr>
        <p:spPr bwMode="auto">
          <a:xfrm>
            <a:off x="7132320" y="2651760"/>
            <a:ext cx="1463040" cy="457200"/>
          </a:xfrm>
          <a:prstGeom prst="rect">
            <a:avLst/>
          </a:prstGeom>
          <a:solidFill>
            <a:srgbClr val="1B4332"/>
          </a:solidFill>
          <a:ln/>
        </p:spPr>
      </p:sp>
      <p:sp>
        <p:nvSpPr>
          <p:cNvPr id="745711270" name="Text 13"/>
          <p:cNvSpPr/>
          <p:nvPr/>
        </p:nvSpPr>
        <p:spPr bwMode="auto">
          <a:xfrm>
            <a:off x="7132320" y="2651760"/>
            <a:ext cx="1463040" cy="457200"/>
          </a:xfrm>
          <a:prstGeom prst="rect">
            <a:avLst/>
          </a:prstGeom>
          <a:noFill/>
          <a:ln/>
        </p:spPr>
        <p:txBody>
          <a:bodyPr wrap="square" rtlCol="0" anchor="ctr"/>
          <a:lstStyle/>
          <a:p>
            <a:pPr marL="0" indent="0" algn="ctr">
              <a:buNone/>
              <a:defRPr/>
            </a:pPr>
            <a:r>
              <a:rPr lang="en-US" sz="1250" b="1">
                <a:solidFill>
                  <a:srgbClr val="FFFFFF"/>
                </a:solidFill>
                <a:latin typeface="Calibri"/>
                <a:ea typeface="Calibri"/>
                <a:cs typeface="Calibri"/>
              </a:rPr>
              <a:t>F value</a:t>
            </a:r>
            <a:endParaRPr lang="en-US" sz="1250"/>
          </a:p>
        </p:txBody>
      </p:sp>
      <p:sp>
        <p:nvSpPr>
          <p:cNvPr id="278381553" name="Shape 14"/>
          <p:cNvSpPr/>
          <p:nvPr/>
        </p:nvSpPr>
        <p:spPr bwMode="auto">
          <a:xfrm>
            <a:off x="8595360" y="2651760"/>
            <a:ext cx="1554480" cy="457200"/>
          </a:xfrm>
          <a:prstGeom prst="rect">
            <a:avLst/>
          </a:prstGeom>
          <a:solidFill>
            <a:srgbClr val="1B4332"/>
          </a:solidFill>
          <a:ln/>
        </p:spPr>
      </p:sp>
      <p:sp>
        <p:nvSpPr>
          <p:cNvPr id="516327736" name="Text 15"/>
          <p:cNvSpPr/>
          <p:nvPr/>
        </p:nvSpPr>
        <p:spPr bwMode="auto">
          <a:xfrm>
            <a:off x="8595360" y="2651760"/>
            <a:ext cx="1554480" cy="457200"/>
          </a:xfrm>
          <a:prstGeom prst="rect">
            <a:avLst/>
          </a:prstGeom>
          <a:noFill/>
          <a:ln/>
        </p:spPr>
        <p:txBody>
          <a:bodyPr wrap="square" rtlCol="0" anchor="ctr"/>
          <a:lstStyle/>
          <a:p>
            <a:pPr marL="0" indent="0" algn="ctr">
              <a:buNone/>
              <a:defRPr/>
            </a:pPr>
            <a:r>
              <a:rPr lang="en-US" sz="1250" b="1">
                <a:solidFill>
                  <a:srgbClr val="FFFFFF"/>
                </a:solidFill>
                <a:latin typeface="Calibri"/>
                <a:ea typeface="Calibri"/>
                <a:cs typeface="Calibri"/>
              </a:rPr>
              <a:t>Pr(&gt;F)</a:t>
            </a:r>
            <a:endParaRPr lang="en-US" sz="1250"/>
          </a:p>
        </p:txBody>
      </p:sp>
      <p:sp>
        <p:nvSpPr>
          <p:cNvPr id="1640222324" name="Shape 16"/>
          <p:cNvSpPr/>
          <p:nvPr/>
        </p:nvSpPr>
        <p:spPr bwMode="auto">
          <a:xfrm>
            <a:off x="548640" y="3108960"/>
            <a:ext cx="2377440" cy="475488"/>
          </a:xfrm>
          <a:prstGeom prst="rect">
            <a:avLst/>
          </a:prstGeom>
          <a:solidFill>
            <a:srgbClr val="D8F3DC"/>
          </a:solidFill>
          <a:ln w="9525">
            <a:solidFill>
              <a:srgbClr val="DDEEE3"/>
            </a:solidFill>
            <a:prstDash val="solid"/>
          </a:ln>
        </p:spPr>
      </p:sp>
      <p:sp>
        <p:nvSpPr>
          <p:cNvPr id="1562586359" name="Text 17"/>
          <p:cNvSpPr/>
          <p:nvPr/>
        </p:nvSpPr>
        <p:spPr bwMode="auto">
          <a:xfrm>
            <a:off x="548640" y="3108960"/>
            <a:ext cx="2377440" cy="475488"/>
          </a:xfrm>
          <a:prstGeom prst="rect">
            <a:avLst/>
          </a:prstGeom>
          <a:noFill/>
          <a:ln/>
        </p:spPr>
        <p:txBody>
          <a:bodyPr wrap="square" lIns="91440" tIns="91440" rIns="91440" bIns="91440" rtlCol="0" anchor="ctr"/>
          <a:lstStyle/>
          <a:p>
            <a:pPr marL="0" indent="0" algn="l">
              <a:buNone/>
              <a:defRPr/>
            </a:pPr>
            <a:r>
              <a:rPr lang="en-US" sz="1200">
                <a:solidFill>
                  <a:srgbClr val="1B2A22"/>
                </a:solidFill>
                <a:latin typeface="Calibri"/>
                <a:ea typeface="Calibri"/>
                <a:cs typeface="Calibri"/>
              </a:rPr>
              <a:t>perlakuan</a:t>
            </a:r>
            <a:endParaRPr lang="en-US" sz="1200"/>
          </a:p>
        </p:txBody>
      </p:sp>
      <p:sp>
        <p:nvSpPr>
          <p:cNvPr id="1414037361" name="Shape 18"/>
          <p:cNvSpPr/>
          <p:nvPr/>
        </p:nvSpPr>
        <p:spPr bwMode="auto">
          <a:xfrm>
            <a:off x="2926080" y="3108960"/>
            <a:ext cx="914400" cy="475488"/>
          </a:xfrm>
          <a:prstGeom prst="rect">
            <a:avLst/>
          </a:prstGeom>
          <a:solidFill>
            <a:srgbClr val="D8F3DC"/>
          </a:solidFill>
          <a:ln w="9525">
            <a:solidFill>
              <a:srgbClr val="DDEEE3"/>
            </a:solidFill>
            <a:prstDash val="solid"/>
          </a:ln>
        </p:spPr>
      </p:sp>
      <p:sp>
        <p:nvSpPr>
          <p:cNvPr id="2076315150" name="Text 19"/>
          <p:cNvSpPr/>
          <p:nvPr/>
        </p:nvSpPr>
        <p:spPr bwMode="auto">
          <a:xfrm>
            <a:off x="2926080" y="3108960"/>
            <a:ext cx="914400" cy="475488"/>
          </a:xfrm>
          <a:prstGeom prst="rect">
            <a:avLst/>
          </a:prstGeom>
          <a:noFill/>
          <a:ln/>
        </p:spPr>
        <p:txBody>
          <a:bodyPr wrap="square" lIns="91440" tIns="91440" rIns="91440" bIns="91440" rtlCol="0" anchor="ctr"/>
          <a:lstStyle/>
          <a:p>
            <a:pPr marL="0" indent="0" algn="ctr">
              <a:buNone/>
              <a:defRPr/>
            </a:pPr>
            <a:r>
              <a:rPr lang="en-US" sz="1200">
                <a:solidFill>
                  <a:srgbClr val="1B2A22"/>
                </a:solidFill>
                <a:latin typeface="Calibri"/>
                <a:ea typeface="Calibri"/>
                <a:cs typeface="Calibri"/>
              </a:rPr>
              <a:t>3</a:t>
            </a:r>
            <a:endParaRPr lang="en-US" sz="1200"/>
          </a:p>
        </p:txBody>
      </p:sp>
      <p:sp>
        <p:nvSpPr>
          <p:cNvPr id="1519417692" name="Shape 20"/>
          <p:cNvSpPr/>
          <p:nvPr/>
        </p:nvSpPr>
        <p:spPr bwMode="auto">
          <a:xfrm>
            <a:off x="3840480" y="3108960"/>
            <a:ext cx="1645920" cy="475488"/>
          </a:xfrm>
          <a:prstGeom prst="rect">
            <a:avLst/>
          </a:prstGeom>
          <a:solidFill>
            <a:srgbClr val="D8F3DC"/>
          </a:solidFill>
          <a:ln w="9525">
            <a:solidFill>
              <a:srgbClr val="DDEEE3"/>
            </a:solidFill>
            <a:prstDash val="solid"/>
          </a:ln>
        </p:spPr>
      </p:sp>
      <p:sp>
        <p:nvSpPr>
          <p:cNvPr id="2951490" name="Text 21"/>
          <p:cNvSpPr/>
          <p:nvPr/>
        </p:nvSpPr>
        <p:spPr bwMode="auto">
          <a:xfrm>
            <a:off x="3840480" y="3108960"/>
            <a:ext cx="1645920" cy="475488"/>
          </a:xfrm>
          <a:prstGeom prst="rect">
            <a:avLst/>
          </a:prstGeom>
          <a:noFill/>
          <a:ln/>
        </p:spPr>
        <p:txBody>
          <a:bodyPr wrap="square" lIns="91440" tIns="91440" rIns="91440" bIns="91440" rtlCol="0" anchor="ctr"/>
          <a:lstStyle/>
          <a:p>
            <a:pPr marL="0" indent="0" algn="ctr">
              <a:buNone/>
              <a:defRPr/>
            </a:pPr>
            <a:r>
              <a:rPr lang="en-US" sz="1200">
                <a:solidFill>
                  <a:srgbClr val="1B2A22"/>
                </a:solidFill>
                <a:latin typeface="Calibri"/>
                <a:ea typeface="Calibri"/>
                <a:cs typeface="Calibri"/>
              </a:rPr>
              <a:t>68.4</a:t>
            </a:r>
            <a:endParaRPr lang="en-US" sz="1200"/>
          </a:p>
        </p:txBody>
      </p:sp>
      <p:sp>
        <p:nvSpPr>
          <p:cNvPr id="1897361671" name="Shape 22"/>
          <p:cNvSpPr/>
          <p:nvPr/>
        </p:nvSpPr>
        <p:spPr bwMode="auto">
          <a:xfrm>
            <a:off x="5486400" y="3108960"/>
            <a:ext cx="1645920" cy="475488"/>
          </a:xfrm>
          <a:prstGeom prst="rect">
            <a:avLst/>
          </a:prstGeom>
          <a:solidFill>
            <a:srgbClr val="D8F3DC"/>
          </a:solidFill>
          <a:ln w="9525">
            <a:solidFill>
              <a:srgbClr val="DDEEE3"/>
            </a:solidFill>
            <a:prstDash val="solid"/>
          </a:ln>
        </p:spPr>
      </p:sp>
      <p:sp>
        <p:nvSpPr>
          <p:cNvPr id="665968953" name="Text 23"/>
          <p:cNvSpPr/>
          <p:nvPr/>
        </p:nvSpPr>
        <p:spPr bwMode="auto">
          <a:xfrm>
            <a:off x="5486400" y="3108960"/>
            <a:ext cx="1645920" cy="475488"/>
          </a:xfrm>
          <a:prstGeom prst="rect">
            <a:avLst/>
          </a:prstGeom>
          <a:noFill/>
          <a:ln/>
        </p:spPr>
        <p:txBody>
          <a:bodyPr wrap="square" lIns="91440" tIns="91440" rIns="91440" bIns="91440" rtlCol="0" anchor="ctr"/>
          <a:lstStyle/>
          <a:p>
            <a:pPr marL="0" indent="0" algn="ctr">
              <a:buNone/>
              <a:defRPr/>
            </a:pPr>
            <a:r>
              <a:rPr lang="en-US" sz="1200">
                <a:solidFill>
                  <a:srgbClr val="1B2A22"/>
                </a:solidFill>
                <a:latin typeface="Calibri"/>
                <a:ea typeface="Calibri"/>
                <a:cs typeface="Calibri"/>
              </a:rPr>
              <a:t>22.80</a:t>
            </a:r>
            <a:endParaRPr lang="en-US" sz="1200"/>
          </a:p>
        </p:txBody>
      </p:sp>
      <p:sp>
        <p:nvSpPr>
          <p:cNvPr id="445659613" name="Shape 24"/>
          <p:cNvSpPr/>
          <p:nvPr/>
        </p:nvSpPr>
        <p:spPr bwMode="auto">
          <a:xfrm>
            <a:off x="7132320" y="3108960"/>
            <a:ext cx="1463040" cy="475488"/>
          </a:xfrm>
          <a:prstGeom prst="rect">
            <a:avLst/>
          </a:prstGeom>
          <a:solidFill>
            <a:srgbClr val="D8F3DC"/>
          </a:solidFill>
          <a:ln w="9525">
            <a:solidFill>
              <a:srgbClr val="DDEEE3"/>
            </a:solidFill>
            <a:prstDash val="solid"/>
          </a:ln>
        </p:spPr>
      </p:sp>
      <p:sp>
        <p:nvSpPr>
          <p:cNvPr id="512182590" name="Text 25"/>
          <p:cNvSpPr/>
          <p:nvPr/>
        </p:nvSpPr>
        <p:spPr bwMode="auto">
          <a:xfrm>
            <a:off x="7132320" y="3108960"/>
            <a:ext cx="1463040" cy="475488"/>
          </a:xfrm>
          <a:prstGeom prst="rect">
            <a:avLst/>
          </a:prstGeom>
          <a:noFill/>
          <a:ln/>
        </p:spPr>
        <p:txBody>
          <a:bodyPr wrap="square" lIns="91440" tIns="91440" rIns="91440" bIns="91440" rtlCol="0" anchor="ctr"/>
          <a:lstStyle/>
          <a:p>
            <a:pPr marL="0" indent="0" algn="ctr">
              <a:buNone/>
              <a:defRPr/>
            </a:pPr>
            <a:r>
              <a:rPr lang="en-US" sz="1200">
                <a:solidFill>
                  <a:srgbClr val="1B2A22"/>
                </a:solidFill>
                <a:latin typeface="Calibri"/>
                <a:ea typeface="Calibri"/>
                <a:cs typeface="Calibri"/>
              </a:rPr>
              <a:t>9.12</a:t>
            </a:r>
            <a:endParaRPr lang="en-US" sz="1200"/>
          </a:p>
        </p:txBody>
      </p:sp>
      <p:sp>
        <p:nvSpPr>
          <p:cNvPr id="1166170315" name="Shape 26"/>
          <p:cNvSpPr/>
          <p:nvPr/>
        </p:nvSpPr>
        <p:spPr bwMode="auto">
          <a:xfrm>
            <a:off x="8595360" y="3108960"/>
            <a:ext cx="1554480" cy="475488"/>
          </a:xfrm>
          <a:prstGeom prst="rect">
            <a:avLst/>
          </a:prstGeom>
          <a:solidFill>
            <a:srgbClr val="FBEAE3"/>
          </a:solidFill>
          <a:ln w="9525">
            <a:solidFill>
              <a:srgbClr val="DDEEE3"/>
            </a:solidFill>
            <a:prstDash val="solid"/>
          </a:ln>
        </p:spPr>
      </p:sp>
      <p:sp>
        <p:nvSpPr>
          <p:cNvPr id="1261549641" name="Text 27"/>
          <p:cNvSpPr/>
          <p:nvPr/>
        </p:nvSpPr>
        <p:spPr bwMode="auto">
          <a:xfrm>
            <a:off x="8595360" y="3108960"/>
            <a:ext cx="1554480" cy="475488"/>
          </a:xfrm>
          <a:prstGeom prst="rect">
            <a:avLst/>
          </a:prstGeom>
          <a:noFill/>
          <a:ln/>
        </p:spPr>
        <p:txBody>
          <a:bodyPr wrap="square" lIns="91440" tIns="91440" rIns="91440" bIns="91440" rtlCol="0" anchor="ctr"/>
          <a:lstStyle/>
          <a:p>
            <a:pPr marL="0" indent="0" algn="ctr">
              <a:buNone/>
              <a:defRPr/>
            </a:pPr>
            <a:r>
              <a:rPr lang="en-US" sz="1200" b="1">
                <a:solidFill>
                  <a:srgbClr val="E07A5F"/>
                </a:solidFill>
                <a:latin typeface="Calibri"/>
                <a:ea typeface="Calibri"/>
                <a:cs typeface="Calibri"/>
              </a:rPr>
              <a:t>0.0081</a:t>
            </a:r>
            <a:endParaRPr lang="en-US" sz="1200"/>
          </a:p>
        </p:txBody>
      </p:sp>
      <p:sp>
        <p:nvSpPr>
          <p:cNvPr id="154785487" name="Shape 28"/>
          <p:cNvSpPr/>
          <p:nvPr/>
        </p:nvSpPr>
        <p:spPr bwMode="auto">
          <a:xfrm>
            <a:off x="548640" y="3584448"/>
            <a:ext cx="2377440" cy="475488"/>
          </a:xfrm>
          <a:prstGeom prst="rect">
            <a:avLst/>
          </a:prstGeom>
          <a:solidFill>
            <a:srgbClr val="FFFFFF"/>
          </a:solidFill>
          <a:ln w="9525">
            <a:solidFill>
              <a:srgbClr val="DDEEE3"/>
            </a:solidFill>
            <a:prstDash val="solid"/>
          </a:ln>
        </p:spPr>
      </p:sp>
      <p:sp>
        <p:nvSpPr>
          <p:cNvPr id="992488604" name="Text 29"/>
          <p:cNvSpPr/>
          <p:nvPr/>
        </p:nvSpPr>
        <p:spPr bwMode="auto">
          <a:xfrm>
            <a:off x="548640" y="3584448"/>
            <a:ext cx="2377440" cy="475488"/>
          </a:xfrm>
          <a:prstGeom prst="rect">
            <a:avLst/>
          </a:prstGeom>
          <a:noFill/>
          <a:ln/>
        </p:spPr>
        <p:txBody>
          <a:bodyPr wrap="square" lIns="91440" tIns="91440" rIns="91440" bIns="91440" rtlCol="0" anchor="ctr"/>
          <a:lstStyle/>
          <a:p>
            <a:pPr marL="0" indent="0" algn="l">
              <a:buNone/>
              <a:defRPr/>
            </a:pPr>
            <a:r>
              <a:rPr lang="en-US" sz="1200">
                <a:solidFill>
                  <a:srgbClr val="1B2A22"/>
                </a:solidFill>
                <a:latin typeface="Calibri"/>
                <a:ea typeface="Calibri"/>
                <a:cs typeface="Calibri"/>
              </a:rPr>
              <a:t>blok</a:t>
            </a:r>
            <a:endParaRPr lang="en-US" sz="1200"/>
          </a:p>
        </p:txBody>
      </p:sp>
      <p:sp>
        <p:nvSpPr>
          <p:cNvPr id="1674498895" name="Shape 30"/>
          <p:cNvSpPr/>
          <p:nvPr/>
        </p:nvSpPr>
        <p:spPr bwMode="auto">
          <a:xfrm>
            <a:off x="2926080" y="3584448"/>
            <a:ext cx="914400" cy="475488"/>
          </a:xfrm>
          <a:prstGeom prst="rect">
            <a:avLst/>
          </a:prstGeom>
          <a:solidFill>
            <a:srgbClr val="FFFFFF"/>
          </a:solidFill>
          <a:ln w="9525">
            <a:solidFill>
              <a:srgbClr val="DDEEE3"/>
            </a:solidFill>
            <a:prstDash val="solid"/>
          </a:ln>
        </p:spPr>
      </p:sp>
      <p:sp>
        <p:nvSpPr>
          <p:cNvPr id="1964048781" name="Text 31"/>
          <p:cNvSpPr/>
          <p:nvPr/>
        </p:nvSpPr>
        <p:spPr bwMode="auto">
          <a:xfrm>
            <a:off x="2926080" y="3584448"/>
            <a:ext cx="914400" cy="475488"/>
          </a:xfrm>
          <a:prstGeom prst="rect">
            <a:avLst/>
          </a:prstGeom>
          <a:noFill/>
          <a:ln/>
        </p:spPr>
        <p:txBody>
          <a:bodyPr wrap="square" lIns="91440" tIns="91440" rIns="91440" bIns="91440" rtlCol="0" anchor="ctr"/>
          <a:lstStyle/>
          <a:p>
            <a:pPr marL="0" indent="0" algn="ctr">
              <a:buNone/>
              <a:defRPr/>
            </a:pPr>
            <a:r>
              <a:rPr lang="en-US" sz="1200">
                <a:solidFill>
                  <a:srgbClr val="1B2A22"/>
                </a:solidFill>
                <a:latin typeface="Calibri"/>
                <a:ea typeface="Calibri"/>
                <a:cs typeface="Calibri"/>
              </a:rPr>
              <a:t>2</a:t>
            </a:r>
            <a:endParaRPr lang="en-US" sz="1200"/>
          </a:p>
        </p:txBody>
      </p:sp>
      <p:sp>
        <p:nvSpPr>
          <p:cNvPr id="1099154869" name="Shape 32"/>
          <p:cNvSpPr/>
          <p:nvPr/>
        </p:nvSpPr>
        <p:spPr bwMode="auto">
          <a:xfrm>
            <a:off x="3840480" y="3584448"/>
            <a:ext cx="1645920" cy="475488"/>
          </a:xfrm>
          <a:prstGeom prst="rect">
            <a:avLst/>
          </a:prstGeom>
          <a:solidFill>
            <a:srgbClr val="FFFFFF"/>
          </a:solidFill>
          <a:ln w="9525">
            <a:solidFill>
              <a:srgbClr val="DDEEE3"/>
            </a:solidFill>
            <a:prstDash val="solid"/>
          </a:ln>
        </p:spPr>
      </p:sp>
      <p:sp>
        <p:nvSpPr>
          <p:cNvPr id="508362879" name="Text 33"/>
          <p:cNvSpPr/>
          <p:nvPr/>
        </p:nvSpPr>
        <p:spPr bwMode="auto">
          <a:xfrm>
            <a:off x="3840480" y="3584448"/>
            <a:ext cx="1645920" cy="475488"/>
          </a:xfrm>
          <a:prstGeom prst="rect">
            <a:avLst/>
          </a:prstGeom>
          <a:noFill/>
          <a:ln/>
        </p:spPr>
        <p:txBody>
          <a:bodyPr wrap="square" lIns="91440" tIns="91440" rIns="91440" bIns="91440" rtlCol="0" anchor="ctr"/>
          <a:lstStyle/>
          <a:p>
            <a:pPr marL="0" indent="0" algn="ctr">
              <a:buNone/>
              <a:defRPr/>
            </a:pPr>
            <a:r>
              <a:rPr lang="en-US" sz="1200">
                <a:solidFill>
                  <a:srgbClr val="1B2A22"/>
                </a:solidFill>
                <a:latin typeface="Calibri"/>
                <a:ea typeface="Calibri"/>
                <a:cs typeface="Calibri"/>
              </a:rPr>
              <a:t>44.1</a:t>
            </a:r>
            <a:endParaRPr lang="en-US" sz="1200"/>
          </a:p>
        </p:txBody>
      </p:sp>
      <p:sp>
        <p:nvSpPr>
          <p:cNvPr id="450180928" name="Shape 34"/>
          <p:cNvSpPr/>
          <p:nvPr/>
        </p:nvSpPr>
        <p:spPr bwMode="auto">
          <a:xfrm>
            <a:off x="5486400" y="3584448"/>
            <a:ext cx="1645920" cy="475488"/>
          </a:xfrm>
          <a:prstGeom prst="rect">
            <a:avLst/>
          </a:prstGeom>
          <a:solidFill>
            <a:srgbClr val="FFFFFF"/>
          </a:solidFill>
          <a:ln w="9525">
            <a:solidFill>
              <a:srgbClr val="DDEEE3"/>
            </a:solidFill>
            <a:prstDash val="solid"/>
          </a:ln>
        </p:spPr>
      </p:sp>
      <p:sp>
        <p:nvSpPr>
          <p:cNvPr id="1812849050" name="Text 35"/>
          <p:cNvSpPr/>
          <p:nvPr/>
        </p:nvSpPr>
        <p:spPr bwMode="auto">
          <a:xfrm>
            <a:off x="5486400" y="3584448"/>
            <a:ext cx="1645920" cy="475488"/>
          </a:xfrm>
          <a:prstGeom prst="rect">
            <a:avLst/>
          </a:prstGeom>
          <a:noFill/>
          <a:ln/>
        </p:spPr>
        <p:txBody>
          <a:bodyPr wrap="square" lIns="91440" tIns="91440" rIns="91440" bIns="91440" rtlCol="0" anchor="ctr"/>
          <a:lstStyle/>
          <a:p>
            <a:pPr marL="0" indent="0" algn="ctr">
              <a:buNone/>
              <a:defRPr/>
            </a:pPr>
            <a:r>
              <a:rPr lang="en-US" sz="1200">
                <a:solidFill>
                  <a:srgbClr val="1B2A22"/>
                </a:solidFill>
                <a:latin typeface="Calibri"/>
                <a:ea typeface="Calibri"/>
                <a:cs typeface="Calibri"/>
              </a:rPr>
              <a:t>22.05</a:t>
            </a:r>
            <a:endParaRPr lang="en-US" sz="1200"/>
          </a:p>
        </p:txBody>
      </p:sp>
      <p:sp>
        <p:nvSpPr>
          <p:cNvPr id="2029249586" name="Shape 36"/>
          <p:cNvSpPr/>
          <p:nvPr/>
        </p:nvSpPr>
        <p:spPr bwMode="auto">
          <a:xfrm>
            <a:off x="7132320" y="3584448"/>
            <a:ext cx="1463040" cy="475488"/>
          </a:xfrm>
          <a:prstGeom prst="rect">
            <a:avLst/>
          </a:prstGeom>
          <a:solidFill>
            <a:srgbClr val="FFFFFF"/>
          </a:solidFill>
          <a:ln w="9525">
            <a:solidFill>
              <a:srgbClr val="DDEEE3"/>
            </a:solidFill>
            <a:prstDash val="solid"/>
          </a:ln>
        </p:spPr>
      </p:sp>
      <p:sp>
        <p:nvSpPr>
          <p:cNvPr id="301371633" name="Text 37"/>
          <p:cNvSpPr/>
          <p:nvPr/>
        </p:nvSpPr>
        <p:spPr bwMode="auto">
          <a:xfrm>
            <a:off x="7132320" y="3584448"/>
            <a:ext cx="1463040" cy="475488"/>
          </a:xfrm>
          <a:prstGeom prst="rect">
            <a:avLst/>
          </a:prstGeom>
          <a:noFill/>
          <a:ln/>
        </p:spPr>
        <p:txBody>
          <a:bodyPr wrap="square" lIns="91440" tIns="91440" rIns="91440" bIns="91440" rtlCol="0" anchor="ctr"/>
          <a:lstStyle/>
          <a:p>
            <a:pPr marL="0" indent="0" algn="ctr">
              <a:buNone/>
              <a:defRPr/>
            </a:pPr>
            <a:r>
              <a:rPr lang="en-US" sz="1200">
                <a:solidFill>
                  <a:srgbClr val="1B2A22"/>
                </a:solidFill>
                <a:latin typeface="Calibri"/>
                <a:ea typeface="Calibri"/>
                <a:cs typeface="Calibri"/>
              </a:rPr>
              <a:t>8.82</a:t>
            </a:r>
            <a:endParaRPr lang="en-US" sz="1200"/>
          </a:p>
        </p:txBody>
      </p:sp>
      <p:sp>
        <p:nvSpPr>
          <p:cNvPr id="258264190" name="Shape 38"/>
          <p:cNvSpPr/>
          <p:nvPr/>
        </p:nvSpPr>
        <p:spPr bwMode="auto">
          <a:xfrm>
            <a:off x="8595360" y="3584448"/>
            <a:ext cx="1554480" cy="475488"/>
          </a:xfrm>
          <a:prstGeom prst="rect">
            <a:avLst/>
          </a:prstGeom>
          <a:solidFill>
            <a:srgbClr val="FBEAE3"/>
          </a:solidFill>
          <a:ln w="9525">
            <a:solidFill>
              <a:srgbClr val="DDEEE3"/>
            </a:solidFill>
            <a:prstDash val="solid"/>
          </a:ln>
        </p:spPr>
      </p:sp>
      <p:sp>
        <p:nvSpPr>
          <p:cNvPr id="852182514" name="Text 39"/>
          <p:cNvSpPr/>
          <p:nvPr/>
        </p:nvSpPr>
        <p:spPr bwMode="auto">
          <a:xfrm>
            <a:off x="8595360" y="3584448"/>
            <a:ext cx="1554480" cy="475488"/>
          </a:xfrm>
          <a:prstGeom prst="rect">
            <a:avLst/>
          </a:prstGeom>
          <a:noFill/>
          <a:ln/>
        </p:spPr>
        <p:txBody>
          <a:bodyPr wrap="square" lIns="91440" tIns="91440" rIns="91440" bIns="91440" rtlCol="0" anchor="ctr"/>
          <a:lstStyle/>
          <a:p>
            <a:pPr marL="0" indent="0" algn="ctr">
              <a:buNone/>
              <a:defRPr/>
            </a:pPr>
            <a:r>
              <a:rPr lang="en-US" sz="1200" b="1">
                <a:solidFill>
                  <a:srgbClr val="E07A5F"/>
                </a:solidFill>
                <a:latin typeface="Calibri"/>
                <a:ea typeface="Calibri"/>
                <a:cs typeface="Calibri"/>
              </a:rPr>
              <a:t>0.0161</a:t>
            </a:r>
            <a:endParaRPr lang="en-US" sz="1200"/>
          </a:p>
        </p:txBody>
      </p:sp>
      <p:sp>
        <p:nvSpPr>
          <p:cNvPr id="1093665975" name="Shape 40"/>
          <p:cNvSpPr/>
          <p:nvPr/>
        </p:nvSpPr>
        <p:spPr bwMode="auto">
          <a:xfrm>
            <a:off x="548640" y="4059936"/>
            <a:ext cx="2377440" cy="475488"/>
          </a:xfrm>
          <a:prstGeom prst="rect">
            <a:avLst/>
          </a:prstGeom>
          <a:solidFill>
            <a:srgbClr val="D8F3DC"/>
          </a:solidFill>
          <a:ln w="9525">
            <a:solidFill>
              <a:srgbClr val="DDEEE3"/>
            </a:solidFill>
            <a:prstDash val="solid"/>
          </a:ln>
        </p:spPr>
      </p:sp>
      <p:sp>
        <p:nvSpPr>
          <p:cNvPr id="142024099" name="Text 41"/>
          <p:cNvSpPr/>
          <p:nvPr/>
        </p:nvSpPr>
        <p:spPr bwMode="auto">
          <a:xfrm>
            <a:off x="548640" y="4059936"/>
            <a:ext cx="2377440" cy="475488"/>
          </a:xfrm>
          <a:prstGeom prst="rect">
            <a:avLst/>
          </a:prstGeom>
          <a:noFill/>
          <a:ln/>
        </p:spPr>
        <p:txBody>
          <a:bodyPr wrap="square" lIns="91440" tIns="91440" rIns="91440" bIns="91440" rtlCol="0" anchor="ctr"/>
          <a:lstStyle/>
          <a:p>
            <a:pPr marL="0" indent="0" algn="l">
              <a:buNone/>
              <a:defRPr/>
            </a:pPr>
            <a:r>
              <a:rPr lang="en-US" sz="1200">
                <a:solidFill>
                  <a:srgbClr val="1B2A22"/>
                </a:solidFill>
                <a:latin typeface="Calibri"/>
                <a:ea typeface="Calibri"/>
                <a:cs typeface="Calibri"/>
              </a:rPr>
              <a:t>Residuals</a:t>
            </a:r>
            <a:endParaRPr lang="en-US" sz="1200"/>
          </a:p>
        </p:txBody>
      </p:sp>
      <p:sp>
        <p:nvSpPr>
          <p:cNvPr id="1325325493" name="Shape 42"/>
          <p:cNvSpPr/>
          <p:nvPr/>
        </p:nvSpPr>
        <p:spPr bwMode="auto">
          <a:xfrm>
            <a:off x="2926080" y="4059936"/>
            <a:ext cx="914400" cy="475488"/>
          </a:xfrm>
          <a:prstGeom prst="rect">
            <a:avLst/>
          </a:prstGeom>
          <a:solidFill>
            <a:srgbClr val="D8F3DC"/>
          </a:solidFill>
          <a:ln w="9525">
            <a:solidFill>
              <a:srgbClr val="DDEEE3"/>
            </a:solidFill>
            <a:prstDash val="solid"/>
          </a:ln>
        </p:spPr>
      </p:sp>
      <p:sp>
        <p:nvSpPr>
          <p:cNvPr id="1934799766" name="Text 43"/>
          <p:cNvSpPr/>
          <p:nvPr/>
        </p:nvSpPr>
        <p:spPr bwMode="auto">
          <a:xfrm>
            <a:off x="2926080" y="4059936"/>
            <a:ext cx="914400" cy="475488"/>
          </a:xfrm>
          <a:prstGeom prst="rect">
            <a:avLst/>
          </a:prstGeom>
          <a:noFill/>
          <a:ln/>
        </p:spPr>
        <p:txBody>
          <a:bodyPr wrap="square" lIns="91440" tIns="91440" rIns="91440" bIns="91440" rtlCol="0" anchor="ctr"/>
          <a:lstStyle/>
          <a:p>
            <a:pPr marL="0" indent="0" algn="ctr">
              <a:buNone/>
              <a:defRPr/>
            </a:pPr>
            <a:r>
              <a:rPr lang="en-US" sz="1200">
                <a:solidFill>
                  <a:srgbClr val="1B2A22"/>
                </a:solidFill>
                <a:latin typeface="Calibri"/>
                <a:ea typeface="Calibri"/>
                <a:cs typeface="Calibri"/>
              </a:rPr>
              <a:t>6</a:t>
            </a:r>
            <a:endParaRPr lang="en-US" sz="1200"/>
          </a:p>
        </p:txBody>
      </p:sp>
      <p:sp>
        <p:nvSpPr>
          <p:cNvPr id="1049126811" name="Shape 44"/>
          <p:cNvSpPr/>
          <p:nvPr/>
        </p:nvSpPr>
        <p:spPr bwMode="auto">
          <a:xfrm>
            <a:off x="3840480" y="4059936"/>
            <a:ext cx="1645920" cy="475488"/>
          </a:xfrm>
          <a:prstGeom prst="rect">
            <a:avLst/>
          </a:prstGeom>
          <a:solidFill>
            <a:srgbClr val="D8F3DC"/>
          </a:solidFill>
          <a:ln w="9525">
            <a:solidFill>
              <a:srgbClr val="DDEEE3"/>
            </a:solidFill>
            <a:prstDash val="solid"/>
          </a:ln>
        </p:spPr>
      </p:sp>
      <p:sp>
        <p:nvSpPr>
          <p:cNvPr id="2116821951" name="Text 45"/>
          <p:cNvSpPr/>
          <p:nvPr/>
        </p:nvSpPr>
        <p:spPr bwMode="auto">
          <a:xfrm>
            <a:off x="3840480" y="4059936"/>
            <a:ext cx="1645920" cy="475488"/>
          </a:xfrm>
          <a:prstGeom prst="rect">
            <a:avLst/>
          </a:prstGeom>
          <a:noFill/>
          <a:ln/>
        </p:spPr>
        <p:txBody>
          <a:bodyPr wrap="square" lIns="91440" tIns="91440" rIns="91440" bIns="91440" rtlCol="0" anchor="ctr"/>
          <a:lstStyle/>
          <a:p>
            <a:pPr marL="0" indent="0" algn="ctr">
              <a:buNone/>
              <a:defRPr/>
            </a:pPr>
            <a:r>
              <a:rPr lang="en-US" sz="1200">
                <a:solidFill>
                  <a:srgbClr val="1B2A22"/>
                </a:solidFill>
                <a:latin typeface="Calibri"/>
                <a:ea typeface="Calibri"/>
                <a:cs typeface="Calibri"/>
              </a:rPr>
              <a:t>15.0</a:t>
            </a:r>
            <a:endParaRPr lang="en-US" sz="1200"/>
          </a:p>
        </p:txBody>
      </p:sp>
      <p:sp>
        <p:nvSpPr>
          <p:cNvPr id="1070599588" name="Shape 46"/>
          <p:cNvSpPr/>
          <p:nvPr/>
        </p:nvSpPr>
        <p:spPr bwMode="auto">
          <a:xfrm>
            <a:off x="5486400" y="4059936"/>
            <a:ext cx="1645920" cy="475488"/>
          </a:xfrm>
          <a:prstGeom prst="rect">
            <a:avLst/>
          </a:prstGeom>
          <a:solidFill>
            <a:srgbClr val="D8F3DC"/>
          </a:solidFill>
          <a:ln w="9525">
            <a:solidFill>
              <a:srgbClr val="DDEEE3"/>
            </a:solidFill>
            <a:prstDash val="solid"/>
          </a:ln>
        </p:spPr>
      </p:sp>
      <p:sp>
        <p:nvSpPr>
          <p:cNvPr id="842965548" name="Text 47"/>
          <p:cNvSpPr/>
          <p:nvPr/>
        </p:nvSpPr>
        <p:spPr bwMode="auto">
          <a:xfrm>
            <a:off x="5486400" y="4059936"/>
            <a:ext cx="1645920" cy="475488"/>
          </a:xfrm>
          <a:prstGeom prst="rect">
            <a:avLst/>
          </a:prstGeom>
          <a:noFill/>
          <a:ln/>
        </p:spPr>
        <p:txBody>
          <a:bodyPr wrap="square" lIns="91440" tIns="91440" rIns="91440" bIns="91440" rtlCol="0" anchor="ctr"/>
          <a:lstStyle/>
          <a:p>
            <a:pPr marL="0" indent="0" algn="ctr">
              <a:buNone/>
              <a:defRPr/>
            </a:pPr>
            <a:r>
              <a:rPr lang="en-US" sz="1200">
                <a:solidFill>
                  <a:srgbClr val="1B2A22"/>
                </a:solidFill>
                <a:latin typeface="Calibri"/>
                <a:ea typeface="Calibri"/>
                <a:cs typeface="Calibri"/>
              </a:rPr>
              <a:t>2.50</a:t>
            </a:r>
            <a:endParaRPr lang="en-US" sz="1200"/>
          </a:p>
        </p:txBody>
      </p:sp>
      <p:sp>
        <p:nvSpPr>
          <p:cNvPr id="991207156" name="Shape 48"/>
          <p:cNvSpPr/>
          <p:nvPr/>
        </p:nvSpPr>
        <p:spPr bwMode="auto">
          <a:xfrm>
            <a:off x="7132320" y="4059936"/>
            <a:ext cx="1463040" cy="475488"/>
          </a:xfrm>
          <a:prstGeom prst="rect">
            <a:avLst/>
          </a:prstGeom>
          <a:solidFill>
            <a:srgbClr val="D8F3DC"/>
          </a:solidFill>
          <a:ln w="9525">
            <a:solidFill>
              <a:srgbClr val="DDEEE3"/>
            </a:solidFill>
            <a:prstDash val="solid"/>
          </a:ln>
        </p:spPr>
      </p:sp>
      <p:sp>
        <p:nvSpPr>
          <p:cNvPr id="806146346" name="Text 49"/>
          <p:cNvSpPr/>
          <p:nvPr/>
        </p:nvSpPr>
        <p:spPr bwMode="auto">
          <a:xfrm>
            <a:off x="7132320" y="4059936"/>
            <a:ext cx="1463040" cy="475488"/>
          </a:xfrm>
          <a:prstGeom prst="rect">
            <a:avLst/>
          </a:prstGeom>
          <a:noFill/>
          <a:ln/>
        </p:spPr>
        <p:txBody>
          <a:bodyPr wrap="square" lIns="91440" tIns="91440" rIns="91440" bIns="91440" rtlCol="0" anchor="ctr"/>
          <a:lstStyle/>
          <a:p>
            <a:pPr marL="0" indent="0" algn="ctr">
              <a:buNone/>
              <a:defRPr/>
            </a:pPr>
            <a:endParaRPr lang="en-US" sz="1200"/>
          </a:p>
        </p:txBody>
      </p:sp>
      <p:sp>
        <p:nvSpPr>
          <p:cNvPr id="61098354" name="Shape 50"/>
          <p:cNvSpPr/>
          <p:nvPr/>
        </p:nvSpPr>
        <p:spPr bwMode="auto">
          <a:xfrm>
            <a:off x="8595360" y="4059936"/>
            <a:ext cx="1554480" cy="475488"/>
          </a:xfrm>
          <a:prstGeom prst="rect">
            <a:avLst/>
          </a:prstGeom>
          <a:solidFill>
            <a:srgbClr val="D8F3DC"/>
          </a:solidFill>
          <a:ln w="9525">
            <a:solidFill>
              <a:srgbClr val="DDEEE3"/>
            </a:solidFill>
            <a:prstDash val="solid"/>
          </a:ln>
        </p:spPr>
      </p:sp>
      <p:sp>
        <p:nvSpPr>
          <p:cNvPr id="2086557856" name="Text 51"/>
          <p:cNvSpPr/>
          <p:nvPr/>
        </p:nvSpPr>
        <p:spPr bwMode="auto">
          <a:xfrm>
            <a:off x="8595360" y="4059936"/>
            <a:ext cx="1554480" cy="475488"/>
          </a:xfrm>
          <a:prstGeom prst="rect">
            <a:avLst/>
          </a:prstGeom>
          <a:noFill/>
          <a:ln/>
        </p:spPr>
        <p:txBody>
          <a:bodyPr wrap="square" lIns="91440" tIns="91440" rIns="91440" bIns="91440" rtlCol="0" anchor="ctr"/>
          <a:lstStyle/>
          <a:p>
            <a:pPr marL="0" indent="0" algn="ctr">
              <a:buNone/>
              <a:defRPr/>
            </a:pPr>
            <a:endParaRPr lang="en-US" sz="1200"/>
          </a:p>
        </p:txBody>
      </p:sp>
      <p:sp>
        <p:nvSpPr>
          <p:cNvPr id="1679922911" name="Shape 52"/>
          <p:cNvSpPr/>
          <p:nvPr/>
        </p:nvSpPr>
        <p:spPr bwMode="auto">
          <a:xfrm>
            <a:off x="548640" y="4809744"/>
            <a:ext cx="11064240" cy="1234440"/>
          </a:xfrm>
          <a:prstGeom prst="roundRect">
            <a:avLst>
              <a:gd name="adj" fmla="val 5926"/>
            </a:avLst>
          </a:prstGeom>
          <a:solidFill>
            <a:srgbClr val="D8F3DC"/>
          </a:solidFill>
          <a:ln/>
        </p:spPr>
      </p:sp>
      <p:sp>
        <p:nvSpPr>
          <p:cNvPr id="1509396843" name="Text 53"/>
          <p:cNvSpPr/>
          <p:nvPr/>
        </p:nvSpPr>
        <p:spPr bwMode="auto">
          <a:xfrm>
            <a:off x="822960" y="4946904"/>
            <a:ext cx="10515600" cy="960120"/>
          </a:xfrm>
          <a:prstGeom prst="rect">
            <a:avLst/>
          </a:prstGeom>
          <a:noFill/>
          <a:ln/>
        </p:spPr>
        <p:txBody>
          <a:bodyPr wrap="square" rtlCol="0" anchor="ctr"/>
          <a:lstStyle/>
          <a:p>
            <a:pPr marL="0" indent="0">
              <a:lnSpc>
                <a:spcPct val="130000"/>
              </a:lnSpc>
              <a:buNone/>
              <a:defRPr/>
            </a:pPr>
            <a:r>
              <a:rPr lang="en-US" sz="1250" b="1">
                <a:solidFill>
                  <a:srgbClr val="1B4332"/>
                </a:solidFill>
                <a:latin typeface="Calibri"/>
                <a:ea typeface="Calibri"/>
                <a:cs typeface="Calibri"/>
              </a:rPr>
              <a:t>Interpretasi:  </a:t>
            </a:r>
            <a:r>
              <a:rPr lang="en-US" sz="1250">
                <a:solidFill>
                  <a:srgbClr val="1B2A22"/>
                </a:solidFill>
                <a:latin typeface="Calibri"/>
                <a:ea typeface="Calibri"/>
                <a:cs typeface="Calibri"/>
              </a:rPr>
              <a:t>Baris </a:t>
            </a:r>
            <a:r>
              <a:rPr lang="en-US" sz="1250" b="1">
                <a:solidFill>
                  <a:srgbClr val="1B4332"/>
                </a:solidFill>
                <a:latin typeface="Calibri"/>
                <a:ea typeface="Calibri"/>
                <a:cs typeface="Calibri"/>
              </a:rPr>
              <a:t>perlakuan</a:t>
            </a:r>
            <a:r>
              <a:rPr lang="en-US" sz="1250">
                <a:solidFill>
                  <a:srgbClr val="1B2A22"/>
                </a:solidFill>
                <a:latin typeface="Calibri"/>
                <a:ea typeface="Calibri"/>
                <a:cs typeface="Calibri"/>
              </a:rPr>
              <a:t> signifikan (Pr(&gt;F) = 0.0081) → dosis pupuk berpengaruh nyata. Baris </a:t>
            </a:r>
            <a:r>
              <a:rPr lang="en-US" sz="1250" b="1">
                <a:solidFill>
                  <a:srgbClr val="1B4332"/>
                </a:solidFill>
                <a:latin typeface="Calibri"/>
                <a:ea typeface="Calibri"/>
                <a:cs typeface="Calibri"/>
              </a:rPr>
              <a:t>blok</a:t>
            </a:r>
            <a:r>
              <a:rPr lang="en-US" sz="1250">
                <a:solidFill>
                  <a:srgbClr val="1B2A22"/>
                </a:solidFill>
                <a:latin typeface="Calibri"/>
                <a:ea typeface="Calibri"/>
                <a:cs typeface="Calibri"/>
              </a:rPr>
              <a:t> juga signifikan (0.0161) → pengelompokan meja memang beralasan dan berhasil mengurangi galat.</a:t>
            </a:r>
            <a:endParaRPr lang="en-US" sz="1250"/>
          </a:p>
        </p:txBody>
      </p:sp>
      <p:sp>
        <p:nvSpPr>
          <p:cNvPr id="1485936924" name="Text 54"/>
          <p:cNvSpPr/>
          <p:nvPr/>
        </p:nvSpPr>
        <p:spPr bwMode="auto">
          <a:xfrm>
            <a:off x="457200" y="6473952"/>
            <a:ext cx="7315200" cy="274320"/>
          </a:xfrm>
          <a:prstGeom prst="rect">
            <a:avLst/>
          </a:prstGeom>
          <a:noFill/>
          <a:ln/>
        </p:spPr>
        <p:txBody>
          <a:bodyPr wrap="square" rtlCol="0" anchor="ctr"/>
          <a:lstStyle/>
          <a:p>
            <a:pPr marL="0" indent="0" algn="l">
              <a:buNone/>
              <a:defRPr/>
            </a:pPr>
            <a:r>
              <a:rPr lang="en-US" sz="900">
                <a:solidFill>
                  <a:srgbClr val="5C6B63"/>
                </a:solidFill>
                <a:latin typeface="Calibri"/>
                <a:ea typeface="Calibri"/>
                <a:cs typeface="Calibri"/>
              </a:rPr>
              <a:t>RAK — Biostatistika untuk Biologi</a:t>
            </a:r>
            <a:endParaRPr lang="en-US" sz="900"/>
          </a:p>
        </p:txBody>
      </p:sp>
      <p:sp>
        <p:nvSpPr>
          <p:cNvPr id="1630263555" name="Text 55"/>
          <p:cNvSpPr/>
          <p:nvPr/>
        </p:nvSpPr>
        <p:spPr bwMode="auto">
          <a:xfrm>
            <a:off x="11274552" y="6473952"/>
            <a:ext cx="457200" cy="274320"/>
          </a:xfrm>
          <a:prstGeom prst="rect">
            <a:avLst/>
          </a:prstGeom>
          <a:noFill/>
          <a:ln/>
        </p:spPr>
        <p:txBody>
          <a:bodyPr wrap="square" rtlCol="0" anchor="ctr"/>
          <a:lstStyle/>
          <a:p>
            <a:pPr marL="0" indent="0" algn="r">
              <a:buNone/>
              <a:defRPr/>
            </a:pPr>
            <a:r>
              <a:rPr lang="en-US" sz="900">
                <a:solidFill>
                  <a:srgbClr val="5C6B63"/>
                </a:solidFill>
                <a:latin typeface="Calibri"/>
                <a:ea typeface="Calibri"/>
                <a:cs typeface="Calibri"/>
              </a:rPr>
              <a:t>9</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7FAF7"/>
        </a:solidFill>
      </p:bgPr>
    </p:bg>
    <p:spTree>
      <p:nvGrpSpPr>
        <p:cNvPr id="1" name=""/>
        <p:cNvGrpSpPr/>
        <p:nvPr/>
      </p:nvGrpSpPr>
      <p:grpSpPr bwMode="auto">
        <a:xfrm>
          <a:off x="0" y="0"/>
          <a:ext cx="0" cy="0"/>
          <a:chOff x="0" y="0"/>
          <a:chExt cx="0" cy="0"/>
        </a:xfrm>
      </p:grpSpPr>
      <p:sp>
        <p:nvSpPr>
          <p:cNvPr id="27339310" name="Text 0"/>
          <p:cNvSpPr/>
          <p:nvPr/>
        </p:nvSpPr>
        <p:spPr bwMode="auto">
          <a:xfrm>
            <a:off x="548640" y="384048"/>
            <a:ext cx="9144000" cy="320040"/>
          </a:xfrm>
          <a:prstGeom prst="rect">
            <a:avLst/>
          </a:prstGeom>
          <a:noFill/>
          <a:ln/>
        </p:spPr>
        <p:txBody>
          <a:bodyPr wrap="square" rtlCol="0" anchor="ctr"/>
          <a:lstStyle/>
          <a:p>
            <a:pPr marL="0" indent="0">
              <a:buNone/>
              <a:defRPr/>
            </a:pPr>
            <a:r>
              <a:rPr lang="en-US" sz="1200" b="1" spc="200">
                <a:solidFill>
                  <a:srgbClr val="2D6A4F"/>
                </a:solidFill>
                <a:latin typeface="Calibri"/>
                <a:ea typeface="Calibri"/>
                <a:cs typeface="Calibri"/>
              </a:rPr>
              <a:t>2.4.4 · UJI LANJUT</a:t>
            </a:r>
            <a:endParaRPr lang="en-US" sz="1200"/>
          </a:p>
        </p:txBody>
      </p:sp>
      <p:sp>
        <p:nvSpPr>
          <p:cNvPr id="1237622067" name="Text 1"/>
          <p:cNvSpPr/>
          <p:nvPr/>
        </p:nvSpPr>
        <p:spPr bwMode="auto">
          <a:xfrm>
            <a:off x="548640" y="658368"/>
            <a:ext cx="11064240" cy="822960"/>
          </a:xfrm>
          <a:prstGeom prst="rect">
            <a:avLst/>
          </a:prstGeom>
          <a:noFill/>
          <a:ln/>
        </p:spPr>
        <p:txBody>
          <a:bodyPr wrap="square" rtlCol="0" anchor="ctr"/>
          <a:lstStyle/>
          <a:p>
            <a:pPr marL="0" indent="0">
              <a:buNone/>
              <a:defRPr/>
            </a:pPr>
            <a:r>
              <a:rPr lang="en-US" sz="3000" b="1">
                <a:solidFill>
                  <a:srgbClr val="1B4332"/>
                </a:solidFill>
                <a:latin typeface="Cambria"/>
                <a:ea typeface="Cambria"/>
                <a:cs typeface="Cambria"/>
              </a:rPr>
              <a:t>Tukey HSD Khusus Faktor Perlakuan</a:t>
            </a:r>
            <a:endParaRPr lang="en-US" sz="3000"/>
          </a:p>
        </p:txBody>
      </p:sp>
      <p:sp>
        <p:nvSpPr>
          <p:cNvPr id="1955647351" name="Shape 2"/>
          <p:cNvSpPr/>
          <p:nvPr/>
        </p:nvSpPr>
        <p:spPr bwMode="auto">
          <a:xfrm>
            <a:off x="548640" y="1783080"/>
            <a:ext cx="731520" cy="731520"/>
          </a:xfrm>
          <a:prstGeom prst="ellipse">
            <a:avLst/>
          </a:prstGeom>
          <a:solidFill>
            <a:srgbClr val="2D6A4F"/>
          </a:solidFill>
          <a:ln/>
        </p:spPr>
      </p:sp>
      <p:pic>
        <p:nvPicPr>
          <p:cNvPr id="1634527156" name="Image 0" descr="scale.png"/>
          <p:cNvPicPr>
            <a:picLocks noChangeAspect="1"/>
          </p:cNvPicPr>
          <p:nvPr/>
        </p:nvPicPr>
        <p:blipFill rotWithShape="1">
          <a:blip r:embed="rId3"/>
          <a:stretch/>
        </p:blipFill>
        <p:spPr bwMode="auto">
          <a:xfrm>
            <a:off x="643738" y="1878178"/>
            <a:ext cx="541325" cy="541325"/>
          </a:xfrm>
          <a:prstGeom prst="rect">
            <a:avLst/>
          </a:prstGeom>
        </p:spPr>
      </p:pic>
      <p:sp>
        <p:nvSpPr>
          <p:cNvPr id="997489202" name="Text 3"/>
          <p:cNvSpPr/>
          <p:nvPr/>
        </p:nvSpPr>
        <p:spPr bwMode="auto">
          <a:xfrm>
            <a:off x="1508759" y="1783080"/>
            <a:ext cx="10058400" cy="914400"/>
          </a:xfrm>
          <a:prstGeom prst="rect">
            <a:avLst/>
          </a:prstGeom>
          <a:noFill/>
          <a:ln/>
        </p:spPr>
        <p:txBody>
          <a:bodyPr wrap="square" rtlCol="0" anchor="ctr"/>
          <a:lstStyle/>
          <a:p>
            <a:pPr marL="0" indent="0">
              <a:lnSpc>
                <a:spcPct val="130000"/>
              </a:lnSpc>
              <a:buNone/>
              <a:defRPr/>
            </a:pPr>
            <a:r>
              <a:rPr lang="en-US" sz="1400">
                <a:solidFill>
                  <a:srgbClr val="1B2A22"/>
                </a:solidFill>
                <a:latin typeface="Calibri"/>
                <a:ea typeface="Calibri"/>
                <a:cs typeface="Calibri"/>
              </a:rPr>
              <a:t>Karena blok hanyalah variabel pengontrol dan </a:t>
            </a:r>
            <a:r>
              <a:rPr lang="en-US" sz="1400" b="1">
                <a:solidFill>
                  <a:srgbClr val="1B4332"/>
                </a:solidFill>
                <a:latin typeface="Calibri"/>
                <a:ea typeface="Calibri"/>
                <a:cs typeface="Calibri"/>
              </a:rPr>
              <a:t>bukan objek perbandingan</a:t>
            </a:r>
            <a:r>
              <a:rPr lang="en-US" sz="1400">
                <a:solidFill>
                  <a:srgbClr val="1B2A22"/>
                </a:solidFill>
                <a:latin typeface="Calibri"/>
                <a:ea typeface="Calibri"/>
                <a:cs typeface="Calibri"/>
              </a:rPr>
              <a:t>, uji lanjut Tukey HSD dibatasi hanya untuk faktor perlakuan dengan menuliskan nama faktor tersebut secara eksplisit.</a:t>
            </a:r>
            <a:endParaRPr lang="en-US" sz="1400"/>
          </a:p>
        </p:txBody>
      </p:sp>
      <p:sp>
        <p:nvSpPr>
          <p:cNvPr id="1237516625" name="Shape 4"/>
          <p:cNvSpPr/>
          <p:nvPr/>
        </p:nvSpPr>
        <p:spPr bwMode="auto">
          <a:xfrm>
            <a:off x="548640" y="2834640"/>
            <a:ext cx="11064240" cy="548640"/>
          </a:xfrm>
          <a:prstGeom prst="roundRect">
            <a:avLst>
              <a:gd name="adj" fmla="val 10000"/>
            </a:avLst>
          </a:prstGeom>
          <a:solidFill>
            <a:srgbClr val="24291F"/>
          </a:solidFill>
          <a:ln/>
        </p:spPr>
      </p:sp>
      <p:sp>
        <p:nvSpPr>
          <p:cNvPr id="1799903422" name="Text 5"/>
          <p:cNvSpPr/>
          <p:nvPr/>
        </p:nvSpPr>
        <p:spPr bwMode="auto">
          <a:xfrm>
            <a:off x="777240" y="2834640"/>
            <a:ext cx="10607040" cy="548640"/>
          </a:xfrm>
          <a:prstGeom prst="rect">
            <a:avLst/>
          </a:prstGeom>
          <a:noFill/>
          <a:ln/>
        </p:spPr>
        <p:txBody>
          <a:bodyPr wrap="square" rtlCol="0" anchor="ctr"/>
          <a:lstStyle/>
          <a:p>
            <a:pPr marL="0" indent="0">
              <a:buNone/>
              <a:defRPr/>
            </a:pPr>
            <a:r>
              <a:rPr lang="en-US" sz="1250">
                <a:solidFill>
                  <a:srgbClr val="FFFFFF"/>
                </a:solidFill>
                <a:latin typeface="Courier New"/>
                <a:ea typeface="Courier New"/>
                <a:cs typeface="Courier New"/>
              </a:rPr>
              <a:t>tukey_result &lt;- </a:t>
            </a:r>
            <a:r>
              <a:rPr lang="en-US" sz="1250" b="1">
                <a:solidFill>
                  <a:srgbClr val="F2C6A0"/>
                </a:solidFill>
                <a:latin typeface="Courier New"/>
                <a:ea typeface="Courier New"/>
                <a:cs typeface="Courier New"/>
              </a:rPr>
              <a:t>TukeyHSD</a:t>
            </a:r>
            <a:r>
              <a:rPr lang="en-US" sz="1250">
                <a:solidFill>
                  <a:srgbClr val="FFFFFF"/>
                </a:solidFill>
                <a:latin typeface="Courier New"/>
                <a:ea typeface="Courier New"/>
                <a:cs typeface="Courier New"/>
              </a:rPr>
              <a:t>(model, </a:t>
            </a:r>
            <a:r>
              <a:rPr lang="en-US" sz="1250">
                <a:solidFill>
                  <a:srgbClr val="9FE6B0"/>
                </a:solidFill>
                <a:latin typeface="Courier New"/>
                <a:ea typeface="Courier New"/>
                <a:cs typeface="Courier New"/>
              </a:rPr>
              <a:t>"perlakuan"</a:t>
            </a:r>
            <a:r>
              <a:rPr lang="en-US" sz="1250">
                <a:solidFill>
                  <a:srgbClr val="FFFFFF"/>
                </a:solidFill>
                <a:latin typeface="Courier New"/>
                <a:ea typeface="Courier New"/>
                <a:cs typeface="Courier New"/>
              </a:rPr>
              <a:t>)   </a:t>
            </a:r>
            <a:r>
              <a:rPr lang="en-US" sz="1250" b="1">
                <a:solidFill>
                  <a:srgbClr val="F2C6A0"/>
                </a:solidFill>
                <a:latin typeface="Courier New"/>
                <a:ea typeface="Courier New"/>
                <a:cs typeface="Courier New"/>
              </a:rPr>
              <a:t>print</a:t>
            </a:r>
            <a:r>
              <a:rPr lang="en-US" sz="1250">
                <a:solidFill>
                  <a:srgbClr val="FFFFFF"/>
                </a:solidFill>
                <a:latin typeface="Courier New"/>
                <a:ea typeface="Courier New"/>
                <a:cs typeface="Courier New"/>
              </a:rPr>
              <a:t>(tukey_result)</a:t>
            </a:r>
            <a:endParaRPr lang="en-US" sz="1250"/>
          </a:p>
        </p:txBody>
      </p:sp>
      <p:sp>
        <p:nvSpPr>
          <p:cNvPr id="1449271582" name="Shape 6"/>
          <p:cNvSpPr/>
          <p:nvPr/>
        </p:nvSpPr>
        <p:spPr bwMode="auto">
          <a:xfrm>
            <a:off x="548640" y="3657600"/>
            <a:ext cx="3749040" cy="438912"/>
          </a:xfrm>
          <a:prstGeom prst="rect">
            <a:avLst/>
          </a:prstGeom>
          <a:solidFill>
            <a:srgbClr val="1B4332"/>
          </a:solidFill>
          <a:ln/>
        </p:spPr>
      </p:sp>
      <p:sp>
        <p:nvSpPr>
          <p:cNvPr id="2043779965" name="Text 7"/>
          <p:cNvSpPr/>
          <p:nvPr/>
        </p:nvSpPr>
        <p:spPr bwMode="auto">
          <a:xfrm>
            <a:off x="548640" y="3657600"/>
            <a:ext cx="3749040" cy="438912"/>
          </a:xfrm>
          <a:prstGeom prst="rect">
            <a:avLst/>
          </a:prstGeom>
          <a:noFill/>
          <a:ln/>
        </p:spPr>
        <p:txBody>
          <a:bodyPr wrap="square" rtlCol="0" anchor="ctr"/>
          <a:lstStyle/>
          <a:p>
            <a:pPr marL="0" indent="0" algn="ctr">
              <a:buNone/>
              <a:defRPr/>
            </a:pPr>
            <a:r>
              <a:rPr lang="en-US" sz="1150" b="1">
                <a:solidFill>
                  <a:srgbClr val="FFFFFF"/>
                </a:solidFill>
                <a:latin typeface="Calibri"/>
                <a:ea typeface="Calibri"/>
                <a:cs typeface="Calibri"/>
              </a:rPr>
              <a:t>Pasangan Dosis</a:t>
            </a:r>
            <a:endParaRPr lang="en-US" sz="1150"/>
          </a:p>
        </p:txBody>
      </p:sp>
      <p:sp>
        <p:nvSpPr>
          <p:cNvPr id="2087589909" name="Shape 8"/>
          <p:cNvSpPr/>
          <p:nvPr/>
        </p:nvSpPr>
        <p:spPr bwMode="auto">
          <a:xfrm>
            <a:off x="4297680" y="3657600"/>
            <a:ext cx="1463040" cy="438912"/>
          </a:xfrm>
          <a:prstGeom prst="rect">
            <a:avLst/>
          </a:prstGeom>
          <a:solidFill>
            <a:srgbClr val="1B4332"/>
          </a:solidFill>
          <a:ln/>
        </p:spPr>
      </p:sp>
      <p:sp>
        <p:nvSpPr>
          <p:cNvPr id="1019552507" name="Text 9"/>
          <p:cNvSpPr/>
          <p:nvPr/>
        </p:nvSpPr>
        <p:spPr bwMode="auto">
          <a:xfrm>
            <a:off x="4297680" y="3657600"/>
            <a:ext cx="1463040" cy="438912"/>
          </a:xfrm>
          <a:prstGeom prst="rect">
            <a:avLst/>
          </a:prstGeom>
          <a:noFill/>
          <a:ln/>
        </p:spPr>
        <p:txBody>
          <a:bodyPr wrap="square" rtlCol="0" anchor="ctr"/>
          <a:lstStyle/>
          <a:p>
            <a:pPr marL="0" indent="0" algn="ctr">
              <a:buNone/>
              <a:defRPr/>
            </a:pPr>
            <a:r>
              <a:rPr lang="en-US" sz="1150" b="1">
                <a:solidFill>
                  <a:srgbClr val="FFFFFF"/>
                </a:solidFill>
                <a:latin typeface="Calibri"/>
                <a:ea typeface="Calibri"/>
                <a:cs typeface="Calibri"/>
              </a:rPr>
              <a:t>Diff</a:t>
            </a:r>
            <a:endParaRPr lang="en-US" sz="1150"/>
          </a:p>
        </p:txBody>
      </p:sp>
      <p:sp>
        <p:nvSpPr>
          <p:cNvPr id="1760642578" name="Shape 10"/>
          <p:cNvSpPr/>
          <p:nvPr/>
        </p:nvSpPr>
        <p:spPr bwMode="auto">
          <a:xfrm>
            <a:off x="5760720" y="3657600"/>
            <a:ext cx="1645920" cy="438912"/>
          </a:xfrm>
          <a:prstGeom prst="rect">
            <a:avLst/>
          </a:prstGeom>
          <a:solidFill>
            <a:srgbClr val="1B4332"/>
          </a:solidFill>
          <a:ln/>
        </p:spPr>
      </p:sp>
      <p:sp>
        <p:nvSpPr>
          <p:cNvPr id="204164960" name="Text 11"/>
          <p:cNvSpPr/>
          <p:nvPr/>
        </p:nvSpPr>
        <p:spPr bwMode="auto">
          <a:xfrm>
            <a:off x="5760720" y="3657600"/>
            <a:ext cx="1645920" cy="438912"/>
          </a:xfrm>
          <a:prstGeom prst="rect">
            <a:avLst/>
          </a:prstGeom>
          <a:noFill/>
          <a:ln/>
        </p:spPr>
        <p:txBody>
          <a:bodyPr wrap="square" rtlCol="0" anchor="ctr"/>
          <a:lstStyle/>
          <a:p>
            <a:pPr marL="0" indent="0" algn="ctr">
              <a:buNone/>
              <a:defRPr/>
            </a:pPr>
            <a:r>
              <a:rPr lang="en-US" sz="1150" b="1">
                <a:solidFill>
                  <a:srgbClr val="FFFFFF"/>
                </a:solidFill>
                <a:latin typeface="Calibri"/>
                <a:ea typeface="Calibri"/>
                <a:cs typeface="Calibri"/>
              </a:rPr>
              <a:t>p adj</a:t>
            </a:r>
            <a:endParaRPr lang="en-US" sz="1150"/>
          </a:p>
        </p:txBody>
      </p:sp>
      <p:sp>
        <p:nvSpPr>
          <p:cNvPr id="537887263" name="Shape 12"/>
          <p:cNvSpPr/>
          <p:nvPr/>
        </p:nvSpPr>
        <p:spPr bwMode="auto">
          <a:xfrm>
            <a:off x="7406640" y="3657600"/>
            <a:ext cx="2011680" cy="438912"/>
          </a:xfrm>
          <a:prstGeom prst="rect">
            <a:avLst/>
          </a:prstGeom>
          <a:solidFill>
            <a:srgbClr val="1B4332"/>
          </a:solidFill>
          <a:ln/>
        </p:spPr>
      </p:sp>
      <p:sp>
        <p:nvSpPr>
          <p:cNvPr id="1041360448" name="Text 13"/>
          <p:cNvSpPr/>
          <p:nvPr/>
        </p:nvSpPr>
        <p:spPr bwMode="auto">
          <a:xfrm>
            <a:off x="7406640" y="3657600"/>
            <a:ext cx="2011680" cy="438912"/>
          </a:xfrm>
          <a:prstGeom prst="rect">
            <a:avLst/>
          </a:prstGeom>
          <a:noFill/>
          <a:ln/>
        </p:spPr>
        <p:txBody>
          <a:bodyPr wrap="square" rtlCol="0" anchor="ctr"/>
          <a:lstStyle/>
          <a:p>
            <a:pPr marL="0" indent="0" algn="ctr">
              <a:buNone/>
              <a:defRPr/>
            </a:pPr>
            <a:r>
              <a:rPr lang="en-US" sz="1150" b="1">
                <a:solidFill>
                  <a:srgbClr val="FFFFFF"/>
                </a:solidFill>
                <a:latin typeface="Calibri"/>
                <a:ea typeface="Calibri"/>
                <a:cs typeface="Calibri"/>
              </a:rPr>
              <a:t>Signifikan?</a:t>
            </a:r>
            <a:endParaRPr lang="en-US" sz="1150"/>
          </a:p>
        </p:txBody>
      </p:sp>
      <p:sp>
        <p:nvSpPr>
          <p:cNvPr id="988009845" name="Shape 14"/>
          <p:cNvSpPr/>
          <p:nvPr/>
        </p:nvSpPr>
        <p:spPr bwMode="auto">
          <a:xfrm>
            <a:off x="548640" y="4096512"/>
            <a:ext cx="3749040" cy="438912"/>
          </a:xfrm>
          <a:prstGeom prst="rect">
            <a:avLst/>
          </a:prstGeom>
          <a:solidFill>
            <a:srgbClr val="D8F3DC"/>
          </a:solidFill>
          <a:ln w="9525">
            <a:solidFill>
              <a:srgbClr val="DDEEE3"/>
            </a:solidFill>
            <a:prstDash val="solid"/>
          </a:ln>
        </p:spPr>
      </p:sp>
      <p:sp>
        <p:nvSpPr>
          <p:cNvPr id="924976317" name="Text 15"/>
          <p:cNvSpPr/>
          <p:nvPr/>
        </p:nvSpPr>
        <p:spPr bwMode="auto">
          <a:xfrm>
            <a:off x="548640" y="4096512"/>
            <a:ext cx="3749040" cy="438912"/>
          </a:xfrm>
          <a:prstGeom prst="rect">
            <a:avLst/>
          </a:prstGeom>
          <a:noFill/>
          <a:ln/>
        </p:spPr>
        <p:txBody>
          <a:bodyPr wrap="square" lIns="91440" tIns="91440" rIns="91440" bIns="91440" rtlCol="0" anchor="ctr"/>
          <a:lstStyle/>
          <a:p>
            <a:pPr marL="0" indent="0" algn="l">
              <a:buNone/>
              <a:defRPr/>
            </a:pPr>
            <a:r>
              <a:rPr lang="en-US" sz="1150">
                <a:solidFill>
                  <a:srgbClr val="1B2A22"/>
                </a:solidFill>
                <a:latin typeface="Calibri"/>
                <a:ea typeface="Calibri"/>
                <a:cs typeface="Calibri"/>
              </a:rPr>
              <a:t>D1 − D0</a:t>
            </a:r>
            <a:endParaRPr lang="en-US" sz="1150"/>
          </a:p>
        </p:txBody>
      </p:sp>
      <p:sp>
        <p:nvSpPr>
          <p:cNvPr id="909321384" name="Shape 16"/>
          <p:cNvSpPr/>
          <p:nvPr/>
        </p:nvSpPr>
        <p:spPr bwMode="auto">
          <a:xfrm>
            <a:off x="4297680" y="4096512"/>
            <a:ext cx="1463040" cy="438912"/>
          </a:xfrm>
          <a:prstGeom prst="rect">
            <a:avLst/>
          </a:prstGeom>
          <a:solidFill>
            <a:srgbClr val="D8F3DC"/>
          </a:solidFill>
          <a:ln w="9525">
            <a:solidFill>
              <a:srgbClr val="DDEEE3"/>
            </a:solidFill>
            <a:prstDash val="solid"/>
          </a:ln>
        </p:spPr>
      </p:sp>
      <p:sp>
        <p:nvSpPr>
          <p:cNvPr id="2006093881" name="Text 17"/>
          <p:cNvSpPr/>
          <p:nvPr/>
        </p:nvSpPr>
        <p:spPr bwMode="auto">
          <a:xfrm>
            <a:off x="4297680" y="4096512"/>
            <a:ext cx="1463040" cy="438912"/>
          </a:xfrm>
          <a:prstGeom prst="rect">
            <a:avLst/>
          </a:prstGeom>
          <a:noFill/>
          <a:ln/>
        </p:spPr>
        <p:txBody>
          <a:bodyPr wrap="square" lIns="91440" tIns="91440" rIns="91440" bIns="91440" rtlCol="0" anchor="ctr"/>
          <a:lstStyle/>
          <a:p>
            <a:pPr marL="0" indent="0" algn="ctr">
              <a:buNone/>
              <a:defRPr/>
            </a:pPr>
            <a:r>
              <a:rPr lang="en-US" sz="1150">
                <a:solidFill>
                  <a:srgbClr val="1B2A22"/>
                </a:solidFill>
                <a:latin typeface="Calibri"/>
                <a:ea typeface="Calibri"/>
                <a:cs typeface="Calibri"/>
              </a:rPr>
              <a:t>3.30</a:t>
            </a:r>
            <a:endParaRPr lang="en-US" sz="1150"/>
          </a:p>
        </p:txBody>
      </p:sp>
      <p:sp>
        <p:nvSpPr>
          <p:cNvPr id="1023633002" name="Shape 18"/>
          <p:cNvSpPr/>
          <p:nvPr/>
        </p:nvSpPr>
        <p:spPr bwMode="auto">
          <a:xfrm>
            <a:off x="5760720" y="4096512"/>
            <a:ext cx="1645920" cy="438912"/>
          </a:xfrm>
          <a:prstGeom prst="rect">
            <a:avLst/>
          </a:prstGeom>
          <a:solidFill>
            <a:srgbClr val="D8F3DC"/>
          </a:solidFill>
          <a:ln w="9525">
            <a:solidFill>
              <a:srgbClr val="DDEEE3"/>
            </a:solidFill>
            <a:prstDash val="solid"/>
          </a:ln>
        </p:spPr>
      </p:sp>
      <p:sp>
        <p:nvSpPr>
          <p:cNvPr id="587835395" name="Text 19"/>
          <p:cNvSpPr/>
          <p:nvPr/>
        </p:nvSpPr>
        <p:spPr bwMode="auto">
          <a:xfrm>
            <a:off x="5760720" y="4096512"/>
            <a:ext cx="1645920" cy="438912"/>
          </a:xfrm>
          <a:prstGeom prst="rect">
            <a:avLst/>
          </a:prstGeom>
          <a:noFill/>
          <a:ln/>
        </p:spPr>
        <p:txBody>
          <a:bodyPr wrap="square" lIns="91440" tIns="91440" rIns="91440" bIns="91440" rtlCol="0" anchor="ctr"/>
          <a:lstStyle/>
          <a:p>
            <a:pPr marL="0" indent="0" algn="ctr">
              <a:buNone/>
              <a:defRPr/>
            </a:pPr>
            <a:r>
              <a:rPr lang="en-US" sz="1150">
                <a:solidFill>
                  <a:srgbClr val="1B2A22"/>
                </a:solidFill>
                <a:latin typeface="Calibri"/>
                <a:ea typeface="Calibri"/>
                <a:cs typeface="Calibri"/>
              </a:rPr>
              <a:t>0.0890</a:t>
            </a:r>
            <a:endParaRPr lang="en-US" sz="1150"/>
          </a:p>
        </p:txBody>
      </p:sp>
      <p:sp>
        <p:nvSpPr>
          <p:cNvPr id="165549364" name="Shape 20"/>
          <p:cNvSpPr/>
          <p:nvPr/>
        </p:nvSpPr>
        <p:spPr bwMode="auto">
          <a:xfrm>
            <a:off x="7406640" y="4096512"/>
            <a:ext cx="2011680" cy="438912"/>
          </a:xfrm>
          <a:prstGeom prst="rect">
            <a:avLst/>
          </a:prstGeom>
          <a:solidFill>
            <a:srgbClr val="D8F3DC"/>
          </a:solidFill>
          <a:ln w="9525">
            <a:solidFill>
              <a:srgbClr val="DDEEE3"/>
            </a:solidFill>
            <a:prstDash val="solid"/>
          </a:ln>
        </p:spPr>
      </p:sp>
      <p:sp>
        <p:nvSpPr>
          <p:cNvPr id="1780507117" name="Text 21"/>
          <p:cNvSpPr/>
          <p:nvPr/>
        </p:nvSpPr>
        <p:spPr bwMode="auto">
          <a:xfrm>
            <a:off x="7406640" y="4096512"/>
            <a:ext cx="2011680" cy="438912"/>
          </a:xfrm>
          <a:prstGeom prst="rect">
            <a:avLst/>
          </a:prstGeom>
          <a:noFill/>
          <a:ln/>
        </p:spPr>
        <p:txBody>
          <a:bodyPr wrap="square" lIns="91440" tIns="91440" rIns="91440" bIns="91440" rtlCol="0" anchor="ctr"/>
          <a:lstStyle/>
          <a:p>
            <a:pPr marL="0" indent="0" algn="ctr">
              <a:buNone/>
              <a:defRPr/>
            </a:pPr>
            <a:r>
              <a:rPr lang="en-US" sz="1150" b="1">
                <a:solidFill>
                  <a:srgbClr val="5C6B63"/>
                </a:solidFill>
                <a:latin typeface="Calibri"/>
                <a:ea typeface="Calibri"/>
                <a:cs typeface="Calibri"/>
              </a:rPr>
              <a:t>Tidak</a:t>
            </a:r>
            <a:endParaRPr lang="en-US" sz="1150"/>
          </a:p>
        </p:txBody>
      </p:sp>
      <p:sp>
        <p:nvSpPr>
          <p:cNvPr id="73484999" name="Shape 22"/>
          <p:cNvSpPr/>
          <p:nvPr/>
        </p:nvSpPr>
        <p:spPr bwMode="auto">
          <a:xfrm>
            <a:off x="548640" y="4535424"/>
            <a:ext cx="3749040" cy="438912"/>
          </a:xfrm>
          <a:prstGeom prst="rect">
            <a:avLst/>
          </a:prstGeom>
          <a:solidFill>
            <a:srgbClr val="FFFFFF"/>
          </a:solidFill>
          <a:ln w="9525">
            <a:solidFill>
              <a:srgbClr val="DDEEE3"/>
            </a:solidFill>
            <a:prstDash val="solid"/>
          </a:ln>
        </p:spPr>
      </p:sp>
      <p:sp>
        <p:nvSpPr>
          <p:cNvPr id="731132056" name="Text 23"/>
          <p:cNvSpPr/>
          <p:nvPr/>
        </p:nvSpPr>
        <p:spPr bwMode="auto">
          <a:xfrm>
            <a:off x="548640" y="4535424"/>
            <a:ext cx="3749040" cy="438912"/>
          </a:xfrm>
          <a:prstGeom prst="rect">
            <a:avLst/>
          </a:prstGeom>
          <a:noFill/>
          <a:ln/>
        </p:spPr>
        <p:txBody>
          <a:bodyPr wrap="square" lIns="91440" tIns="91440" rIns="91440" bIns="91440" rtlCol="0" anchor="ctr"/>
          <a:lstStyle/>
          <a:p>
            <a:pPr marL="0" indent="0" algn="l">
              <a:buNone/>
              <a:defRPr/>
            </a:pPr>
            <a:r>
              <a:rPr lang="en-US" sz="1150">
                <a:solidFill>
                  <a:srgbClr val="1B2A22"/>
                </a:solidFill>
                <a:latin typeface="Calibri"/>
                <a:ea typeface="Calibri"/>
                <a:cs typeface="Calibri"/>
              </a:rPr>
              <a:t>D2 − D0</a:t>
            </a:r>
            <a:endParaRPr lang="en-US" sz="1150"/>
          </a:p>
        </p:txBody>
      </p:sp>
      <p:sp>
        <p:nvSpPr>
          <p:cNvPr id="123015338" name="Shape 24"/>
          <p:cNvSpPr/>
          <p:nvPr/>
        </p:nvSpPr>
        <p:spPr bwMode="auto">
          <a:xfrm>
            <a:off x="4297680" y="4535424"/>
            <a:ext cx="1463040" cy="438912"/>
          </a:xfrm>
          <a:prstGeom prst="rect">
            <a:avLst/>
          </a:prstGeom>
          <a:solidFill>
            <a:srgbClr val="FFFFFF"/>
          </a:solidFill>
          <a:ln w="9525">
            <a:solidFill>
              <a:srgbClr val="DDEEE3"/>
            </a:solidFill>
            <a:prstDash val="solid"/>
          </a:ln>
        </p:spPr>
      </p:sp>
      <p:sp>
        <p:nvSpPr>
          <p:cNvPr id="848487583" name="Text 25"/>
          <p:cNvSpPr/>
          <p:nvPr/>
        </p:nvSpPr>
        <p:spPr bwMode="auto">
          <a:xfrm>
            <a:off x="4297680" y="4535424"/>
            <a:ext cx="1463040" cy="438912"/>
          </a:xfrm>
          <a:prstGeom prst="rect">
            <a:avLst/>
          </a:prstGeom>
          <a:noFill/>
          <a:ln/>
        </p:spPr>
        <p:txBody>
          <a:bodyPr wrap="square" lIns="91440" tIns="91440" rIns="91440" bIns="91440" rtlCol="0" anchor="ctr"/>
          <a:lstStyle/>
          <a:p>
            <a:pPr marL="0" indent="0" algn="ctr">
              <a:buNone/>
              <a:defRPr/>
            </a:pPr>
            <a:r>
              <a:rPr lang="en-US" sz="1150">
                <a:solidFill>
                  <a:srgbClr val="1B2A22"/>
                </a:solidFill>
                <a:latin typeface="Calibri"/>
                <a:ea typeface="Calibri"/>
                <a:cs typeface="Calibri"/>
              </a:rPr>
              <a:t>6.80</a:t>
            </a:r>
            <a:endParaRPr lang="en-US" sz="1150"/>
          </a:p>
        </p:txBody>
      </p:sp>
      <p:sp>
        <p:nvSpPr>
          <p:cNvPr id="1675917640" name="Shape 26"/>
          <p:cNvSpPr/>
          <p:nvPr/>
        </p:nvSpPr>
        <p:spPr bwMode="auto">
          <a:xfrm>
            <a:off x="5760720" y="4535424"/>
            <a:ext cx="1645920" cy="438912"/>
          </a:xfrm>
          <a:prstGeom prst="rect">
            <a:avLst/>
          </a:prstGeom>
          <a:solidFill>
            <a:srgbClr val="FFFFFF"/>
          </a:solidFill>
          <a:ln w="9525">
            <a:solidFill>
              <a:srgbClr val="DDEEE3"/>
            </a:solidFill>
            <a:prstDash val="solid"/>
          </a:ln>
        </p:spPr>
      </p:sp>
      <p:sp>
        <p:nvSpPr>
          <p:cNvPr id="493472300" name="Text 27"/>
          <p:cNvSpPr/>
          <p:nvPr/>
        </p:nvSpPr>
        <p:spPr bwMode="auto">
          <a:xfrm>
            <a:off x="5760720" y="4535424"/>
            <a:ext cx="1645920" cy="438912"/>
          </a:xfrm>
          <a:prstGeom prst="rect">
            <a:avLst/>
          </a:prstGeom>
          <a:noFill/>
          <a:ln/>
        </p:spPr>
        <p:txBody>
          <a:bodyPr wrap="square" lIns="91440" tIns="91440" rIns="91440" bIns="91440" rtlCol="0" anchor="ctr"/>
          <a:lstStyle/>
          <a:p>
            <a:pPr marL="0" indent="0" algn="ctr">
              <a:buNone/>
              <a:defRPr/>
            </a:pPr>
            <a:r>
              <a:rPr lang="en-US" sz="1150">
                <a:solidFill>
                  <a:srgbClr val="1B2A22"/>
                </a:solidFill>
                <a:latin typeface="Calibri"/>
                <a:ea typeface="Calibri"/>
                <a:cs typeface="Calibri"/>
              </a:rPr>
              <a:t>0.0034</a:t>
            </a:r>
            <a:endParaRPr lang="en-US" sz="1150"/>
          </a:p>
        </p:txBody>
      </p:sp>
      <p:sp>
        <p:nvSpPr>
          <p:cNvPr id="1820620991" name="Shape 28"/>
          <p:cNvSpPr/>
          <p:nvPr/>
        </p:nvSpPr>
        <p:spPr bwMode="auto">
          <a:xfrm>
            <a:off x="7406640" y="4535424"/>
            <a:ext cx="2011680" cy="438912"/>
          </a:xfrm>
          <a:prstGeom prst="rect">
            <a:avLst/>
          </a:prstGeom>
          <a:solidFill>
            <a:srgbClr val="FFFFFF"/>
          </a:solidFill>
          <a:ln w="9525">
            <a:solidFill>
              <a:srgbClr val="DDEEE3"/>
            </a:solidFill>
            <a:prstDash val="solid"/>
          </a:ln>
        </p:spPr>
      </p:sp>
      <p:sp>
        <p:nvSpPr>
          <p:cNvPr id="1315308140" name="Text 29"/>
          <p:cNvSpPr/>
          <p:nvPr/>
        </p:nvSpPr>
        <p:spPr bwMode="auto">
          <a:xfrm>
            <a:off x="7406640" y="4535424"/>
            <a:ext cx="2011680" cy="438912"/>
          </a:xfrm>
          <a:prstGeom prst="rect">
            <a:avLst/>
          </a:prstGeom>
          <a:noFill/>
          <a:ln/>
        </p:spPr>
        <p:txBody>
          <a:bodyPr wrap="square" lIns="91440" tIns="91440" rIns="91440" bIns="91440" rtlCol="0" anchor="ctr"/>
          <a:lstStyle/>
          <a:p>
            <a:pPr marL="0" indent="0" algn="ctr">
              <a:buNone/>
              <a:defRPr/>
            </a:pPr>
            <a:r>
              <a:rPr lang="en-US" sz="1150" b="1">
                <a:solidFill>
                  <a:srgbClr val="2D6A4F"/>
                </a:solidFill>
                <a:latin typeface="Calibri"/>
                <a:ea typeface="Calibri"/>
                <a:cs typeface="Calibri"/>
              </a:rPr>
              <a:t>Ya</a:t>
            </a:r>
            <a:endParaRPr lang="en-US" sz="1150"/>
          </a:p>
        </p:txBody>
      </p:sp>
      <p:sp>
        <p:nvSpPr>
          <p:cNvPr id="1078693263" name="Shape 30"/>
          <p:cNvSpPr/>
          <p:nvPr/>
        </p:nvSpPr>
        <p:spPr bwMode="auto">
          <a:xfrm>
            <a:off x="548640" y="4974336"/>
            <a:ext cx="3749040" cy="438912"/>
          </a:xfrm>
          <a:prstGeom prst="rect">
            <a:avLst/>
          </a:prstGeom>
          <a:solidFill>
            <a:srgbClr val="D8F3DC"/>
          </a:solidFill>
          <a:ln w="9525">
            <a:solidFill>
              <a:srgbClr val="DDEEE3"/>
            </a:solidFill>
            <a:prstDash val="solid"/>
          </a:ln>
        </p:spPr>
      </p:sp>
      <p:sp>
        <p:nvSpPr>
          <p:cNvPr id="2023869291" name="Text 31"/>
          <p:cNvSpPr/>
          <p:nvPr/>
        </p:nvSpPr>
        <p:spPr bwMode="auto">
          <a:xfrm>
            <a:off x="548640" y="4974336"/>
            <a:ext cx="3749040" cy="438912"/>
          </a:xfrm>
          <a:prstGeom prst="rect">
            <a:avLst/>
          </a:prstGeom>
          <a:noFill/>
          <a:ln/>
        </p:spPr>
        <p:txBody>
          <a:bodyPr wrap="square" lIns="91440" tIns="91440" rIns="91440" bIns="91440" rtlCol="0" anchor="ctr"/>
          <a:lstStyle/>
          <a:p>
            <a:pPr marL="0" indent="0" algn="l">
              <a:buNone/>
              <a:defRPr/>
            </a:pPr>
            <a:r>
              <a:rPr lang="en-US" sz="1150">
                <a:solidFill>
                  <a:srgbClr val="1B2A22"/>
                </a:solidFill>
                <a:latin typeface="Calibri"/>
                <a:ea typeface="Calibri"/>
                <a:cs typeface="Calibri"/>
              </a:rPr>
              <a:t>D3 − D0</a:t>
            </a:r>
            <a:endParaRPr lang="en-US" sz="1150"/>
          </a:p>
        </p:txBody>
      </p:sp>
      <p:sp>
        <p:nvSpPr>
          <p:cNvPr id="725781237" name="Shape 32"/>
          <p:cNvSpPr/>
          <p:nvPr/>
        </p:nvSpPr>
        <p:spPr bwMode="auto">
          <a:xfrm>
            <a:off x="4297680" y="4974336"/>
            <a:ext cx="1463040" cy="438912"/>
          </a:xfrm>
          <a:prstGeom prst="rect">
            <a:avLst/>
          </a:prstGeom>
          <a:solidFill>
            <a:srgbClr val="D8F3DC"/>
          </a:solidFill>
          <a:ln w="9525">
            <a:solidFill>
              <a:srgbClr val="DDEEE3"/>
            </a:solidFill>
            <a:prstDash val="solid"/>
          </a:ln>
        </p:spPr>
      </p:sp>
      <p:sp>
        <p:nvSpPr>
          <p:cNvPr id="466091143" name="Text 33"/>
          <p:cNvSpPr/>
          <p:nvPr/>
        </p:nvSpPr>
        <p:spPr bwMode="auto">
          <a:xfrm>
            <a:off x="4297680" y="4974336"/>
            <a:ext cx="1463040" cy="438912"/>
          </a:xfrm>
          <a:prstGeom prst="rect">
            <a:avLst/>
          </a:prstGeom>
          <a:noFill/>
          <a:ln/>
        </p:spPr>
        <p:txBody>
          <a:bodyPr wrap="square" lIns="91440" tIns="91440" rIns="91440" bIns="91440" rtlCol="0" anchor="ctr"/>
          <a:lstStyle/>
          <a:p>
            <a:pPr marL="0" indent="0" algn="ctr">
              <a:buNone/>
              <a:defRPr/>
            </a:pPr>
            <a:r>
              <a:rPr lang="en-US" sz="1150">
                <a:solidFill>
                  <a:srgbClr val="1B2A22"/>
                </a:solidFill>
                <a:latin typeface="Calibri"/>
                <a:ea typeface="Calibri"/>
                <a:cs typeface="Calibri"/>
              </a:rPr>
              <a:t>5.50</a:t>
            </a:r>
            <a:endParaRPr lang="en-US" sz="1150"/>
          </a:p>
        </p:txBody>
      </p:sp>
      <p:sp>
        <p:nvSpPr>
          <p:cNvPr id="1682244615" name="Shape 34"/>
          <p:cNvSpPr/>
          <p:nvPr/>
        </p:nvSpPr>
        <p:spPr bwMode="auto">
          <a:xfrm>
            <a:off x="5760720" y="4974336"/>
            <a:ext cx="1645920" cy="438912"/>
          </a:xfrm>
          <a:prstGeom prst="rect">
            <a:avLst/>
          </a:prstGeom>
          <a:solidFill>
            <a:srgbClr val="D8F3DC"/>
          </a:solidFill>
          <a:ln w="9525">
            <a:solidFill>
              <a:srgbClr val="DDEEE3"/>
            </a:solidFill>
            <a:prstDash val="solid"/>
          </a:ln>
        </p:spPr>
      </p:sp>
      <p:sp>
        <p:nvSpPr>
          <p:cNvPr id="146614475" name="Text 35"/>
          <p:cNvSpPr/>
          <p:nvPr/>
        </p:nvSpPr>
        <p:spPr bwMode="auto">
          <a:xfrm>
            <a:off x="5760720" y="4974336"/>
            <a:ext cx="1645920" cy="438912"/>
          </a:xfrm>
          <a:prstGeom prst="rect">
            <a:avLst/>
          </a:prstGeom>
          <a:noFill/>
          <a:ln/>
        </p:spPr>
        <p:txBody>
          <a:bodyPr wrap="square" lIns="91440" tIns="91440" rIns="91440" bIns="91440" rtlCol="0" anchor="ctr"/>
          <a:lstStyle/>
          <a:p>
            <a:pPr marL="0" indent="0" algn="ctr">
              <a:buNone/>
              <a:defRPr/>
            </a:pPr>
            <a:r>
              <a:rPr lang="en-US" sz="1150">
                <a:solidFill>
                  <a:srgbClr val="1B2A22"/>
                </a:solidFill>
                <a:latin typeface="Calibri"/>
                <a:ea typeface="Calibri"/>
                <a:cs typeface="Calibri"/>
              </a:rPr>
              <a:t>0.0120</a:t>
            </a:r>
            <a:endParaRPr lang="en-US" sz="1150"/>
          </a:p>
        </p:txBody>
      </p:sp>
      <p:sp>
        <p:nvSpPr>
          <p:cNvPr id="1324517148" name="Shape 36"/>
          <p:cNvSpPr/>
          <p:nvPr/>
        </p:nvSpPr>
        <p:spPr bwMode="auto">
          <a:xfrm>
            <a:off x="7406640" y="4974336"/>
            <a:ext cx="2011680" cy="438912"/>
          </a:xfrm>
          <a:prstGeom prst="rect">
            <a:avLst/>
          </a:prstGeom>
          <a:solidFill>
            <a:srgbClr val="D8F3DC"/>
          </a:solidFill>
          <a:ln w="9525">
            <a:solidFill>
              <a:srgbClr val="DDEEE3"/>
            </a:solidFill>
            <a:prstDash val="solid"/>
          </a:ln>
        </p:spPr>
      </p:sp>
      <p:sp>
        <p:nvSpPr>
          <p:cNvPr id="2069893585" name="Text 37"/>
          <p:cNvSpPr/>
          <p:nvPr/>
        </p:nvSpPr>
        <p:spPr bwMode="auto">
          <a:xfrm>
            <a:off x="7406640" y="4974336"/>
            <a:ext cx="2011680" cy="438912"/>
          </a:xfrm>
          <a:prstGeom prst="rect">
            <a:avLst/>
          </a:prstGeom>
          <a:noFill/>
          <a:ln/>
        </p:spPr>
        <p:txBody>
          <a:bodyPr wrap="square" lIns="91440" tIns="91440" rIns="91440" bIns="91440" rtlCol="0" anchor="ctr"/>
          <a:lstStyle/>
          <a:p>
            <a:pPr marL="0" indent="0" algn="ctr">
              <a:buNone/>
              <a:defRPr/>
            </a:pPr>
            <a:r>
              <a:rPr lang="en-US" sz="1150" b="1">
                <a:solidFill>
                  <a:srgbClr val="2D6A4F"/>
                </a:solidFill>
                <a:latin typeface="Calibri"/>
                <a:ea typeface="Calibri"/>
                <a:cs typeface="Calibri"/>
              </a:rPr>
              <a:t>Ya</a:t>
            </a:r>
            <a:endParaRPr lang="en-US" sz="1150"/>
          </a:p>
        </p:txBody>
      </p:sp>
      <p:sp>
        <p:nvSpPr>
          <p:cNvPr id="279935623" name="Shape 38"/>
          <p:cNvSpPr/>
          <p:nvPr/>
        </p:nvSpPr>
        <p:spPr bwMode="auto">
          <a:xfrm>
            <a:off x="548640" y="5413248"/>
            <a:ext cx="3749040" cy="438912"/>
          </a:xfrm>
          <a:prstGeom prst="rect">
            <a:avLst/>
          </a:prstGeom>
          <a:solidFill>
            <a:srgbClr val="FFFFFF"/>
          </a:solidFill>
          <a:ln w="9525">
            <a:solidFill>
              <a:srgbClr val="DDEEE3"/>
            </a:solidFill>
            <a:prstDash val="solid"/>
          </a:ln>
        </p:spPr>
      </p:sp>
      <p:sp>
        <p:nvSpPr>
          <p:cNvPr id="1769761160" name="Text 39"/>
          <p:cNvSpPr/>
          <p:nvPr/>
        </p:nvSpPr>
        <p:spPr bwMode="auto">
          <a:xfrm>
            <a:off x="548640" y="5413248"/>
            <a:ext cx="3749040" cy="438912"/>
          </a:xfrm>
          <a:prstGeom prst="rect">
            <a:avLst/>
          </a:prstGeom>
          <a:noFill/>
          <a:ln/>
        </p:spPr>
        <p:txBody>
          <a:bodyPr wrap="square" lIns="91440" tIns="91440" rIns="91440" bIns="91440" rtlCol="0" anchor="ctr"/>
          <a:lstStyle/>
          <a:p>
            <a:pPr marL="0" indent="0" algn="l">
              <a:buNone/>
              <a:defRPr/>
            </a:pPr>
            <a:r>
              <a:rPr lang="en-US" sz="1150">
                <a:solidFill>
                  <a:srgbClr val="1B2A22"/>
                </a:solidFill>
                <a:latin typeface="Calibri"/>
                <a:ea typeface="Calibri"/>
                <a:cs typeface="Calibri"/>
              </a:rPr>
              <a:t>D2 − D1</a:t>
            </a:r>
            <a:endParaRPr lang="en-US" sz="1150"/>
          </a:p>
        </p:txBody>
      </p:sp>
      <p:sp>
        <p:nvSpPr>
          <p:cNvPr id="391811506" name="Shape 40"/>
          <p:cNvSpPr/>
          <p:nvPr/>
        </p:nvSpPr>
        <p:spPr bwMode="auto">
          <a:xfrm>
            <a:off x="4297680" y="5413248"/>
            <a:ext cx="1463040" cy="438912"/>
          </a:xfrm>
          <a:prstGeom prst="rect">
            <a:avLst/>
          </a:prstGeom>
          <a:solidFill>
            <a:srgbClr val="FFFFFF"/>
          </a:solidFill>
          <a:ln w="9525">
            <a:solidFill>
              <a:srgbClr val="DDEEE3"/>
            </a:solidFill>
            <a:prstDash val="solid"/>
          </a:ln>
        </p:spPr>
      </p:sp>
      <p:sp>
        <p:nvSpPr>
          <p:cNvPr id="1090739271" name="Text 41"/>
          <p:cNvSpPr/>
          <p:nvPr/>
        </p:nvSpPr>
        <p:spPr bwMode="auto">
          <a:xfrm>
            <a:off x="4297680" y="5413248"/>
            <a:ext cx="1463040" cy="438912"/>
          </a:xfrm>
          <a:prstGeom prst="rect">
            <a:avLst/>
          </a:prstGeom>
          <a:noFill/>
          <a:ln/>
        </p:spPr>
        <p:txBody>
          <a:bodyPr wrap="square" lIns="91440" tIns="91440" rIns="91440" bIns="91440" rtlCol="0" anchor="ctr"/>
          <a:lstStyle/>
          <a:p>
            <a:pPr marL="0" indent="0" algn="ctr">
              <a:buNone/>
              <a:defRPr/>
            </a:pPr>
            <a:r>
              <a:rPr lang="en-US" sz="1150">
                <a:solidFill>
                  <a:srgbClr val="1B2A22"/>
                </a:solidFill>
                <a:latin typeface="Calibri"/>
                <a:ea typeface="Calibri"/>
                <a:cs typeface="Calibri"/>
              </a:rPr>
              <a:t>3.50</a:t>
            </a:r>
            <a:endParaRPr lang="en-US" sz="1150"/>
          </a:p>
        </p:txBody>
      </p:sp>
      <p:sp>
        <p:nvSpPr>
          <p:cNvPr id="775783893" name="Shape 42"/>
          <p:cNvSpPr/>
          <p:nvPr/>
        </p:nvSpPr>
        <p:spPr bwMode="auto">
          <a:xfrm>
            <a:off x="5760720" y="5413248"/>
            <a:ext cx="1645920" cy="438912"/>
          </a:xfrm>
          <a:prstGeom prst="rect">
            <a:avLst/>
          </a:prstGeom>
          <a:solidFill>
            <a:srgbClr val="FFFFFF"/>
          </a:solidFill>
          <a:ln w="9525">
            <a:solidFill>
              <a:srgbClr val="DDEEE3"/>
            </a:solidFill>
            <a:prstDash val="solid"/>
          </a:ln>
        </p:spPr>
      </p:sp>
      <p:sp>
        <p:nvSpPr>
          <p:cNvPr id="1826438000" name="Text 43"/>
          <p:cNvSpPr/>
          <p:nvPr/>
        </p:nvSpPr>
        <p:spPr bwMode="auto">
          <a:xfrm>
            <a:off x="5760720" y="5413248"/>
            <a:ext cx="1645920" cy="438912"/>
          </a:xfrm>
          <a:prstGeom prst="rect">
            <a:avLst/>
          </a:prstGeom>
          <a:noFill/>
          <a:ln/>
        </p:spPr>
        <p:txBody>
          <a:bodyPr wrap="square" lIns="91440" tIns="91440" rIns="91440" bIns="91440" rtlCol="0" anchor="ctr"/>
          <a:lstStyle/>
          <a:p>
            <a:pPr marL="0" indent="0" algn="ctr">
              <a:buNone/>
              <a:defRPr/>
            </a:pPr>
            <a:r>
              <a:rPr lang="en-US" sz="1150">
                <a:solidFill>
                  <a:srgbClr val="1B2A22"/>
                </a:solidFill>
                <a:latin typeface="Calibri"/>
                <a:ea typeface="Calibri"/>
                <a:cs typeface="Calibri"/>
              </a:rPr>
              <a:t>0.0710</a:t>
            </a:r>
            <a:endParaRPr lang="en-US" sz="1150"/>
          </a:p>
        </p:txBody>
      </p:sp>
      <p:sp>
        <p:nvSpPr>
          <p:cNvPr id="891406920" name="Shape 44"/>
          <p:cNvSpPr/>
          <p:nvPr/>
        </p:nvSpPr>
        <p:spPr bwMode="auto">
          <a:xfrm>
            <a:off x="7406640" y="5413248"/>
            <a:ext cx="2011680" cy="438912"/>
          </a:xfrm>
          <a:prstGeom prst="rect">
            <a:avLst/>
          </a:prstGeom>
          <a:solidFill>
            <a:srgbClr val="FFFFFF"/>
          </a:solidFill>
          <a:ln w="9525">
            <a:solidFill>
              <a:srgbClr val="DDEEE3"/>
            </a:solidFill>
            <a:prstDash val="solid"/>
          </a:ln>
        </p:spPr>
      </p:sp>
      <p:sp>
        <p:nvSpPr>
          <p:cNvPr id="534186700" name="Text 45"/>
          <p:cNvSpPr/>
          <p:nvPr/>
        </p:nvSpPr>
        <p:spPr bwMode="auto">
          <a:xfrm>
            <a:off x="7406640" y="5413248"/>
            <a:ext cx="2011680" cy="438912"/>
          </a:xfrm>
          <a:prstGeom prst="rect">
            <a:avLst/>
          </a:prstGeom>
          <a:noFill/>
          <a:ln/>
        </p:spPr>
        <p:txBody>
          <a:bodyPr wrap="square" lIns="91440" tIns="91440" rIns="91440" bIns="91440" rtlCol="0" anchor="ctr"/>
          <a:lstStyle/>
          <a:p>
            <a:pPr marL="0" indent="0" algn="ctr">
              <a:buNone/>
              <a:defRPr/>
            </a:pPr>
            <a:r>
              <a:rPr lang="en-US" sz="1150" b="1">
                <a:solidFill>
                  <a:srgbClr val="5C6B63"/>
                </a:solidFill>
                <a:latin typeface="Calibri"/>
                <a:ea typeface="Calibri"/>
                <a:cs typeface="Calibri"/>
              </a:rPr>
              <a:t>Tidak</a:t>
            </a:r>
            <a:endParaRPr lang="en-US" sz="1150"/>
          </a:p>
        </p:txBody>
      </p:sp>
      <p:sp>
        <p:nvSpPr>
          <p:cNvPr id="1016844268" name="Text 46"/>
          <p:cNvSpPr/>
          <p:nvPr/>
        </p:nvSpPr>
        <p:spPr bwMode="auto">
          <a:xfrm>
            <a:off x="548640" y="6108192"/>
            <a:ext cx="11064240" cy="457200"/>
          </a:xfrm>
          <a:prstGeom prst="rect">
            <a:avLst/>
          </a:prstGeom>
          <a:noFill/>
          <a:ln/>
        </p:spPr>
        <p:txBody>
          <a:bodyPr wrap="square" rtlCol="0" anchor="ctr"/>
          <a:lstStyle/>
          <a:p>
            <a:pPr marL="0" indent="0">
              <a:buNone/>
              <a:defRPr/>
            </a:pPr>
            <a:r>
              <a:rPr lang="en-US" sz="1250" i="1">
                <a:solidFill>
                  <a:srgbClr val="5C6B63"/>
                </a:solidFill>
                <a:latin typeface="Calibri"/>
                <a:ea typeface="Calibri"/>
                <a:cs typeface="Calibri"/>
              </a:rPr>
              <a:t>Perbandingan hanya dilakukan antarlevel perlakuan — blok tidak diikutsertakan dalam uji lanjut ini.</a:t>
            </a:r>
            <a:endParaRPr lang="en-US" sz="1250"/>
          </a:p>
        </p:txBody>
      </p:sp>
      <p:sp>
        <p:nvSpPr>
          <p:cNvPr id="1167705218" name="Text 47"/>
          <p:cNvSpPr/>
          <p:nvPr/>
        </p:nvSpPr>
        <p:spPr bwMode="auto">
          <a:xfrm>
            <a:off x="457200" y="6473952"/>
            <a:ext cx="7315200" cy="274320"/>
          </a:xfrm>
          <a:prstGeom prst="rect">
            <a:avLst/>
          </a:prstGeom>
          <a:noFill/>
          <a:ln/>
        </p:spPr>
        <p:txBody>
          <a:bodyPr wrap="square" rtlCol="0" anchor="ctr"/>
          <a:lstStyle/>
          <a:p>
            <a:pPr marL="0" indent="0" algn="l">
              <a:buNone/>
              <a:defRPr/>
            </a:pPr>
            <a:r>
              <a:rPr lang="en-US" sz="900">
                <a:solidFill>
                  <a:srgbClr val="5C6B63"/>
                </a:solidFill>
                <a:latin typeface="Calibri"/>
                <a:ea typeface="Calibri"/>
                <a:cs typeface="Calibri"/>
              </a:rPr>
              <a:t>RAK — Biostatistika untuk Biologi</a:t>
            </a:r>
            <a:endParaRPr lang="en-US" sz="900"/>
          </a:p>
        </p:txBody>
      </p:sp>
      <p:sp>
        <p:nvSpPr>
          <p:cNvPr id="656311981" name="Text 48"/>
          <p:cNvSpPr/>
          <p:nvPr/>
        </p:nvSpPr>
        <p:spPr bwMode="auto">
          <a:xfrm>
            <a:off x="11274552" y="6473952"/>
            <a:ext cx="457200" cy="274320"/>
          </a:xfrm>
          <a:prstGeom prst="rect">
            <a:avLst/>
          </a:prstGeom>
          <a:noFill/>
          <a:ln/>
        </p:spPr>
        <p:txBody>
          <a:bodyPr wrap="square" rtlCol="0" anchor="ctr"/>
          <a:lstStyle/>
          <a:p>
            <a:pPr marL="0" indent="0" algn="r">
              <a:buNone/>
              <a:defRPr/>
            </a:pPr>
            <a:r>
              <a:rPr lang="en-US" sz="900">
                <a:solidFill>
                  <a:srgbClr val="5C6B63"/>
                </a:solidFill>
                <a:latin typeface="Calibri"/>
                <a:ea typeface="Calibri"/>
                <a:cs typeface="Calibri"/>
              </a:rPr>
              <a:t>10</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7FAF7"/>
        </a:solidFill>
      </p:bgPr>
    </p:bg>
    <p:spTree>
      <p:nvGrpSpPr>
        <p:cNvPr id="1" name=""/>
        <p:cNvGrpSpPr/>
        <p:nvPr/>
      </p:nvGrpSpPr>
      <p:grpSpPr bwMode="auto">
        <a:xfrm>
          <a:off x="0" y="0"/>
          <a:ext cx="0" cy="0"/>
          <a:chOff x="0" y="0"/>
          <a:chExt cx="0" cy="0"/>
        </a:xfrm>
      </p:grpSpPr>
      <p:sp>
        <p:nvSpPr>
          <p:cNvPr id="1294874641" name="Text 0"/>
          <p:cNvSpPr/>
          <p:nvPr/>
        </p:nvSpPr>
        <p:spPr bwMode="auto">
          <a:xfrm>
            <a:off x="548640" y="384048"/>
            <a:ext cx="9144000" cy="320040"/>
          </a:xfrm>
          <a:prstGeom prst="rect">
            <a:avLst/>
          </a:prstGeom>
          <a:noFill/>
          <a:ln/>
        </p:spPr>
        <p:txBody>
          <a:bodyPr wrap="square" rtlCol="0" anchor="ctr"/>
          <a:lstStyle/>
          <a:p>
            <a:pPr marL="0" indent="0">
              <a:buNone/>
              <a:defRPr/>
            </a:pPr>
            <a:r>
              <a:rPr lang="en-US" sz="1200" b="1" spc="200">
                <a:solidFill>
                  <a:srgbClr val="2D6A4F"/>
                </a:solidFill>
                <a:latin typeface="Calibri"/>
                <a:ea typeface="Calibri"/>
                <a:cs typeface="Calibri"/>
              </a:rPr>
              <a:t>2.4.5 · DIAGNOSTIK MODEL</a:t>
            </a:r>
            <a:endParaRPr lang="en-US" sz="1200"/>
          </a:p>
        </p:txBody>
      </p:sp>
      <p:sp>
        <p:nvSpPr>
          <p:cNvPr id="1046081360" name="Text 1"/>
          <p:cNvSpPr/>
          <p:nvPr/>
        </p:nvSpPr>
        <p:spPr bwMode="auto">
          <a:xfrm>
            <a:off x="548640" y="658368"/>
            <a:ext cx="11064240" cy="822960"/>
          </a:xfrm>
          <a:prstGeom prst="rect">
            <a:avLst/>
          </a:prstGeom>
          <a:noFill/>
          <a:ln/>
        </p:spPr>
        <p:txBody>
          <a:bodyPr wrap="square" rtlCol="0" anchor="ctr"/>
          <a:lstStyle/>
          <a:p>
            <a:pPr marL="0" indent="0">
              <a:buNone/>
              <a:defRPr/>
            </a:pPr>
            <a:r>
              <a:rPr lang="en-US" sz="3000" b="1">
                <a:solidFill>
                  <a:srgbClr val="1B4332"/>
                </a:solidFill>
                <a:latin typeface="Cambria"/>
                <a:ea typeface="Cambria"/>
                <a:cs typeface="Cambria"/>
              </a:rPr>
              <a:t>Pemeriksaan Asumsi pada Model RAK</a:t>
            </a:r>
            <a:endParaRPr lang="en-US" sz="3000"/>
          </a:p>
        </p:txBody>
      </p:sp>
      <p:sp>
        <p:nvSpPr>
          <p:cNvPr id="838092762" name="Shape 2"/>
          <p:cNvSpPr/>
          <p:nvPr/>
        </p:nvSpPr>
        <p:spPr bwMode="auto">
          <a:xfrm>
            <a:off x="548640" y="1737360"/>
            <a:ext cx="11064240" cy="731520"/>
          </a:xfrm>
          <a:prstGeom prst="roundRect">
            <a:avLst>
              <a:gd name="adj" fmla="val 7500"/>
            </a:avLst>
          </a:prstGeom>
          <a:solidFill>
            <a:srgbClr val="24291F"/>
          </a:solidFill>
          <a:ln/>
        </p:spPr>
      </p:sp>
      <p:sp>
        <p:nvSpPr>
          <p:cNvPr id="964096645" name="Text 3"/>
          <p:cNvSpPr/>
          <p:nvPr/>
        </p:nvSpPr>
        <p:spPr bwMode="auto">
          <a:xfrm>
            <a:off x="777240" y="1737360"/>
            <a:ext cx="10607040" cy="731520"/>
          </a:xfrm>
          <a:prstGeom prst="rect">
            <a:avLst/>
          </a:prstGeom>
          <a:noFill/>
          <a:ln/>
        </p:spPr>
        <p:txBody>
          <a:bodyPr wrap="square" rtlCol="0" anchor="ctr"/>
          <a:lstStyle/>
          <a:p>
            <a:pPr marL="0" indent="0">
              <a:buNone/>
              <a:defRPr/>
            </a:pPr>
            <a:r>
              <a:rPr lang="en-US" sz="1300" b="1">
                <a:solidFill>
                  <a:srgbClr val="F2C6A0"/>
                </a:solidFill>
                <a:latin typeface="Courier New"/>
                <a:ea typeface="Courier New"/>
                <a:cs typeface="Courier New"/>
              </a:rPr>
              <a:t>par</a:t>
            </a:r>
            <a:r>
              <a:rPr lang="en-US" sz="1300">
                <a:solidFill>
                  <a:srgbClr val="FFFFFF"/>
                </a:solidFill>
                <a:latin typeface="Courier New"/>
                <a:ea typeface="Courier New"/>
                <a:cs typeface="Courier New"/>
              </a:rPr>
              <a:t>(mfrow = c(2, 2))   </a:t>
            </a:r>
            <a:r>
              <a:rPr lang="en-US" sz="1300" b="1">
                <a:solidFill>
                  <a:srgbClr val="F2C6A0"/>
                </a:solidFill>
                <a:latin typeface="Courier New"/>
                <a:ea typeface="Courier New"/>
                <a:cs typeface="Courier New"/>
              </a:rPr>
              <a:t>plot</a:t>
            </a:r>
            <a:r>
              <a:rPr lang="en-US" sz="1300">
                <a:solidFill>
                  <a:srgbClr val="FFFFFF"/>
                </a:solidFill>
                <a:latin typeface="Courier New"/>
                <a:ea typeface="Courier New"/>
                <a:cs typeface="Courier New"/>
              </a:rPr>
              <a:t>(model)   </a:t>
            </a:r>
            <a:r>
              <a:rPr lang="en-US" sz="1300" b="1">
                <a:solidFill>
                  <a:srgbClr val="F2C6A0"/>
                </a:solidFill>
                <a:latin typeface="Courier New"/>
                <a:ea typeface="Courier New"/>
                <a:cs typeface="Courier New"/>
              </a:rPr>
              <a:t>par</a:t>
            </a:r>
            <a:r>
              <a:rPr lang="en-US" sz="1300">
                <a:solidFill>
                  <a:srgbClr val="FFFFFF"/>
                </a:solidFill>
                <a:latin typeface="Courier New"/>
                <a:ea typeface="Courier New"/>
                <a:cs typeface="Courier New"/>
              </a:rPr>
              <a:t>(mfrow = c(1, 1))</a:t>
            </a:r>
            <a:endParaRPr lang="en-US" sz="1300"/>
          </a:p>
        </p:txBody>
      </p:sp>
      <p:sp>
        <p:nvSpPr>
          <p:cNvPr id="1400408425" name="Shape 4"/>
          <p:cNvSpPr/>
          <p:nvPr/>
        </p:nvSpPr>
        <p:spPr bwMode="auto">
          <a:xfrm>
            <a:off x="822960" y="2880360"/>
            <a:ext cx="731520" cy="731520"/>
          </a:xfrm>
          <a:prstGeom prst="ellipse">
            <a:avLst/>
          </a:prstGeom>
          <a:solidFill>
            <a:srgbClr val="2D6A4F"/>
          </a:solidFill>
          <a:ln/>
        </p:spPr>
      </p:sp>
      <p:pic>
        <p:nvPicPr>
          <p:cNvPr id="1256667246" name="Image 0" descr="layers.png"/>
          <p:cNvPicPr>
            <a:picLocks noChangeAspect="1"/>
          </p:cNvPicPr>
          <p:nvPr/>
        </p:nvPicPr>
        <p:blipFill rotWithShape="1">
          <a:blip r:embed="rId3"/>
          <a:stretch/>
        </p:blipFill>
        <p:spPr bwMode="auto">
          <a:xfrm>
            <a:off x="918058" y="2975458"/>
            <a:ext cx="541325" cy="541325"/>
          </a:xfrm>
          <a:prstGeom prst="rect">
            <a:avLst/>
          </a:prstGeom>
        </p:spPr>
      </p:pic>
      <p:sp>
        <p:nvSpPr>
          <p:cNvPr id="1737817725" name="Text 5"/>
          <p:cNvSpPr/>
          <p:nvPr/>
        </p:nvSpPr>
        <p:spPr bwMode="auto">
          <a:xfrm>
            <a:off x="1783080" y="2788920"/>
            <a:ext cx="9784079" cy="1188720"/>
          </a:xfrm>
          <a:prstGeom prst="rect">
            <a:avLst/>
          </a:prstGeom>
          <a:noFill/>
          <a:ln/>
        </p:spPr>
        <p:txBody>
          <a:bodyPr wrap="square" rtlCol="0" anchor="ctr"/>
          <a:lstStyle/>
          <a:p>
            <a:pPr marL="0" indent="0">
              <a:lnSpc>
                <a:spcPct val="135000"/>
              </a:lnSpc>
              <a:buNone/>
              <a:defRPr/>
            </a:pPr>
            <a:r>
              <a:rPr lang="en-US" sz="1400" b="1">
                <a:solidFill>
                  <a:srgbClr val="1B4332"/>
                </a:solidFill>
                <a:latin typeface="Calibri"/>
                <a:ea typeface="Calibri"/>
                <a:cs typeface="Calibri"/>
              </a:rPr>
              <a:t>Interpretasi grafik diagnostik pada RAK </a:t>
            </a:r>
            <a:r>
              <a:rPr lang="en-US" sz="1400" i="1">
                <a:solidFill>
                  <a:srgbClr val="000000"/>
                </a:solidFill>
                <a:latin typeface="Calibri"/>
                <a:ea typeface="Calibri"/>
                <a:cs typeface="Calibri"/>
              </a:rPr>
              <a:t>sama seperti pada RAL</a:t>
            </a:r>
            <a:r>
              <a:rPr lang="en-US" sz="1400">
                <a:solidFill>
                  <a:srgbClr val="1B2A22"/>
                </a:solidFill>
                <a:latin typeface="Calibri"/>
                <a:ea typeface="Calibri"/>
                <a:cs typeface="Calibri"/>
              </a:rPr>
              <a:t> (normalitas, homogenitas ragam, kebebasan galat) — namun residual yang diperiksa sudah “bersih” dari pengaruh blok, karena blok telah dimasukkan ke dalam model.</a:t>
            </a:r>
            <a:endParaRPr lang="en-US" sz="1400"/>
          </a:p>
        </p:txBody>
      </p:sp>
      <p:sp>
        <p:nvSpPr>
          <p:cNvPr id="235466834" name="Shape 6"/>
          <p:cNvSpPr/>
          <p:nvPr/>
        </p:nvSpPr>
        <p:spPr bwMode="auto">
          <a:xfrm>
            <a:off x="548640" y="4343400"/>
            <a:ext cx="11064240" cy="1371600"/>
          </a:xfrm>
          <a:prstGeom prst="roundRect">
            <a:avLst>
              <a:gd name="adj" fmla="val 5333"/>
            </a:avLst>
          </a:prstGeom>
          <a:solidFill>
            <a:srgbClr val="D8F3DC"/>
          </a:solidFill>
          <a:ln/>
        </p:spPr>
      </p:sp>
      <p:sp>
        <p:nvSpPr>
          <p:cNvPr id="476921490" name="Text 7"/>
          <p:cNvSpPr/>
          <p:nvPr/>
        </p:nvSpPr>
        <p:spPr bwMode="auto">
          <a:xfrm>
            <a:off x="822960" y="4480560"/>
            <a:ext cx="5486400" cy="320040"/>
          </a:xfrm>
          <a:prstGeom prst="rect">
            <a:avLst/>
          </a:prstGeom>
          <a:noFill/>
          <a:ln/>
        </p:spPr>
        <p:txBody>
          <a:bodyPr wrap="square" rtlCol="0" anchor="ctr"/>
          <a:lstStyle/>
          <a:p>
            <a:pPr marL="0" indent="0">
              <a:buNone/>
              <a:defRPr/>
            </a:pPr>
            <a:r>
              <a:rPr lang="en-US" sz="1200" b="1" spc="100">
                <a:solidFill>
                  <a:srgbClr val="2D6A4F"/>
                </a:solidFill>
                <a:latin typeface="Calibri"/>
                <a:ea typeface="Calibri"/>
                <a:cs typeface="Calibri"/>
              </a:rPr>
              <a:t>Empat Grafik Diagnostik Bawaan R</a:t>
            </a:r>
            <a:endParaRPr lang="en-US" sz="1200"/>
          </a:p>
        </p:txBody>
      </p:sp>
      <p:sp>
        <p:nvSpPr>
          <p:cNvPr id="1605126201" name="Shape 8"/>
          <p:cNvSpPr/>
          <p:nvPr/>
        </p:nvSpPr>
        <p:spPr bwMode="auto">
          <a:xfrm>
            <a:off x="822960" y="4892039"/>
            <a:ext cx="2514600" cy="640080"/>
          </a:xfrm>
          <a:prstGeom prst="roundRect">
            <a:avLst>
              <a:gd name="adj" fmla="val 8571"/>
            </a:avLst>
          </a:prstGeom>
          <a:solidFill>
            <a:srgbClr val="FFFFFF"/>
          </a:solidFill>
          <a:ln/>
        </p:spPr>
      </p:sp>
      <p:sp>
        <p:nvSpPr>
          <p:cNvPr id="1835648229" name="Text 9"/>
          <p:cNvSpPr/>
          <p:nvPr/>
        </p:nvSpPr>
        <p:spPr bwMode="auto">
          <a:xfrm>
            <a:off x="822960" y="4892039"/>
            <a:ext cx="2514600" cy="640080"/>
          </a:xfrm>
          <a:prstGeom prst="rect">
            <a:avLst/>
          </a:prstGeom>
          <a:noFill/>
          <a:ln/>
        </p:spPr>
        <p:txBody>
          <a:bodyPr wrap="square" rtlCol="0" anchor="ctr"/>
          <a:lstStyle/>
          <a:p>
            <a:pPr marL="0" indent="0" algn="ctr">
              <a:buNone/>
              <a:defRPr/>
            </a:pPr>
            <a:r>
              <a:rPr lang="en-US" sz="1100" b="1">
                <a:solidFill>
                  <a:srgbClr val="1B4332"/>
                </a:solidFill>
                <a:latin typeface="Calibri"/>
                <a:ea typeface="Calibri"/>
                <a:cs typeface="Calibri"/>
              </a:rPr>
              <a:t>Residuals vs Fitted</a:t>
            </a:r>
            <a:endParaRPr lang="en-US" sz="1100"/>
          </a:p>
        </p:txBody>
      </p:sp>
      <p:sp>
        <p:nvSpPr>
          <p:cNvPr id="303853172" name="Shape 10"/>
          <p:cNvSpPr/>
          <p:nvPr/>
        </p:nvSpPr>
        <p:spPr bwMode="auto">
          <a:xfrm>
            <a:off x="3474720" y="4892039"/>
            <a:ext cx="2514600" cy="640080"/>
          </a:xfrm>
          <a:prstGeom prst="roundRect">
            <a:avLst>
              <a:gd name="adj" fmla="val 8571"/>
            </a:avLst>
          </a:prstGeom>
          <a:solidFill>
            <a:srgbClr val="FFFFFF"/>
          </a:solidFill>
          <a:ln/>
        </p:spPr>
      </p:sp>
      <p:sp>
        <p:nvSpPr>
          <p:cNvPr id="958493073" name="Text 11"/>
          <p:cNvSpPr/>
          <p:nvPr/>
        </p:nvSpPr>
        <p:spPr bwMode="auto">
          <a:xfrm>
            <a:off x="3474720" y="4892039"/>
            <a:ext cx="2514600" cy="640080"/>
          </a:xfrm>
          <a:prstGeom prst="rect">
            <a:avLst/>
          </a:prstGeom>
          <a:noFill/>
          <a:ln/>
        </p:spPr>
        <p:txBody>
          <a:bodyPr wrap="square" rtlCol="0" anchor="ctr"/>
          <a:lstStyle/>
          <a:p>
            <a:pPr marL="0" indent="0" algn="ctr">
              <a:buNone/>
              <a:defRPr/>
            </a:pPr>
            <a:r>
              <a:rPr lang="en-US" sz="1100" b="1">
                <a:solidFill>
                  <a:srgbClr val="1B4332"/>
                </a:solidFill>
                <a:latin typeface="Calibri"/>
                <a:ea typeface="Calibri"/>
                <a:cs typeface="Calibri"/>
              </a:rPr>
              <a:t>Normal Q-Q</a:t>
            </a:r>
            <a:endParaRPr lang="en-US" sz="1100"/>
          </a:p>
        </p:txBody>
      </p:sp>
      <p:sp>
        <p:nvSpPr>
          <p:cNvPr id="409132788" name="Shape 12"/>
          <p:cNvSpPr/>
          <p:nvPr/>
        </p:nvSpPr>
        <p:spPr bwMode="auto">
          <a:xfrm>
            <a:off x="6126480" y="4892039"/>
            <a:ext cx="2514600" cy="640080"/>
          </a:xfrm>
          <a:prstGeom prst="roundRect">
            <a:avLst>
              <a:gd name="adj" fmla="val 8571"/>
            </a:avLst>
          </a:prstGeom>
          <a:solidFill>
            <a:srgbClr val="FFFFFF"/>
          </a:solidFill>
          <a:ln/>
        </p:spPr>
      </p:sp>
      <p:sp>
        <p:nvSpPr>
          <p:cNvPr id="1472494375" name="Text 13"/>
          <p:cNvSpPr/>
          <p:nvPr/>
        </p:nvSpPr>
        <p:spPr bwMode="auto">
          <a:xfrm>
            <a:off x="6126480" y="4892039"/>
            <a:ext cx="2514600" cy="640080"/>
          </a:xfrm>
          <a:prstGeom prst="rect">
            <a:avLst/>
          </a:prstGeom>
          <a:noFill/>
          <a:ln/>
        </p:spPr>
        <p:txBody>
          <a:bodyPr wrap="square" rtlCol="0" anchor="ctr"/>
          <a:lstStyle/>
          <a:p>
            <a:pPr marL="0" indent="0" algn="ctr">
              <a:buNone/>
              <a:defRPr/>
            </a:pPr>
            <a:r>
              <a:rPr lang="en-US" sz="1100" b="1">
                <a:solidFill>
                  <a:srgbClr val="1B4332"/>
                </a:solidFill>
                <a:latin typeface="Calibri"/>
                <a:ea typeface="Calibri"/>
                <a:cs typeface="Calibri"/>
              </a:rPr>
              <a:t>Scale-Location</a:t>
            </a:r>
            <a:endParaRPr lang="en-US" sz="1100"/>
          </a:p>
        </p:txBody>
      </p:sp>
      <p:sp>
        <p:nvSpPr>
          <p:cNvPr id="1220809717" name="Shape 14"/>
          <p:cNvSpPr/>
          <p:nvPr/>
        </p:nvSpPr>
        <p:spPr bwMode="auto">
          <a:xfrm>
            <a:off x="8778240" y="4892039"/>
            <a:ext cx="2514600" cy="640080"/>
          </a:xfrm>
          <a:prstGeom prst="roundRect">
            <a:avLst>
              <a:gd name="adj" fmla="val 8571"/>
            </a:avLst>
          </a:prstGeom>
          <a:solidFill>
            <a:srgbClr val="FFFFFF"/>
          </a:solidFill>
          <a:ln/>
        </p:spPr>
      </p:sp>
      <p:sp>
        <p:nvSpPr>
          <p:cNvPr id="1400037311" name="Text 15"/>
          <p:cNvSpPr/>
          <p:nvPr/>
        </p:nvSpPr>
        <p:spPr bwMode="auto">
          <a:xfrm>
            <a:off x="8778240" y="4892039"/>
            <a:ext cx="2514600" cy="640080"/>
          </a:xfrm>
          <a:prstGeom prst="rect">
            <a:avLst/>
          </a:prstGeom>
          <a:noFill/>
          <a:ln/>
        </p:spPr>
        <p:txBody>
          <a:bodyPr wrap="square" rtlCol="0" anchor="ctr"/>
          <a:lstStyle/>
          <a:p>
            <a:pPr marL="0" indent="0" algn="ctr">
              <a:buNone/>
              <a:defRPr/>
            </a:pPr>
            <a:r>
              <a:rPr lang="en-US" sz="1100" b="1">
                <a:solidFill>
                  <a:srgbClr val="1B4332"/>
                </a:solidFill>
                <a:latin typeface="Calibri"/>
                <a:ea typeface="Calibri"/>
                <a:cs typeface="Calibri"/>
              </a:rPr>
              <a:t>Residuals vs Leverage</a:t>
            </a:r>
            <a:endParaRPr lang="en-US" sz="1100"/>
          </a:p>
        </p:txBody>
      </p:sp>
      <p:sp>
        <p:nvSpPr>
          <p:cNvPr id="346131937" name="Text 16"/>
          <p:cNvSpPr/>
          <p:nvPr/>
        </p:nvSpPr>
        <p:spPr bwMode="auto">
          <a:xfrm>
            <a:off x="457200" y="6473952"/>
            <a:ext cx="7315200" cy="274320"/>
          </a:xfrm>
          <a:prstGeom prst="rect">
            <a:avLst/>
          </a:prstGeom>
          <a:noFill/>
          <a:ln/>
        </p:spPr>
        <p:txBody>
          <a:bodyPr wrap="square" rtlCol="0" anchor="ctr"/>
          <a:lstStyle/>
          <a:p>
            <a:pPr marL="0" indent="0" algn="l">
              <a:buNone/>
              <a:defRPr/>
            </a:pPr>
            <a:r>
              <a:rPr lang="en-US" sz="900">
                <a:solidFill>
                  <a:srgbClr val="5C6B63"/>
                </a:solidFill>
                <a:latin typeface="Calibri"/>
                <a:ea typeface="Calibri"/>
                <a:cs typeface="Calibri"/>
              </a:rPr>
              <a:t>RAK — Biostatistika untuk Biologi</a:t>
            </a:r>
            <a:endParaRPr lang="en-US" sz="900"/>
          </a:p>
        </p:txBody>
      </p:sp>
      <p:sp>
        <p:nvSpPr>
          <p:cNvPr id="1809896594" name="Text 17"/>
          <p:cNvSpPr/>
          <p:nvPr/>
        </p:nvSpPr>
        <p:spPr bwMode="auto">
          <a:xfrm>
            <a:off x="11274552" y="6473952"/>
            <a:ext cx="457200" cy="274320"/>
          </a:xfrm>
          <a:prstGeom prst="rect">
            <a:avLst/>
          </a:prstGeom>
          <a:noFill/>
          <a:ln/>
        </p:spPr>
        <p:txBody>
          <a:bodyPr wrap="square" rtlCol="0" anchor="ctr"/>
          <a:lstStyle/>
          <a:p>
            <a:pPr marL="0" indent="0" algn="r">
              <a:buNone/>
              <a:defRPr/>
            </a:pPr>
            <a:r>
              <a:rPr lang="en-US" sz="900">
                <a:solidFill>
                  <a:srgbClr val="5C6B63"/>
                </a:solidFill>
                <a:latin typeface="Calibri"/>
                <a:ea typeface="Calibri"/>
                <a:cs typeface="Calibri"/>
              </a:rPr>
              <a:t>11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1B4332"/>
        </a:solidFill>
      </p:bgPr>
    </p:bg>
    <p:spTree>
      <p:nvGrpSpPr>
        <p:cNvPr id="1" name=""/>
        <p:cNvGrpSpPr/>
        <p:nvPr/>
      </p:nvGrpSpPr>
      <p:grpSpPr bwMode="auto">
        <a:xfrm>
          <a:off x="0" y="0"/>
          <a:ext cx="0" cy="0"/>
          <a:chOff x="0" y="0"/>
          <a:chExt cx="0" cy="0"/>
        </a:xfrm>
      </p:grpSpPr>
      <p:sp>
        <p:nvSpPr>
          <p:cNvPr id="1706563583" name="Shape 0"/>
          <p:cNvSpPr/>
          <p:nvPr/>
        </p:nvSpPr>
        <p:spPr bwMode="auto">
          <a:xfrm>
            <a:off x="9601200" y="-2011680"/>
            <a:ext cx="5486400" cy="5486400"/>
          </a:xfrm>
          <a:prstGeom prst="ellipse">
            <a:avLst/>
          </a:prstGeom>
          <a:solidFill>
            <a:srgbClr val="2D6A4F">
              <a:alpha val="42000"/>
            </a:srgbClr>
          </a:solidFill>
          <a:ln/>
        </p:spPr>
      </p:sp>
      <p:sp>
        <p:nvSpPr>
          <p:cNvPr id="485692087" name="Text 1"/>
          <p:cNvSpPr/>
          <p:nvPr/>
        </p:nvSpPr>
        <p:spPr bwMode="auto">
          <a:xfrm>
            <a:off x="640080" y="502920"/>
            <a:ext cx="5486400" cy="365760"/>
          </a:xfrm>
          <a:prstGeom prst="rect">
            <a:avLst/>
          </a:prstGeom>
          <a:noFill/>
          <a:ln/>
        </p:spPr>
        <p:txBody>
          <a:bodyPr wrap="square" rtlCol="0" anchor="ctr"/>
          <a:lstStyle/>
          <a:p>
            <a:pPr marL="0" indent="0">
              <a:buNone/>
              <a:defRPr/>
            </a:pPr>
            <a:r>
              <a:rPr lang="en-US" sz="1300" b="1" spc="200">
                <a:solidFill>
                  <a:srgbClr val="74C69D"/>
                </a:solidFill>
                <a:latin typeface="Calibri"/>
                <a:ea typeface="Calibri"/>
                <a:cs typeface="Calibri"/>
              </a:rPr>
              <a:t>RANGKUMAN</a:t>
            </a:r>
            <a:endParaRPr lang="en-US" sz="1300"/>
          </a:p>
        </p:txBody>
      </p:sp>
      <p:sp>
        <p:nvSpPr>
          <p:cNvPr id="261776629" name="Text 2"/>
          <p:cNvSpPr/>
          <p:nvPr/>
        </p:nvSpPr>
        <p:spPr bwMode="auto">
          <a:xfrm>
            <a:off x="640080" y="822960"/>
            <a:ext cx="9144000" cy="640080"/>
          </a:xfrm>
          <a:prstGeom prst="rect">
            <a:avLst/>
          </a:prstGeom>
          <a:noFill/>
          <a:ln/>
        </p:spPr>
        <p:txBody>
          <a:bodyPr wrap="square" rtlCol="0" anchor="ctr"/>
          <a:lstStyle/>
          <a:p>
            <a:pPr marL="0" indent="0">
              <a:buNone/>
              <a:defRPr/>
            </a:pPr>
            <a:r>
              <a:rPr lang="en-US" sz="2800" b="1">
                <a:solidFill>
                  <a:srgbClr val="FFFFFF"/>
                </a:solidFill>
                <a:latin typeface="Cambria"/>
                <a:ea typeface="Cambria"/>
                <a:cs typeface="Cambria"/>
              </a:rPr>
              <a:t>Yang Perlu Diingat dari Bab Ini</a:t>
            </a:r>
            <a:endParaRPr lang="en-US" sz="2800"/>
          </a:p>
        </p:txBody>
      </p:sp>
      <p:sp>
        <p:nvSpPr>
          <p:cNvPr id="1521017560" name="Shape 3"/>
          <p:cNvSpPr/>
          <p:nvPr/>
        </p:nvSpPr>
        <p:spPr bwMode="auto">
          <a:xfrm>
            <a:off x="640080" y="1691640"/>
            <a:ext cx="594360" cy="594360"/>
          </a:xfrm>
          <a:prstGeom prst="ellipse">
            <a:avLst/>
          </a:prstGeom>
          <a:solidFill>
            <a:srgbClr val="2D6A4F"/>
          </a:solidFill>
          <a:ln/>
        </p:spPr>
      </p:sp>
      <p:pic>
        <p:nvPicPr>
          <p:cNvPr id="1779335301" name="Image 0" descr="grid.png"/>
          <p:cNvPicPr>
            <a:picLocks noChangeAspect="1"/>
          </p:cNvPicPr>
          <p:nvPr/>
        </p:nvPicPr>
        <p:blipFill rotWithShape="1">
          <a:blip r:embed="rId3"/>
          <a:stretch/>
        </p:blipFill>
        <p:spPr bwMode="auto">
          <a:xfrm>
            <a:off x="717347" y="1768907"/>
            <a:ext cx="439826" cy="439826"/>
          </a:xfrm>
          <a:prstGeom prst="rect">
            <a:avLst/>
          </a:prstGeom>
        </p:spPr>
      </p:pic>
      <p:sp>
        <p:nvSpPr>
          <p:cNvPr id="1734792598" name="Text 4"/>
          <p:cNvSpPr/>
          <p:nvPr/>
        </p:nvSpPr>
        <p:spPr bwMode="auto">
          <a:xfrm>
            <a:off x="1417320" y="1673352"/>
            <a:ext cx="4572000" cy="502920"/>
          </a:xfrm>
          <a:prstGeom prst="rect">
            <a:avLst/>
          </a:prstGeom>
          <a:noFill/>
          <a:ln/>
        </p:spPr>
        <p:txBody>
          <a:bodyPr wrap="square" rtlCol="0" anchor="ctr"/>
          <a:lstStyle/>
          <a:p>
            <a:pPr marL="0" indent="0">
              <a:buNone/>
              <a:defRPr/>
            </a:pPr>
            <a:r>
              <a:rPr lang="en-US" sz="1350" b="1">
                <a:solidFill>
                  <a:srgbClr val="FFFFFF"/>
                </a:solidFill>
                <a:latin typeface="Cambria"/>
                <a:ea typeface="Cambria"/>
                <a:cs typeface="Cambria"/>
              </a:rPr>
              <a:t>Gunakan Blok Bila Ada Keragaman Terkontrol</a:t>
            </a:r>
            <a:endParaRPr lang="en-US" sz="1350"/>
          </a:p>
        </p:txBody>
      </p:sp>
      <p:sp>
        <p:nvSpPr>
          <p:cNvPr id="1181209033" name="Text 5"/>
          <p:cNvSpPr/>
          <p:nvPr/>
        </p:nvSpPr>
        <p:spPr bwMode="auto">
          <a:xfrm>
            <a:off x="1417320" y="2148840"/>
            <a:ext cx="4572000" cy="822960"/>
          </a:xfrm>
          <a:prstGeom prst="rect">
            <a:avLst/>
          </a:prstGeom>
          <a:noFill/>
          <a:ln/>
        </p:spPr>
        <p:txBody>
          <a:bodyPr wrap="square" rtlCol="0" anchor="ctr"/>
          <a:lstStyle/>
          <a:p>
            <a:pPr marL="0" indent="0">
              <a:lnSpc>
                <a:spcPct val="125000"/>
              </a:lnSpc>
              <a:buNone/>
              <a:defRPr/>
            </a:pPr>
            <a:r>
              <a:rPr lang="en-US" sz="1150">
                <a:solidFill>
                  <a:srgbClr val="D8F3DC"/>
                </a:solidFill>
                <a:latin typeface="Calibri"/>
                <a:ea typeface="Calibri"/>
                <a:cs typeface="Calibri"/>
              </a:rPr>
              <a:t>RAK digunakan ketika terdapat sumber keragaman terkontrol (blok) yang diketahui sebelum percobaan dimulai.</a:t>
            </a:r>
            <a:endParaRPr lang="en-US" sz="1150"/>
          </a:p>
        </p:txBody>
      </p:sp>
      <p:sp>
        <p:nvSpPr>
          <p:cNvPr id="1561607943" name="Shape 6"/>
          <p:cNvSpPr/>
          <p:nvPr/>
        </p:nvSpPr>
        <p:spPr bwMode="auto">
          <a:xfrm>
            <a:off x="6446520" y="1691640"/>
            <a:ext cx="594360" cy="594360"/>
          </a:xfrm>
          <a:prstGeom prst="ellipse">
            <a:avLst/>
          </a:prstGeom>
          <a:solidFill>
            <a:srgbClr val="2D6A4F"/>
          </a:solidFill>
          <a:ln/>
        </p:spPr>
      </p:sp>
      <p:pic>
        <p:nvPicPr>
          <p:cNvPr id="1276329571" name="Image 1" descr="diagram.png"/>
          <p:cNvPicPr>
            <a:picLocks noChangeAspect="1"/>
          </p:cNvPicPr>
          <p:nvPr/>
        </p:nvPicPr>
        <p:blipFill rotWithShape="1">
          <a:blip r:embed="rId4"/>
          <a:stretch/>
        </p:blipFill>
        <p:spPr bwMode="auto">
          <a:xfrm>
            <a:off x="6523787" y="1768907"/>
            <a:ext cx="439826" cy="439826"/>
          </a:xfrm>
          <a:prstGeom prst="rect">
            <a:avLst/>
          </a:prstGeom>
        </p:spPr>
      </p:pic>
      <p:sp>
        <p:nvSpPr>
          <p:cNvPr id="427140041" name="Text 7"/>
          <p:cNvSpPr/>
          <p:nvPr/>
        </p:nvSpPr>
        <p:spPr bwMode="auto">
          <a:xfrm>
            <a:off x="7223760" y="1673352"/>
            <a:ext cx="4572000" cy="502920"/>
          </a:xfrm>
          <a:prstGeom prst="rect">
            <a:avLst/>
          </a:prstGeom>
          <a:noFill/>
          <a:ln/>
        </p:spPr>
        <p:txBody>
          <a:bodyPr wrap="square" rtlCol="0" anchor="ctr"/>
          <a:lstStyle/>
          <a:p>
            <a:pPr marL="0" indent="0">
              <a:buNone/>
              <a:defRPr/>
            </a:pPr>
            <a:r>
              <a:rPr lang="en-US" sz="1350" b="1">
                <a:solidFill>
                  <a:srgbClr val="FFFFFF"/>
                </a:solidFill>
                <a:latin typeface="Cambria"/>
                <a:ea typeface="Cambria"/>
                <a:cs typeface="Cambria"/>
              </a:rPr>
              <a:t>Model Aditif Dua Arah</a:t>
            </a:r>
            <a:endParaRPr lang="en-US" sz="1350"/>
          </a:p>
        </p:txBody>
      </p:sp>
      <p:sp>
        <p:nvSpPr>
          <p:cNvPr id="71846381" name="Text 8"/>
          <p:cNvSpPr/>
          <p:nvPr/>
        </p:nvSpPr>
        <p:spPr bwMode="auto">
          <a:xfrm>
            <a:off x="7223760" y="2148840"/>
            <a:ext cx="4572000" cy="822960"/>
          </a:xfrm>
          <a:prstGeom prst="rect">
            <a:avLst/>
          </a:prstGeom>
          <a:noFill/>
          <a:ln/>
        </p:spPr>
        <p:txBody>
          <a:bodyPr wrap="square" rtlCol="0" anchor="ctr"/>
          <a:lstStyle/>
          <a:p>
            <a:pPr marL="0" indent="0">
              <a:lnSpc>
                <a:spcPct val="125000"/>
              </a:lnSpc>
              <a:buNone/>
              <a:defRPr/>
            </a:pPr>
            <a:r>
              <a:rPr lang="en-US" sz="1150">
                <a:solidFill>
                  <a:srgbClr val="D8F3DC"/>
                </a:solidFill>
                <a:latin typeface="Calibri"/>
                <a:ea typeface="Calibri"/>
                <a:cs typeface="Calibri"/>
              </a:rPr>
              <a:t>Model RAK bersifat aditif: tinggi_cm ~ perlakuan + blok, tanpa suku interaksi.</a:t>
            </a:r>
            <a:endParaRPr lang="en-US" sz="1150"/>
          </a:p>
        </p:txBody>
      </p:sp>
      <p:sp>
        <p:nvSpPr>
          <p:cNvPr id="1489926365" name="Shape 9"/>
          <p:cNvSpPr/>
          <p:nvPr/>
        </p:nvSpPr>
        <p:spPr bwMode="auto">
          <a:xfrm>
            <a:off x="640080" y="3108960"/>
            <a:ext cx="594360" cy="594360"/>
          </a:xfrm>
          <a:prstGeom prst="ellipse">
            <a:avLst/>
          </a:prstGeom>
          <a:solidFill>
            <a:srgbClr val="2D6A4F"/>
          </a:solidFill>
          <a:ln/>
        </p:spPr>
      </p:sp>
      <p:pic>
        <p:nvPicPr>
          <p:cNvPr id="1646304973" name="Image 2" descr="scale.png"/>
          <p:cNvPicPr>
            <a:picLocks noChangeAspect="1"/>
          </p:cNvPicPr>
          <p:nvPr/>
        </p:nvPicPr>
        <p:blipFill rotWithShape="1">
          <a:blip r:embed="rId5"/>
          <a:stretch/>
        </p:blipFill>
        <p:spPr bwMode="auto">
          <a:xfrm>
            <a:off x="717347" y="3186227"/>
            <a:ext cx="439826" cy="439826"/>
          </a:xfrm>
          <a:prstGeom prst="rect">
            <a:avLst/>
          </a:prstGeom>
        </p:spPr>
      </p:pic>
      <p:sp>
        <p:nvSpPr>
          <p:cNvPr id="1817471550" name="Text 10"/>
          <p:cNvSpPr/>
          <p:nvPr/>
        </p:nvSpPr>
        <p:spPr bwMode="auto">
          <a:xfrm>
            <a:off x="1417320" y="3090672"/>
            <a:ext cx="4572000" cy="502920"/>
          </a:xfrm>
          <a:prstGeom prst="rect">
            <a:avLst/>
          </a:prstGeom>
          <a:noFill/>
          <a:ln/>
        </p:spPr>
        <p:txBody>
          <a:bodyPr wrap="square" rtlCol="0" anchor="ctr"/>
          <a:lstStyle/>
          <a:p>
            <a:pPr marL="0" indent="0">
              <a:buNone/>
              <a:defRPr/>
            </a:pPr>
            <a:r>
              <a:rPr lang="en-US" sz="1350" b="1">
                <a:solidFill>
                  <a:srgbClr val="FFFFFF"/>
                </a:solidFill>
                <a:latin typeface="Cambria"/>
                <a:ea typeface="Cambria"/>
                <a:cs typeface="Cambria"/>
              </a:rPr>
              <a:t>Uji Lanjut Khusus Perlakuan</a:t>
            </a:r>
            <a:endParaRPr lang="en-US" sz="1350"/>
          </a:p>
        </p:txBody>
      </p:sp>
      <p:sp>
        <p:nvSpPr>
          <p:cNvPr id="653295935" name="Text 11"/>
          <p:cNvSpPr/>
          <p:nvPr/>
        </p:nvSpPr>
        <p:spPr bwMode="auto">
          <a:xfrm>
            <a:off x="1417320" y="3566160"/>
            <a:ext cx="4572000" cy="822960"/>
          </a:xfrm>
          <a:prstGeom prst="rect">
            <a:avLst/>
          </a:prstGeom>
          <a:noFill/>
          <a:ln/>
        </p:spPr>
        <p:txBody>
          <a:bodyPr wrap="square" rtlCol="0" anchor="ctr"/>
          <a:lstStyle/>
          <a:p>
            <a:pPr marL="0" indent="0">
              <a:lnSpc>
                <a:spcPct val="125000"/>
              </a:lnSpc>
              <a:buNone/>
              <a:defRPr/>
            </a:pPr>
            <a:r>
              <a:rPr lang="en-US" sz="1150">
                <a:solidFill>
                  <a:srgbClr val="D8F3DC"/>
                </a:solidFill>
                <a:latin typeface="Calibri"/>
                <a:ea typeface="Calibri"/>
                <a:cs typeface="Calibri"/>
              </a:rPr>
              <a:t>Uji lanjut Tukey HSD dibatasi hanya untuk faktor perlakuan, bukan blok.</a:t>
            </a:r>
            <a:endParaRPr lang="en-US" sz="1150"/>
          </a:p>
        </p:txBody>
      </p:sp>
      <p:sp>
        <p:nvSpPr>
          <p:cNvPr id="1708590925" name="Shape 12"/>
          <p:cNvSpPr/>
          <p:nvPr/>
        </p:nvSpPr>
        <p:spPr bwMode="auto">
          <a:xfrm>
            <a:off x="6446520" y="3108960"/>
            <a:ext cx="594360" cy="594360"/>
          </a:xfrm>
          <a:prstGeom prst="ellipse">
            <a:avLst/>
          </a:prstGeom>
          <a:solidFill>
            <a:srgbClr val="2D6A4F"/>
          </a:solidFill>
          <a:ln/>
        </p:spPr>
      </p:sp>
      <p:pic>
        <p:nvPicPr>
          <p:cNvPr id="1716559493" name="Image 3" descr="chart.png"/>
          <p:cNvPicPr>
            <a:picLocks noChangeAspect="1"/>
          </p:cNvPicPr>
          <p:nvPr/>
        </p:nvPicPr>
        <p:blipFill rotWithShape="1">
          <a:blip r:embed="rId6"/>
          <a:stretch/>
        </p:blipFill>
        <p:spPr bwMode="auto">
          <a:xfrm>
            <a:off x="6523787" y="3186227"/>
            <a:ext cx="439826" cy="439826"/>
          </a:xfrm>
          <a:prstGeom prst="rect">
            <a:avLst/>
          </a:prstGeom>
        </p:spPr>
      </p:pic>
      <p:sp>
        <p:nvSpPr>
          <p:cNvPr id="399900" name="Text 13"/>
          <p:cNvSpPr/>
          <p:nvPr/>
        </p:nvSpPr>
        <p:spPr bwMode="auto">
          <a:xfrm>
            <a:off x="7223760" y="3090672"/>
            <a:ext cx="4572000" cy="502920"/>
          </a:xfrm>
          <a:prstGeom prst="rect">
            <a:avLst/>
          </a:prstGeom>
          <a:noFill/>
          <a:ln/>
        </p:spPr>
        <p:txBody>
          <a:bodyPr wrap="square" rtlCol="0" anchor="ctr"/>
          <a:lstStyle/>
          <a:p>
            <a:pPr marL="0" indent="0">
              <a:buNone/>
              <a:defRPr/>
            </a:pPr>
            <a:r>
              <a:rPr lang="en-US" sz="1350" b="1">
                <a:solidFill>
                  <a:srgbClr val="FFFFFF"/>
                </a:solidFill>
                <a:latin typeface="Cambria"/>
                <a:ea typeface="Cambria"/>
                <a:cs typeface="Cambria"/>
              </a:rPr>
              <a:t>Blok Efektif = Galat Berkurang</a:t>
            </a:r>
            <a:endParaRPr lang="en-US" sz="1350"/>
          </a:p>
        </p:txBody>
      </p:sp>
      <p:sp>
        <p:nvSpPr>
          <p:cNvPr id="875684841" name="Text 14"/>
          <p:cNvSpPr/>
          <p:nvPr/>
        </p:nvSpPr>
        <p:spPr bwMode="auto">
          <a:xfrm>
            <a:off x="7223760" y="3566160"/>
            <a:ext cx="4572000" cy="822960"/>
          </a:xfrm>
          <a:prstGeom prst="rect">
            <a:avLst/>
          </a:prstGeom>
          <a:noFill/>
          <a:ln/>
        </p:spPr>
        <p:txBody>
          <a:bodyPr wrap="square" rtlCol="0" anchor="ctr"/>
          <a:lstStyle/>
          <a:p>
            <a:pPr marL="0" indent="0">
              <a:lnSpc>
                <a:spcPct val="125000"/>
              </a:lnSpc>
              <a:buNone/>
              <a:defRPr/>
            </a:pPr>
            <a:r>
              <a:rPr lang="en-US" sz="1150">
                <a:solidFill>
                  <a:srgbClr val="D8F3DC"/>
                </a:solidFill>
                <a:latin typeface="Calibri"/>
                <a:ea typeface="Calibri"/>
                <a:cs typeface="Calibri"/>
              </a:rPr>
              <a:t>Pengelompokan blok yang efektif mengurangi galat sehingga uji perlakuan lebih peka dibanding RAL.</a:t>
            </a:r>
            <a:endParaRPr lang="en-US" sz="1150"/>
          </a:p>
        </p:txBody>
      </p:sp>
      <p:sp>
        <p:nvSpPr>
          <p:cNvPr id="1426631400" name="Shape 15"/>
          <p:cNvSpPr/>
          <p:nvPr/>
        </p:nvSpPr>
        <p:spPr bwMode="auto">
          <a:xfrm>
            <a:off x="640080" y="5897880"/>
            <a:ext cx="10881360" cy="0"/>
          </a:xfrm>
          <a:prstGeom prst="line">
            <a:avLst/>
          </a:prstGeom>
          <a:noFill/>
          <a:ln w="12700">
            <a:solidFill>
              <a:srgbClr val="3A5A46"/>
            </a:solidFill>
            <a:prstDash val="solid"/>
          </a:ln>
        </p:spPr>
      </p:sp>
      <p:sp>
        <p:nvSpPr>
          <p:cNvPr id="200710167" name="Text 16"/>
          <p:cNvSpPr/>
          <p:nvPr/>
        </p:nvSpPr>
        <p:spPr bwMode="auto">
          <a:xfrm>
            <a:off x="640080" y="6016752"/>
            <a:ext cx="10881360" cy="365760"/>
          </a:xfrm>
          <a:prstGeom prst="rect">
            <a:avLst/>
          </a:prstGeom>
          <a:noFill/>
          <a:ln/>
        </p:spPr>
        <p:txBody>
          <a:bodyPr wrap="square" rtlCol="0" anchor="ctr"/>
          <a:lstStyle/>
          <a:p>
            <a:pPr marL="0" indent="0">
              <a:buNone/>
              <a:defRPr/>
            </a:pPr>
            <a:r>
              <a:rPr lang="en-US" sz="1250" i="1">
                <a:solidFill>
                  <a:srgbClr val="9FC2AE"/>
                </a:solidFill>
                <a:latin typeface="Calibri"/>
                <a:ea typeface="Calibri"/>
                <a:cs typeface="Calibri"/>
              </a:rPr>
              <a:t>Selanjutnya: Bab 3 — Rancangan Bujur Sangkar Latin (RBSL), menambahkan DUA arah pengelompokan (baris &amp; kolom).</a:t>
            </a:r>
            <a:endParaRPr lang="en-US" sz="1250"/>
          </a:p>
        </p:txBody>
      </p:sp>
      <p:sp>
        <p:nvSpPr>
          <p:cNvPr id="1607142667" name="Text 17"/>
          <p:cNvSpPr/>
          <p:nvPr/>
        </p:nvSpPr>
        <p:spPr bwMode="auto">
          <a:xfrm>
            <a:off x="457200" y="6473952"/>
            <a:ext cx="7315200" cy="274320"/>
          </a:xfrm>
          <a:prstGeom prst="rect">
            <a:avLst/>
          </a:prstGeom>
          <a:noFill/>
          <a:ln/>
        </p:spPr>
        <p:txBody>
          <a:bodyPr wrap="square" rtlCol="0" anchor="ctr"/>
          <a:lstStyle/>
          <a:p>
            <a:pPr marL="0" indent="0" algn="l">
              <a:buNone/>
              <a:defRPr/>
            </a:pPr>
            <a:r>
              <a:rPr lang="en-US" sz="900">
                <a:solidFill>
                  <a:srgbClr val="B7CFC2"/>
                </a:solidFill>
                <a:latin typeface="Calibri"/>
                <a:ea typeface="Calibri"/>
                <a:cs typeface="Calibri"/>
              </a:rPr>
              <a:t>RAK — Biostatistika untuk Biologi</a:t>
            </a:r>
            <a:endParaRPr lang="en-US" sz="900"/>
          </a:p>
        </p:txBody>
      </p:sp>
      <p:sp>
        <p:nvSpPr>
          <p:cNvPr id="1407759826" name="Text 18"/>
          <p:cNvSpPr/>
          <p:nvPr/>
        </p:nvSpPr>
        <p:spPr bwMode="auto">
          <a:xfrm>
            <a:off x="11274552" y="6473952"/>
            <a:ext cx="457200" cy="274320"/>
          </a:xfrm>
          <a:prstGeom prst="rect">
            <a:avLst/>
          </a:prstGeom>
          <a:noFill/>
          <a:ln/>
        </p:spPr>
        <p:txBody>
          <a:bodyPr wrap="square" rtlCol="0" anchor="ctr"/>
          <a:lstStyle/>
          <a:p>
            <a:pPr marL="0" indent="0" algn="r">
              <a:buNone/>
              <a:defRPr/>
            </a:pPr>
            <a:r>
              <a:rPr lang="en-US" sz="900">
                <a:solidFill>
                  <a:srgbClr val="B7CFC2"/>
                </a:solidFill>
                <a:latin typeface="Calibri"/>
                <a:ea typeface="Calibri"/>
                <a:cs typeface="Calibri"/>
              </a:rPr>
              <a:t>12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2</cp:revision>
  <dcterms:created xsi:type="dcterms:W3CDTF">2026-09-16T11:01:15Z</dcterms:created>
  <dcterms:modified xsi:type="dcterms:W3CDTF">2026-09-16T13:51:50Z</dcterms:modified>
</cp:coreProperties>
</file>